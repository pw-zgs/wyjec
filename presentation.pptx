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aef4011-34ce-1d94-efd7-94e8a81c6d70}">
          <p14:sldIdLst>
            <p14:sldId id="256"/>
          </p14:sldIdLst>
        </p14:section>
        <p14:section name="Problem" id="{467a6d68-5d33-6870-ba78-94da463ebc7d}">
          <p14:sldIdLst>
            <p14:sldId id="257"/>
          </p14:sldIdLst>
        </p14:section>
        <p14:section name="Solution" id="{2a886020-fd7a-d324-5f0b-b435bd9b128b}">
          <p14:sldIdLst>
            <p14:sldId id="258"/>
            <p14:sldId id="259"/>
            <p14:sldId id="260"/>
          </p14:sldIdLst>
        </p14:section>
        <p14:section name="Resilience" id="{a0596fc5-2abb-0602-8cdf-7179403dd3ef}">
          <p14:sldIdLst>
            <p14:sldId id="261"/>
            <p14:sldId id="262"/>
            <p14:sldId id="263"/>
          </p14:sldIdLst>
        </p14:section>
        <p14:section name="Operations" id="{3fc98f66-a9b7-3db8-d25e-a16128901cb4}">
          <p14:sldIdLst>
            <p14:sldId id="264"/>
            <p14:sldId id="265"/>
          </p14:sldIdLst>
        </p14:section>
        <p14:section name="Closing" id="{a4b6339a-4d2d-4c4f-5265-c45f6316a1d4}">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the Siren team. Siren — in Polish 'Wyjec' — is a task dispatching system for emergencies. One sentence to remember: when the alarm sounds, Siren tells every person where to go and what to do. In the next few minutes: the problem, how Siren works, why it keeps working when networks fail, and where it can be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the first minutes of an emergency. The plans exist — but they are in binders nobody opens under stress. Phone trees break the moment networks are overloaded. And whoever is in charge has no idea who actually received the order. The old rule is simple: everyone must know where to go and what to do. Siren brings that rule into the digital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Siren is a flexible system for distributing tasks in emergencies. On a normal day it is simply a pocket library: every emergency procedure in one app. But the moment an alarm is raised, the app transforms. It stops being a library and becomes an interactive to-do list — only the tasks this person must do, in order. Here: a school principal during an air raid alarm, ticking off tasks as they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deliberately simple. An alarm triggers a scenario — a response plan prepared in advance. The scenario contains task groups. Each task group is assigned to a specific person at a specific location. So nobody receives a generic broadcast: each person gets exactly their own tasks, at the place where they need to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lifecycle. One: an authorized person raises the alarm — and it is cryptographically signed. Two: the alarm activates its scenario on every device. Three: task groups are dispatched to the right people and locations. Four: people confirm they received the alarm and report progress task by task. Five: when it is over, an authorized person cancels the alarm. For the responder, it is just: here is your next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Siren is ready before anything happens. Scenarios — together with the cryptographic keys needed for alarms — are distributed to devices periodically and stored offline. So when the alarm comes, the plan is already on the phone. Nobody searches for a procedure: zero seconds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pillar: Siren does not rely on one communication channel. The alarm itself is a small signed message. Every device that receives a valid alarm repeats it to devices in reach — over radio, Bluetooth, pager networks, mesh networks or the Internet, and the medium may change between hops. The central server is optional for delivery: an alarm can reach people before it reaches the server, or with no server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anyone can forward an alarm, how do we stop fake ones? Siren uses two separate mechanisms. The server-to-app channel uses individual, per-device credentials — like pre-shared keys in a VPN — for scenario updates, new keys and status reports. Alarms use asymmetric cryptography: only authorized controllers hold the private key to raise or cancel an alarm; every device holds the public key and verifies each message before accepting it. Timestamps and identifiers are signed too, as the basis for replay protection. The principle: an alarm is trusted because of its signature — not because of the server or the channel it came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people in charge, Siren closes the loop. During an active alarm, devices report back — whenever an online path is available — who received the alarm, where people are, and how far each task has progressed. The administrator sees it all on a live map: green is done, amber is in progress, red has not replied. Location sharing is limited to what the response needs, with access and retention defined by the deploying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engine serves three domains. Civil: during an air raid alarm, a school principal is told to go to the school, open the building and the shelter, and put up the required signs. Medical: a mass-casualty alarm sends the anesthesiologist to the ED, the surgeon to the operating room, nurses to triage and radiology to imaging. Military: on mobilization, each soldier gets digital orders instead of paper — collect equipment and ammunition, then take a guard position at the designated bunker. The scenario changes; the coordination principle stays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when the alarm comes, there is no time to think. Siren tells people where to go and what to do. It is ready offline, it does not depend on any single communication channel, and every alarm is signed, so it can be trusted wherever it came from. Siren — from alarm to action.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023360" y="1143000"/>
            <a:ext cx="4663440" cy="1188720"/>
          </a:xfrm>
          <a:prstGeom prst="rect">
            <a:avLst/>
          </a:prstGeom>
          <a:noFill/>
          <a:ln/>
        </p:spPr>
        <p:txBody>
          <a:bodyPr wrap="square" rtlCol="0"/>
          <a:lstStyle>
            <a:lvl1pPr algn="l" indent="0" marL="0">
              <a:buNone/>
              <a:defRPr lang="en-US" sz="3000" b="1" dirty="0">
                <a:solidFill>
                  <a:schemeClr val="bg1"/>
                </a:solidFill>
                <a:latin typeface="Arial" pitchFamily="34" charset="0"/>
                <a:ea typeface="Arial" pitchFamily="34" charset="-122"/>
                <a:cs typeface="Arial" pitchFamily="34" charset="-120"/>
              </a:defRPr>
            </a:lvl1pPr>
          </a:lstStyle>
          <a:p>
            <a:pPr algn="l"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023360" y="548640"/>
            <a:ext cx="4754880" cy="548640"/>
          </a:xfrm>
          <a:prstGeom prst="rect">
            <a:avLst/>
          </a:prstGeom>
          <a:noFill/>
          <a:ln/>
        </p:spPr>
        <p:txBody>
          <a:bodyPr wrap="square" rtlCol="0"/>
          <a:lstStyle>
            <a:lvl1pPr algn="l" indent="0" marL="0">
              <a:buNone/>
              <a:defRPr lang="en-US" sz="2400" b="1" dirty="0">
                <a:solidFill>
                  <a:schemeClr val="bg1"/>
                </a:solidFill>
                <a:latin typeface="Arial" pitchFamily="34" charset="0"/>
                <a:ea typeface="Arial" pitchFamily="34" charset="-122"/>
                <a:cs typeface="Arial" pitchFamily="34" charset="-120"/>
              </a:defRPr>
            </a:lvl1pPr>
          </a:lstStyle>
          <a:p>
            <a:pPr algn="l" indent="0" marL="0">
              <a:buNone/>
            </a:pPr>
            <a:endParaRPr lang="en-US" sz="2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rtlCol="0"/>
          <a:lstStyle>
            <a:lvl1pPr algn="l" indent="0" marL="0">
              <a:buNone/>
              <a:defRPr lang="en-US" sz="2800" b="1" dirty="0">
                <a:solidFill>
                  <a:schemeClr val="tx1"/>
                </a:solidFill>
                <a:latin typeface="Arial" pitchFamily="34" charset="0"/>
                <a:ea typeface="Arial" pitchFamily="34" charset="-122"/>
                <a:cs typeface="Arial" pitchFamily="34" charset="-120"/>
              </a:defRPr>
            </a:lvl1pPr>
          </a:lstStyle>
          <a:p>
            <a:pPr algn="l" indent="0" marL="0">
              <a:buNone/>
            </a:pPr>
            <a:endParaRPr lang="en-US" sz="2800" dirty="0"/>
          </a:p>
        </p:txBody>
      </p:sp>
      <p:pic>
        <p:nvPicPr>
          <p:cNvPr id="3" name="Image 0" descr="logo0.png">    </p:cNvPr>
          <p:cNvPicPr>
            <a:picLocks noChangeAspect="1"/>
          </p:cNvPicPr>
          <p:nvPr/>
        </p:nvPicPr>
        <p:blipFill>
          <a:blip r:embed="rId1"/>
          <a:stretch>
            <a:fillRect/>
          </a:stretch>
        </p:blipFill>
        <p:spPr>
          <a:xfrm>
            <a:off x="457200" y="4727448"/>
            <a:ext cx="246888" cy="228600"/>
          </a:xfrm>
          <a:prstGeom prst="rect">
            <a:avLst/>
          </a:prstGeom>
        </p:spPr>
      </p:pic>
      <p:sp>
        <p:nvSpPr>
          <p:cNvPr id="4" name="Text 0"/>
          <p:cNvSpPr/>
          <p:nvPr/>
        </p:nvSpPr>
        <p:spPr>
          <a:xfrm>
            <a:off x="758952" y="4727448"/>
            <a:ext cx="1371600" cy="228600"/>
          </a:xfrm>
          <a:prstGeom prst="rect">
            <a:avLst/>
          </a:prstGeom>
          <a:noFill/>
          <a:ln/>
        </p:spPr>
        <p:txBody>
          <a:bodyPr wrap="square" lIns="0" tIns="0" rIns="0" bIns="0" rtlCol="0" anchor="ctr"/>
          <a:lstStyle/>
          <a:p>
            <a:pPr indent="0" marL="0">
              <a:buNone/>
            </a:pPr>
            <a:r>
              <a:rPr lang="en-US" sz="1000" b="1" spc="200" kern="0" dirty="0">
                <a:solidFill>
                  <a:schemeClr val="accent6"/>
                </a:solidFill>
                <a:latin typeface="Arial" pitchFamily="34" charset="0"/>
                <a:ea typeface="Arial" pitchFamily="34" charset="-122"/>
                <a:cs typeface="Arial" pitchFamily="34" charset="-120"/>
              </a:rPr>
              <a:t>SIREN</a:t>
            </a:r>
            <a:endParaRPr lang="en-US" sz="1000" dirty="0"/>
          </a:p>
        </p:txBody>
      </p:sp>
      <p:sp>
        <p:nvSpPr>
          <p:cNvPr id="25" name="Slide Number Placeholder 0"/>
          <p:cNvSpPr>
            <a:spLocks noGrp="1"/>
          </p:cNvSpPr>
          <p:nvPr>
            <p:ph type="sldNum" sz="quarter" idx="4294967295"/>
          </p:nvPr>
        </p:nvSpPr>
        <p:spPr>
          <a:xfrm>
            <a:off x="8138160" y="472744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2744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slideLayout" Target="../slideLayouts/slideLayout4.xml"/><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wave ring 1"/>
          <p:cNvSpPr/>
          <p:nvPr/>
        </p:nvSpPr>
        <p:spPr>
          <a:xfrm>
            <a:off x="502920" y="914400"/>
            <a:ext cx="3200400" cy="3200400"/>
          </a:xfrm>
          <a:prstGeom prst="ellipse">
            <a:avLst/>
          </a:prstGeom>
          <a:ln w="15875">
            <a:solidFill>
              <a:srgbClr val="D7262E">
                <a:alpha val="30000"/>
              </a:srgbClr>
            </a:solidFill>
            <a:prstDash val="solid"/>
          </a:ln>
        </p:spPr>
      </p:sp>
      <p:sp>
        <p:nvSpPr>
          <p:cNvPr id="3" name="wave ring 2"/>
          <p:cNvSpPr/>
          <p:nvPr/>
        </p:nvSpPr>
        <p:spPr>
          <a:xfrm>
            <a:off x="-45720" y="365760"/>
            <a:ext cx="4297680" cy="4297680"/>
          </a:xfrm>
          <a:prstGeom prst="ellipse">
            <a:avLst/>
          </a:prstGeom>
          <a:ln w="15875">
            <a:solidFill>
              <a:srgbClr val="D7262E">
                <a:alpha val="24000"/>
              </a:srgbClr>
            </a:solidFill>
            <a:prstDash val="solid"/>
          </a:ln>
        </p:spPr>
      </p:sp>
      <p:sp>
        <p:nvSpPr>
          <p:cNvPr id="4" name="wave ring 3"/>
          <p:cNvSpPr/>
          <p:nvPr/>
        </p:nvSpPr>
        <p:spPr>
          <a:xfrm>
            <a:off x="-594360" y="-182880"/>
            <a:ext cx="5394960" cy="5394960"/>
          </a:xfrm>
          <a:prstGeom prst="ellipse">
            <a:avLst/>
          </a:prstGeom>
          <a:ln w="15875">
            <a:solidFill>
              <a:srgbClr val="D7262E">
                <a:alpha val="18000"/>
              </a:srgbClr>
            </a:solidFill>
            <a:prstDash val="solid"/>
          </a:ln>
        </p:spPr>
      </p:sp>
      <p:pic>
        <p:nvPicPr>
          <p:cNvPr id="5" name="Siren logo" descr="Siren logo">    </p:cNvPr>
          <p:cNvPicPr>
            <a:picLocks noChangeAspect="1"/>
          </p:cNvPicPr>
          <p:nvPr/>
        </p:nvPicPr>
        <p:blipFill>
          <a:blip r:embed="rId1"/>
          <a:stretch>
            <a:fillRect/>
          </a:stretch>
        </p:blipFill>
        <p:spPr>
          <a:xfrm>
            <a:off x="914400" y="1417320"/>
            <a:ext cx="2377440" cy="2197935"/>
          </a:xfrm>
          <a:prstGeom prst="rect">
            <a:avLst/>
          </a:prstGeom>
        </p:spPr>
      </p:pic>
      <p:sp>
        <p:nvSpPr>
          <p:cNvPr id="6" name="Text 0"/>
          <p:cNvSpPr/>
          <p:nvPr>
            <p:ph idx="100" type="title" hasCustomPrompt="1"/>
          </p:nvPr>
        </p:nvSpPr>
        <p:spPr>
          <a:xfrm>
            <a:off x="4023360" y="1143000"/>
            <a:ext cx="4663440" cy="1188720"/>
          </a:xfrm>
          <a:prstGeom prst="rect">
            <a:avLst/>
          </a:prstGeom>
          <a:noFill/>
          <a:ln/>
        </p:spPr>
        <p:txBody>
          <a:bodyPr wrap="square" lIns="0" tIns="0" rIns="0" bIns="0" rtlCol="0" anchor="b"/>
          <a:lstStyle/>
          <a:p>
            <a:pPr algn="l" indent="0" marL="0">
              <a:buNone/>
            </a:pPr>
            <a:r>
              <a:rPr lang="en-US" sz="3000" b="1" dirty="0">
                <a:solidFill>
                  <a:schemeClr val="bg1"/>
                </a:solidFill>
                <a:latin typeface="Arial" pitchFamily="34" charset="0"/>
                <a:ea typeface="Arial" pitchFamily="34" charset="-122"/>
                <a:cs typeface="Arial" pitchFamily="34" charset="-120"/>
              </a:rPr>
              <a:t>Task Dispatching System During Emergencies</a:t>
            </a:r>
            <a:endParaRPr lang="en-US" sz="3000" dirty="0"/>
          </a:p>
        </p:txBody>
      </p:sp>
      <p:sp>
        <p:nvSpPr>
          <p:cNvPr id="7" name="Text 4"/>
          <p:cNvSpPr txBox="1"/>
          <p:nvPr/>
        </p:nvSpPr>
        <p:spPr>
          <a:xfrm>
            <a:off x="4023360" y="2514600"/>
            <a:ext cx="4663440" cy="411480"/>
          </a:xfrm>
          <a:prstGeom prst="rect">
            <a:avLst/>
          </a:prstGeom>
          <a:noFill/>
          <a:ln/>
        </p:spPr>
        <p:txBody>
          <a:bodyPr wrap="square" lIns="0" tIns="0" rIns="0" bIns="0" rtlCol="0" anchor="t"/>
          <a:lstStyle/>
          <a:p>
            <a:pPr indent="0" marL="0">
              <a:buNone/>
            </a:pPr>
            <a:r>
              <a:rPr lang="en-US" sz="1800" b="1" spc="100" kern="0" dirty="0">
                <a:solidFill>
                  <a:schemeClr val="bg1"/>
                </a:solidFill>
                <a:latin typeface="Arial" pitchFamily="34" charset="0"/>
                <a:ea typeface="Arial" pitchFamily="34" charset="-122"/>
                <a:cs typeface="Arial" pitchFamily="34" charset="-120"/>
              </a:rPr>
              <a:t>WHERE TO GO.  </a:t>
            </a:r>
            <a:pPr indent="0" marL="0">
              <a:buNone/>
            </a:pPr>
            <a:r>
              <a:rPr lang="en-US" sz="1800" b="1" spc="100" kern="0" dirty="0">
                <a:solidFill>
                  <a:schemeClr val="accent1"/>
                </a:solidFill>
                <a:latin typeface="Arial" pitchFamily="34" charset="0"/>
                <a:ea typeface="Arial" pitchFamily="34" charset="-122"/>
                <a:cs typeface="Arial" pitchFamily="34" charset="-120"/>
              </a:rPr>
              <a:t>WHAT TO DO.</a:t>
            </a:r>
            <a:endParaRPr lang="en-US" sz="1800" dirty="0"/>
          </a:p>
        </p:txBody>
      </p:sp>
      <p:sp>
        <p:nvSpPr>
          <p:cNvPr id="8" name="Text 5"/>
          <p:cNvSpPr txBox="1"/>
          <p:nvPr/>
        </p:nvSpPr>
        <p:spPr>
          <a:xfrm>
            <a:off x="4023360" y="3063240"/>
            <a:ext cx="4389120" cy="822960"/>
          </a:xfrm>
          <a:prstGeom prst="rect">
            <a:avLst/>
          </a:prstGeom>
          <a:noFill/>
          <a:ln/>
        </p:spPr>
        <p:txBody>
          <a:bodyPr wrap="square" lIns="0" tIns="0" rIns="0" bIns="0" rtlCol="0" anchor="t"/>
          <a:lstStyle/>
          <a:p>
            <a:pPr indent="0" marL="0">
              <a:buNone/>
            </a:pPr>
            <a:r>
              <a:rPr lang="en-US" sz="1500" dirty="0">
                <a:solidFill>
                  <a:schemeClr val="bg2">
                    <a:alpha val="90000"/>
                  </a:schemeClr>
                </a:solidFill>
              </a:rPr>
              <a:t>Predefined scenarios that turn an alarm into coordinated action — for civil administration, medical services and the military.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In an Emergency, There Is No Time to Plan</a:t>
            </a:r>
            <a:endParaRPr lang="en-US" sz="2800" dirty="0"/>
          </a:p>
        </p:txBody>
      </p:sp>
      <p:sp>
        <p:nvSpPr>
          <p:cNvPr id="3" name="Procedures sit in binders circle"/>
          <p:cNvSpPr/>
          <p:nvPr/>
        </p:nvSpPr>
        <p:spPr>
          <a:xfrm>
            <a:off x="457200" y="1234440"/>
            <a:ext cx="548640" cy="548640"/>
          </a:xfrm>
          <a:prstGeom prst="ellipse">
            <a:avLst/>
          </a:prstGeom>
          <a:solidFill>
            <a:schemeClr val="accent1">
              <a:alpha val="12000"/>
            </a:schemeClr>
          </a:solidFill>
          <a:ln/>
        </p:spPr>
      </p:sp>
      <p:pic>
        <p:nvPicPr>
          <p:cNvPr id="4" name="Procedures sit in binders icon" descr="Procedures sit in binders">    </p:cNvPr>
          <p:cNvPicPr>
            <a:picLocks noChangeAspect="1"/>
          </p:cNvPicPr>
          <p:nvPr/>
        </p:nvPicPr>
        <p:blipFill>
          <a:blip r:embed="rId1"/>
          <a:stretch>
            <a:fillRect/>
          </a:stretch>
        </p:blipFill>
        <p:spPr>
          <a:xfrm>
            <a:off x="594360" y="1371600"/>
            <a:ext cx="274320" cy="274320"/>
          </a:xfrm>
          <a:prstGeom prst="rect">
            <a:avLst/>
          </a:prstGeom>
        </p:spPr>
      </p:pic>
      <p:sp>
        <p:nvSpPr>
          <p:cNvPr id="5" name="Text 2"/>
          <p:cNvSpPr txBox="1"/>
          <p:nvPr/>
        </p:nvSpPr>
        <p:spPr>
          <a:xfrm>
            <a:off x="1188720" y="1216152"/>
            <a:ext cx="3291840" cy="320040"/>
          </a:xfrm>
          <a:prstGeom prst="rect">
            <a:avLst/>
          </a:prstGeom>
          <a:noFill/>
          <a:ln/>
        </p:spPr>
        <p:txBody>
          <a:bodyPr wrap="square" lIns="0" tIns="0" rIns="0" bIns="0" rtlCol="0" anchor="t"/>
          <a:lstStyle/>
          <a:p>
            <a:pPr indent="0" marL="0">
              <a:buNone/>
            </a:pPr>
            <a:r>
              <a:rPr lang="en-US" sz="1700" b="1" dirty="0">
                <a:solidFill>
                  <a:schemeClr val="tx1"/>
                </a:solidFill>
              </a:rPr>
              <a:t>Procedures sit in binders</a:t>
            </a:r>
            <a:endParaRPr lang="en-US" sz="1700" dirty="0"/>
          </a:p>
        </p:txBody>
      </p:sp>
      <p:sp>
        <p:nvSpPr>
          <p:cNvPr id="6" name="Text 3"/>
          <p:cNvSpPr txBox="1"/>
          <p:nvPr/>
        </p:nvSpPr>
        <p:spPr>
          <a:xfrm>
            <a:off x="1188720" y="1563624"/>
            <a:ext cx="3291840" cy="548640"/>
          </a:xfrm>
          <a:prstGeom prst="rect">
            <a:avLst/>
          </a:prstGeom>
          <a:noFill/>
          <a:ln/>
        </p:spPr>
        <p:txBody>
          <a:bodyPr wrap="square" lIns="0" tIns="0" rIns="0" bIns="0" rtlCol="0" anchor="t"/>
          <a:lstStyle/>
          <a:p>
            <a:pPr indent="0" marL="0">
              <a:buNone/>
            </a:pPr>
            <a:r>
              <a:rPr lang="en-US" sz="1400" dirty="0">
                <a:solidFill>
                  <a:schemeClr val="accent6"/>
                </a:solidFill>
              </a:rPr>
              <a:t>Nobody reads a thick plan while the sirens are sounding.</a:t>
            </a:r>
            <a:endParaRPr lang="en-US" sz="1400" dirty="0"/>
          </a:p>
        </p:txBody>
      </p:sp>
      <p:sp>
        <p:nvSpPr>
          <p:cNvPr id="7" name="Phone trees break down circle"/>
          <p:cNvSpPr/>
          <p:nvPr/>
        </p:nvSpPr>
        <p:spPr>
          <a:xfrm>
            <a:off x="457200" y="2331720"/>
            <a:ext cx="548640" cy="548640"/>
          </a:xfrm>
          <a:prstGeom prst="ellipse">
            <a:avLst/>
          </a:prstGeom>
          <a:solidFill>
            <a:schemeClr val="accent1">
              <a:alpha val="12000"/>
            </a:schemeClr>
          </a:solidFill>
          <a:ln/>
        </p:spPr>
      </p:sp>
      <p:pic>
        <p:nvPicPr>
          <p:cNvPr id="8" name="Phone trees break down icon" descr="Phone trees break down">    </p:cNvPr>
          <p:cNvPicPr>
            <a:picLocks noChangeAspect="1"/>
          </p:cNvPicPr>
          <p:nvPr/>
        </p:nvPicPr>
        <p:blipFill>
          <a:blip r:embed="rId2"/>
          <a:stretch>
            <a:fillRect/>
          </a:stretch>
        </p:blipFill>
        <p:spPr>
          <a:xfrm>
            <a:off x="594360" y="2468880"/>
            <a:ext cx="274320" cy="274320"/>
          </a:xfrm>
          <a:prstGeom prst="rect">
            <a:avLst/>
          </a:prstGeom>
        </p:spPr>
      </p:pic>
      <p:sp>
        <p:nvSpPr>
          <p:cNvPr id="9" name="Text 5"/>
          <p:cNvSpPr txBox="1"/>
          <p:nvPr/>
        </p:nvSpPr>
        <p:spPr>
          <a:xfrm>
            <a:off x="1188720" y="2313432"/>
            <a:ext cx="3291840" cy="320040"/>
          </a:xfrm>
          <a:prstGeom prst="rect">
            <a:avLst/>
          </a:prstGeom>
          <a:noFill/>
          <a:ln/>
        </p:spPr>
        <p:txBody>
          <a:bodyPr wrap="square" lIns="0" tIns="0" rIns="0" bIns="0" rtlCol="0" anchor="t"/>
          <a:lstStyle/>
          <a:p>
            <a:pPr indent="0" marL="0">
              <a:buNone/>
            </a:pPr>
            <a:r>
              <a:rPr lang="en-US" sz="1700" b="1" dirty="0">
                <a:solidFill>
                  <a:schemeClr val="tx1"/>
                </a:solidFill>
              </a:rPr>
              <a:t>Phone trees break down</a:t>
            </a:r>
            <a:endParaRPr lang="en-US" sz="1700" dirty="0"/>
          </a:p>
        </p:txBody>
      </p:sp>
      <p:sp>
        <p:nvSpPr>
          <p:cNvPr id="10" name="Text 6"/>
          <p:cNvSpPr txBox="1"/>
          <p:nvPr/>
        </p:nvSpPr>
        <p:spPr>
          <a:xfrm>
            <a:off x="1188720" y="2660904"/>
            <a:ext cx="3291840" cy="548640"/>
          </a:xfrm>
          <a:prstGeom prst="rect">
            <a:avLst/>
          </a:prstGeom>
          <a:noFill/>
          <a:ln/>
        </p:spPr>
        <p:txBody>
          <a:bodyPr wrap="square" lIns="0" tIns="0" rIns="0" bIns="0" rtlCol="0" anchor="t"/>
          <a:lstStyle/>
          <a:p>
            <a:pPr indent="0" marL="0">
              <a:buNone/>
            </a:pPr>
            <a:r>
              <a:rPr lang="en-US" sz="1400" dirty="0">
                <a:solidFill>
                  <a:schemeClr val="accent6"/>
                </a:solidFill>
              </a:rPr>
              <a:t>Calls fail when networks are overloaded or down.</a:t>
            </a:r>
            <a:endParaRPr lang="en-US" sz="1400" dirty="0"/>
          </a:p>
        </p:txBody>
      </p:sp>
      <p:sp>
        <p:nvSpPr>
          <p:cNvPr id="11" name="No one sees the big picture circle"/>
          <p:cNvSpPr/>
          <p:nvPr/>
        </p:nvSpPr>
        <p:spPr>
          <a:xfrm>
            <a:off x="457200" y="3429000"/>
            <a:ext cx="548640" cy="548640"/>
          </a:xfrm>
          <a:prstGeom prst="ellipse">
            <a:avLst/>
          </a:prstGeom>
          <a:solidFill>
            <a:schemeClr val="accent1">
              <a:alpha val="12000"/>
            </a:schemeClr>
          </a:solidFill>
          <a:ln/>
        </p:spPr>
      </p:sp>
      <p:pic>
        <p:nvPicPr>
          <p:cNvPr id="12" name="No one sees the big picture icon" descr="No one sees the big picture">    </p:cNvPr>
          <p:cNvPicPr>
            <a:picLocks noChangeAspect="1"/>
          </p:cNvPicPr>
          <p:nvPr/>
        </p:nvPicPr>
        <p:blipFill>
          <a:blip r:embed="rId3"/>
          <a:stretch>
            <a:fillRect/>
          </a:stretch>
        </p:blipFill>
        <p:spPr>
          <a:xfrm>
            <a:off x="594360" y="3566160"/>
            <a:ext cx="274320" cy="274320"/>
          </a:xfrm>
          <a:prstGeom prst="rect">
            <a:avLst/>
          </a:prstGeom>
        </p:spPr>
      </p:pic>
      <p:sp>
        <p:nvSpPr>
          <p:cNvPr id="13" name="Text 8"/>
          <p:cNvSpPr txBox="1"/>
          <p:nvPr/>
        </p:nvSpPr>
        <p:spPr>
          <a:xfrm>
            <a:off x="1188720" y="3410712"/>
            <a:ext cx="3291840" cy="320040"/>
          </a:xfrm>
          <a:prstGeom prst="rect">
            <a:avLst/>
          </a:prstGeom>
          <a:noFill/>
          <a:ln/>
        </p:spPr>
        <p:txBody>
          <a:bodyPr wrap="square" lIns="0" tIns="0" rIns="0" bIns="0" rtlCol="0" anchor="t"/>
          <a:lstStyle/>
          <a:p>
            <a:pPr indent="0" marL="0">
              <a:buNone/>
            </a:pPr>
            <a:r>
              <a:rPr lang="en-US" sz="1700" b="1" dirty="0">
                <a:solidFill>
                  <a:schemeClr val="tx1"/>
                </a:solidFill>
              </a:rPr>
              <a:t>No one sees the big picture</a:t>
            </a:r>
            <a:endParaRPr lang="en-US" sz="1700" dirty="0"/>
          </a:p>
        </p:txBody>
      </p:sp>
      <p:sp>
        <p:nvSpPr>
          <p:cNvPr id="14" name="Text 9"/>
          <p:cNvSpPr txBox="1"/>
          <p:nvPr/>
        </p:nvSpPr>
        <p:spPr>
          <a:xfrm>
            <a:off x="1188720" y="3758184"/>
            <a:ext cx="3291840" cy="548640"/>
          </a:xfrm>
          <a:prstGeom prst="rect">
            <a:avLst/>
          </a:prstGeom>
          <a:noFill/>
          <a:ln/>
        </p:spPr>
        <p:txBody>
          <a:bodyPr wrap="square" lIns="0" tIns="0" rIns="0" bIns="0" rtlCol="0" anchor="t"/>
          <a:lstStyle/>
          <a:p>
            <a:pPr indent="0" marL="0">
              <a:buNone/>
            </a:pPr>
            <a:r>
              <a:rPr lang="en-US" sz="1400" dirty="0">
                <a:solidFill>
                  <a:schemeClr val="accent6"/>
                </a:solidFill>
              </a:rPr>
              <a:t>Leaders can't tell who got the order or what is done.</a:t>
            </a:r>
            <a:endParaRPr lang="en-US" sz="1400" dirty="0"/>
          </a:p>
        </p:txBody>
      </p:sp>
      <p:sp>
        <p:nvSpPr>
          <p:cNvPr id="15" name="principle panel"/>
          <p:cNvSpPr/>
          <p:nvPr/>
        </p:nvSpPr>
        <p:spPr>
          <a:xfrm>
            <a:off x="4846320" y="1188720"/>
            <a:ext cx="3840480" cy="3246120"/>
          </a:xfrm>
          <a:prstGeom prst="roundRect">
            <a:avLst>
              <a:gd name="adj" fmla="val 3380"/>
            </a:avLst>
          </a:prstGeom>
          <a:solidFill>
            <a:schemeClr val="tx2"/>
          </a:solidFill>
          <a:ln/>
        </p:spPr>
      </p:sp>
      <p:sp>
        <p:nvSpPr>
          <p:cNvPr id="16" name="Text 11"/>
          <p:cNvSpPr txBox="1"/>
          <p:nvPr/>
        </p:nvSpPr>
        <p:spPr>
          <a:xfrm>
            <a:off x="5212080" y="1508760"/>
            <a:ext cx="3108960" cy="548640"/>
          </a:xfrm>
          <a:prstGeom prst="rect">
            <a:avLst/>
          </a:prstGeom>
          <a:noFill/>
          <a:ln/>
        </p:spPr>
        <p:txBody>
          <a:bodyPr wrap="square" lIns="0" tIns="0" rIns="0" bIns="0" rtlCol="0" anchor="t"/>
          <a:lstStyle/>
          <a:p>
            <a:pPr indent="0" marL="0">
              <a:buNone/>
            </a:pPr>
            <a:r>
              <a:rPr lang="en-US" sz="1500" dirty="0">
                <a:solidFill>
                  <a:schemeClr val="bg1"/>
                </a:solidFill>
              </a:rPr>
              <a:t>When the alarm is raised, everyone should know:</a:t>
            </a:r>
            <a:endParaRPr lang="en-US" sz="1500" dirty="0"/>
          </a:p>
        </p:txBody>
      </p:sp>
      <p:sp>
        <p:nvSpPr>
          <p:cNvPr id="17" name="Text 12"/>
          <p:cNvSpPr txBox="1"/>
          <p:nvPr/>
        </p:nvSpPr>
        <p:spPr>
          <a:xfrm>
            <a:off x="5212080" y="2194560"/>
            <a:ext cx="3291840" cy="50292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WHERE TO GO.</a:t>
            </a:r>
            <a:endParaRPr lang="en-US" sz="2800" dirty="0"/>
          </a:p>
        </p:txBody>
      </p:sp>
      <p:sp>
        <p:nvSpPr>
          <p:cNvPr id="18" name="Text 13"/>
          <p:cNvSpPr txBox="1"/>
          <p:nvPr/>
        </p:nvSpPr>
        <p:spPr>
          <a:xfrm>
            <a:off x="5212080" y="2697480"/>
            <a:ext cx="3291840" cy="502920"/>
          </a:xfrm>
          <a:prstGeom prst="rect">
            <a:avLst/>
          </a:prstGeom>
          <a:noFill/>
          <a:ln/>
        </p:spPr>
        <p:txBody>
          <a:bodyPr wrap="square" lIns="0" tIns="0" rIns="0" bIns="0" rtlCol="0" anchor="t"/>
          <a:lstStyle/>
          <a:p>
            <a:pPr indent="0" marL="0">
              <a:buNone/>
            </a:pPr>
            <a:r>
              <a:rPr lang="en-US" sz="2800" b="1" dirty="0">
                <a:solidFill>
                  <a:schemeClr val="accent1"/>
                </a:solidFill>
                <a:latin typeface="Arial" pitchFamily="34" charset="0"/>
                <a:ea typeface="Arial" pitchFamily="34" charset="-122"/>
                <a:cs typeface="Arial" pitchFamily="34" charset="-120"/>
              </a:rPr>
              <a:t>WHAT TO DO.</a:t>
            </a:r>
            <a:endParaRPr lang="en-US" sz="2800" dirty="0"/>
          </a:p>
        </p:txBody>
      </p:sp>
      <p:sp>
        <p:nvSpPr>
          <p:cNvPr id="19" name="Text 14"/>
          <p:cNvSpPr txBox="1"/>
          <p:nvPr/>
        </p:nvSpPr>
        <p:spPr>
          <a:xfrm>
            <a:off x="5212080" y="3520440"/>
            <a:ext cx="3200400" cy="548640"/>
          </a:xfrm>
          <a:prstGeom prst="rect">
            <a:avLst/>
          </a:prstGeom>
          <a:noFill/>
          <a:ln/>
        </p:spPr>
        <p:txBody>
          <a:bodyPr wrap="square" lIns="0" tIns="0" rIns="0" bIns="0" rtlCol="0" anchor="t"/>
          <a:lstStyle/>
          <a:p>
            <a:pPr indent="0" marL="0">
              <a:buNone/>
            </a:pPr>
            <a:r>
              <a:rPr lang="en-US" sz="1400" i="1" dirty="0">
                <a:solidFill>
                  <a:schemeClr val="bg2"/>
                </a:solidFill>
              </a:rPr>
              <a:t>Siren brings this principle into the digital age.</a:t>
            </a:r>
            <a:endParaRPr lang="en-US" sz="1400" dirty="0"/>
          </a:p>
        </p:txBody>
      </p:sp>
      <p:sp>
        <p:nvSpPr>
          <p:cNvPr id="25" name="Slide Number Placeholder 0"/>
          <p:cNvSpPr>
            <a:spLocks noGrp="1"/>
          </p:cNvSpPr>
          <p:nvPr>
            <p:ph type="sldNum" sz="quarter" idx="4294967295"/>
          </p:nvPr>
        </p:nvSpPr>
        <p:spPr>
          <a:xfrm>
            <a:off x="8138160" y="472744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From Instructions to Action</a:t>
            </a:r>
            <a:endParaRPr lang="en-US" sz="2800" dirty="0"/>
          </a:p>
        </p:txBody>
      </p:sp>
      <p:sp>
        <p:nvSpPr>
          <p:cNvPr id="3" name="phone normal frame"/>
          <p:cNvSpPr/>
          <p:nvPr/>
        </p:nvSpPr>
        <p:spPr>
          <a:xfrm>
            <a:off x="457200" y="1097280"/>
            <a:ext cx="1600200" cy="3429000"/>
          </a:xfrm>
          <a:prstGeom prst="roundRect">
            <a:avLst>
              <a:gd name="adj" fmla="val 11429"/>
            </a:avLst>
          </a:prstGeom>
          <a:solidFill>
            <a:schemeClr val="tx2"/>
          </a:solidFill>
          <a:ln/>
          <a:effectLst>
            <a:outerShdw sx="100000" sy="100000" kx="0" ky="0" algn="bl" rotWithShape="0" blurRad="101600" dist="25400" dir="5400000">
              <a:srgbClr val="000000">
                <a:alpha val="12000"/>
              </a:srgbClr>
            </a:outerShdw>
          </a:effectLst>
        </p:spPr>
      </p:sp>
      <p:sp>
        <p:nvSpPr>
          <p:cNvPr id="4" name="phone normal screen"/>
          <p:cNvSpPr/>
          <p:nvPr/>
        </p:nvSpPr>
        <p:spPr>
          <a:xfrm>
            <a:off x="539496" y="1261872"/>
            <a:ext cx="1435608" cy="3108960"/>
          </a:xfrm>
          <a:prstGeom prst="roundRect">
            <a:avLst>
              <a:gd name="adj" fmla="val 6369"/>
            </a:avLst>
          </a:prstGeom>
          <a:solidFill>
            <a:schemeClr val="bg2"/>
          </a:solidFill>
          <a:ln/>
        </p:spPr>
      </p:sp>
      <p:sp>
        <p:nvSpPr>
          <p:cNvPr id="5" name="Text 3"/>
          <p:cNvSpPr txBox="1"/>
          <p:nvPr/>
        </p:nvSpPr>
        <p:spPr>
          <a:xfrm>
            <a:off x="640080" y="1371600"/>
            <a:ext cx="1234440" cy="274320"/>
          </a:xfrm>
          <a:prstGeom prst="rect">
            <a:avLst/>
          </a:prstGeom>
          <a:noFill/>
          <a:ln/>
        </p:spPr>
        <p:txBody>
          <a:bodyPr wrap="square" lIns="0" tIns="0" rIns="0" bIns="0" rtlCol="0" anchor="t"/>
          <a:lstStyle/>
          <a:p>
            <a:pPr indent="0" marL="0">
              <a:buNone/>
            </a:pPr>
            <a:r>
              <a:rPr lang="en-US" sz="1200" b="1" dirty="0">
                <a:solidFill>
                  <a:schemeClr val="tx1"/>
                </a:solidFill>
              </a:rPr>
              <a:t>Procedures</a:t>
            </a:r>
            <a:endParaRPr lang="en-US" sz="1200" dirty="0"/>
          </a:p>
        </p:txBody>
      </p:sp>
      <p:sp>
        <p:nvSpPr>
          <p:cNvPr id="6" name="procedure Air raid"/>
          <p:cNvSpPr/>
          <p:nvPr/>
        </p:nvSpPr>
        <p:spPr>
          <a:xfrm>
            <a:off x="612648" y="1737360"/>
            <a:ext cx="1289304" cy="329184"/>
          </a:xfrm>
          <a:prstGeom prst="roundRect">
            <a:avLst>
              <a:gd name="adj" fmla="val 13889"/>
            </a:avLst>
          </a:prstGeom>
          <a:solidFill>
            <a:schemeClr val="bg1"/>
          </a:solidFill>
          <a:ln/>
        </p:spPr>
      </p:sp>
      <p:sp>
        <p:nvSpPr>
          <p:cNvPr id="7" name="Text 5"/>
          <p:cNvSpPr txBox="1"/>
          <p:nvPr/>
        </p:nvSpPr>
        <p:spPr>
          <a:xfrm>
            <a:off x="704088" y="1737360"/>
            <a:ext cx="1143000" cy="329184"/>
          </a:xfrm>
          <a:prstGeom prst="rect">
            <a:avLst/>
          </a:prstGeom>
          <a:noFill/>
          <a:ln/>
        </p:spPr>
        <p:txBody>
          <a:bodyPr wrap="square" lIns="0" tIns="0" rIns="0" bIns="0" rtlCol="0" anchor="ctr"/>
          <a:lstStyle/>
          <a:p>
            <a:pPr indent="0" marL="0">
              <a:buNone/>
            </a:pPr>
            <a:r>
              <a:rPr lang="en-US" sz="1000" dirty="0">
                <a:solidFill>
                  <a:schemeClr val="tx1"/>
                </a:solidFill>
              </a:rPr>
              <a:t>Air raid</a:t>
            </a:r>
            <a:endParaRPr lang="en-US" sz="1000" dirty="0"/>
          </a:p>
        </p:txBody>
      </p:sp>
      <p:sp>
        <p:nvSpPr>
          <p:cNvPr id="8" name="procedure Flood"/>
          <p:cNvSpPr/>
          <p:nvPr/>
        </p:nvSpPr>
        <p:spPr>
          <a:xfrm>
            <a:off x="612648" y="2148840"/>
            <a:ext cx="1289304" cy="329184"/>
          </a:xfrm>
          <a:prstGeom prst="roundRect">
            <a:avLst>
              <a:gd name="adj" fmla="val 13889"/>
            </a:avLst>
          </a:prstGeom>
          <a:solidFill>
            <a:schemeClr val="bg1"/>
          </a:solidFill>
          <a:ln/>
        </p:spPr>
      </p:sp>
      <p:sp>
        <p:nvSpPr>
          <p:cNvPr id="9" name="Text 7"/>
          <p:cNvSpPr txBox="1"/>
          <p:nvPr/>
        </p:nvSpPr>
        <p:spPr>
          <a:xfrm>
            <a:off x="704088" y="2148840"/>
            <a:ext cx="1143000" cy="329184"/>
          </a:xfrm>
          <a:prstGeom prst="rect">
            <a:avLst/>
          </a:prstGeom>
          <a:noFill/>
          <a:ln/>
        </p:spPr>
        <p:txBody>
          <a:bodyPr wrap="square" lIns="0" tIns="0" rIns="0" bIns="0" rtlCol="0" anchor="ctr"/>
          <a:lstStyle/>
          <a:p>
            <a:pPr indent="0" marL="0">
              <a:buNone/>
            </a:pPr>
            <a:r>
              <a:rPr lang="en-US" sz="1000" dirty="0">
                <a:solidFill>
                  <a:schemeClr val="tx1"/>
                </a:solidFill>
              </a:rPr>
              <a:t>Flood</a:t>
            </a:r>
            <a:endParaRPr lang="en-US" sz="1000" dirty="0"/>
          </a:p>
        </p:txBody>
      </p:sp>
      <p:sp>
        <p:nvSpPr>
          <p:cNvPr id="10" name="procedure Power outage"/>
          <p:cNvSpPr/>
          <p:nvPr/>
        </p:nvSpPr>
        <p:spPr>
          <a:xfrm>
            <a:off x="612648" y="2560320"/>
            <a:ext cx="1289304" cy="329184"/>
          </a:xfrm>
          <a:prstGeom prst="roundRect">
            <a:avLst>
              <a:gd name="adj" fmla="val 13889"/>
            </a:avLst>
          </a:prstGeom>
          <a:solidFill>
            <a:schemeClr val="bg1"/>
          </a:solidFill>
          <a:ln/>
        </p:spPr>
      </p:sp>
      <p:sp>
        <p:nvSpPr>
          <p:cNvPr id="11" name="Text 9"/>
          <p:cNvSpPr txBox="1"/>
          <p:nvPr/>
        </p:nvSpPr>
        <p:spPr>
          <a:xfrm>
            <a:off x="704088" y="2560320"/>
            <a:ext cx="1143000" cy="329184"/>
          </a:xfrm>
          <a:prstGeom prst="rect">
            <a:avLst/>
          </a:prstGeom>
          <a:noFill/>
          <a:ln/>
        </p:spPr>
        <p:txBody>
          <a:bodyPr wrap="square" lIns="0" tIns="0" rIns="0" bIns="0" rtlCol="0" anchor="ctr"/>
          <a:lstStyle/>
          <a:p>
            <a:pPr indent="0" marL="0">
              <a:buNone/>
            </a:pPr>
            <a:r>
              <a:rPr lang="en-US" sz="1000" dirty="0">
                <a:solidFill>
                  <a:schemeClr val="tx1"/>
                </a:solidFill>
              </a:rPr>
              <a:t>Power outage</a:t>
            </a:r>
            <a:endParaRPr lang="en-US" sz="1000" dirty="0"/>
          </a:p>
        </p:txBody>
      </p:sp>
      <p:sp>
        <p:nvSpPr>
          <p:cNvPr id="12" name="procedure Mass casualty"/>
          <p:cNvSpPr/>
          <p:nvPr/>
        </p:nvSpPr>
        <p:spPr>
          <a:xfrm>
            <a:off x="612648" y="2971800"/>
            <a:ext cx="1289304" cy="329184"/>
          </a:xfrm>
          <a:prstGeom prst="roundRect">
            <a:avLst>
              <a:gd name="adj" fmla="val 13889"/>
            </a:avLst>
          </a:prstGeom>
          <a:solidFill>
            <a:schemeClr val="bg1"/>
          </a:solidFill>
          <a:ln/>
        </p:spPr>
      </p:sp>
      <p:sp>
        <p:nvSpPr>
          <p:cNvPr id="13" name="Text 11"/>
          <p:cNvSpPr txBox="1"/>
          <p:nvPr/>
        </p:nvSpPr>
        <p:spPr>
          <a:xfrm>
            <a:off x="704088" y="2971800"/>
            <a:ext cx="1143000" cy="329184"/>
          </a:xfrm>
          <a:prstGeom prst="rect">
            <a:avLst/>
          </a:prstGeom>
          <a:noFill/>
          <a:ln/>
        </p:spPr>
        <p:txBody>
          <a:bodyPr wrap="square" lIns="0" tIns="0" rIns="0" bIns="0" rtlCol="0" anchor="ctr"/>
          <a:lstStyle/>
          <a:p>
            <a:pPr indent="0" marL="0">
              <a:buNone/>
            </a:pPr>
            <a:r>
              <a:rPr lang="en-US" sz="1000" dirty="0">
                <a:solidFill>
                  <a:schemeClr val="tx1"/>
                </a:solidFill>
              </a:rPr>
              <a:t>Mass casualty</a:t>
            </a:r>
            <a:endParaRPr lang="en-US" sz="1000" dirty="0"/>
          </a:p>
        </p:txBody>
      </p:sp>
      <p:sp>
        <p:nvSpPr>
          <p:cNvPr id="14" name="procedure Evacuation"/>
          <p:cNvSpPr/>
          <p:nvPr/>
        </p:nvSpPr>
        <p:spPr>
          <a:xfrm>
            <a:off x="612648" y="3383280"/>
            <a:ext cx="1289304" cy="329184"/>
          </a:xfrm>
          <a:prstGeom prst="roundRect">
            <a:avLst>
              <a:gd name="adj" fmla="val 13889"/>
            </a:avLst>
          </a:prstGeom>
          <a:solidFill>
            <a:schemeClr val="bg1"/>
          </a:solidFill>
          <a:ln/>
        </p:spPr>
      </p:sp>
      <p:sp>
        <p:nvSpPr>
          <p:cNvPr id="15" name="Text 13"/>
          <p:cNvSpPr txBox="1"/>
          <p:nvPr/>
        </p:nvSpPr>
        <p:spPr>
          <a:xfrm>
            <a:off x="704088" y="3383280"/>
            <a:ext cx="1143000" cy="329184"/>
          </a:xfrm>
          <a:prstGeom prst="rect">
            <a:avLst/>
          </a:prstGeom>
          <a:noFill/>
          <a:ln/>
        </p:spPr>
        <p:txBody>
          <a:bodyPr wrap="square" lIns="0" tIns="0" rIns="0" bIns="0" rtlCol="0" anchor="ctr"/>
          <a:lstStyle/>
          <a:p>
            <a:pPr indent="0" marL="0">
              <a:buNone/>
            </a:pPr>
            <a:r>
              <a:rPr lang="en-US" sz="1000" dirty="0">
                <a:solidFill>
                  <a:schemeClr val="tx1"/>
                </a:solidFill>
              </a:rPr>
              <a:t>Evacuation</a:t>
            </a:r>
            <a:endParaRPr lang="en-US" sz="1000" dirty="0"/>
          </a:p>
        </p:txBody>
      </p:sp>
      <p:sp>
        <p:nvSpPr>
          <p:cNvPr id="16" name="procedure Mobilization"/>
          <p:cNvSpPr/>
          <p:nvPr/>
        </p:nvSpPr>
        <p:spPr>
          <a:xfrm>
            <a:off x="612648" y="3794760"/>
            <a:ext cx="1289304" cy="329184"/>
          </a:xfrm>
          <a:prstGeom prst="roundRect">
            <a:avLst>
              <a:gd name="adj" fmla="val 13889"/>
            </a:avLst>
          </a:prstGeom>
          <a:solidFill>
            <a:schemeClr val="bg1"/>
          </a:solidFill>
          <a:ln/>
        </p:spPr>
      </p:sp>
      <p:sp>
        <p:nvSpPr>
          <p:cNvPr id="17" name="Text 15"/>
          <p:cNvSpPr txBox="1"/>
          <p:nvPr/>
        </p:nvSpPr>
        <p:spPr>
          <a:xfrm>
            <a:off x="704088" y="3794760"/>
            <a:ext cx="1143000" cy="329184"/>
          </a:xfrm>
          <a:prstGeom prst="rect">
            <a:avLst/>
          </a:prstGeom>
          <a:noFill/>
          <a:ln/>
        </p:spPr>
        <p:txBody>
          <a:bodyPr wrap="square" lIns="0" tIns="0" rIns="0" bIns="0" rtlCol="0" anchor="ctr"/>
          <a:lstStyle/>
          <a:p>
            <a:pPr indent="0" marL="0">
              <a:buNone/>
            </a:pPr>
            <a:r>
              <a:rPr lang="en-US" sz="1000" dirty="0">
                <a:solidFill>
                  <a:schemeClr val="tx1"/>
                </a:solidFill>
              </a:rPr>
              <a:t>Mobilization</a:t>
            </a:r>
            <a:endParaRPr lang="en-US" sz="1000" dirty="0"/>
          </a:p>
        </p:txBody>
      </p:sp>
      <p:sp>
        <p:nvSpPr>
          <p:cNvPr id="18" name="Text 16"/>
          <p:cNvSpPr txBox="1"/>
          <p:nvPr/>
        </p:nvSpPr>
        <p:spPr>
          <a:xfrm>
            <a:off x="2240280" y="1463040"/>
            <a:ext cx="1828800" cy="274320"/>
          </a:xfrm>
          <a:prstGeom prst="rect">
            <a:avLst/>
          </a:prstGeom>
          <a:noFill/>
          <a:ln/>
        </p:spPr>
        <p:txBody>
          <a:bodyPr wrap="square" lIns="0" tIns="0" rIns="0" bIns="0" rtlCol="0" anchor="t"/>
          <a:lstStyle/>
          <a:p>
            <a:pPr indent="0" marL="0">
              <a:buNone/>
            </a:pPr>
            <a:r>
              <a:rPr lang="en-US" sz="1200" b="1" spc="200" kern="0" dirty="0">
                <a:solidFill>
                  <a:schemeClr val="accent6"/>
                </a:solidFill>
              </a:rPr>
              <a:t>NORMALLY</a:t>
            </a:r>
            <a:endParaRPr lang="en-US" sz="1200" dirty="0"/>
          </a:p>
        </p:txBody>
      </p:sp>
      <p:sp>
        <p:nvSpPr>
          <p:cNvPr id="19" name="Text 17"/>
          <p:cNvSpPr txBox="1"/>
          <p:nvPr/>
        </p:nvSpPr>
        <p:spPr>
          <a:xfrm>
            <a:off x="2240280" y="1783080"/>
            <a:ext cx="1828800" cy="365760"/>
          </a:xfrm>
          <a:prstGeom prst="rect">
            <a:avLst/>
          </a:prstGeom>
          <a:noFill/>
          <a:ln/>
        </p:spPr>
        <p:txBody>
          <a:bodyPr wrap="square" lIns="0" tIns="0" rIns="0" bIns="0" rtlCol="0" anchor="t"/>
          <a:lstStyle/>
          <a:p>
            <a:pPr indent="0" marL="0">
              <a:buNone/>
            </a:pPr>
            <a:r>
              <a:rPr lang="en-US" sz="1800" b="1" dirty="0">
                <a:solidFill>
                  <a:schemeClr val="tx1"/>
                </a:solidFill>
              </a:rPr>
              <a:t>A pocket library</a:t>
            </a:r>
            <a:endParaRPr lang="en-US" sz="1800" dirty="0"/>
          </a:p>
        </p:txBody>
      </p:sp>
      <p:sp>
        <p:nvSpPr>
          <p:cNvPr id="20" name="Text 18"/>
          <p:cNvSpPr txBox="1"/>
          <p:nvPr/>
        </p:nvSpPr>
        <p:spPr>
          <a:xfrm>
            <a:off x="2240280" y="2240280"/>
            <a:ext cx="1737360" cy="1371600"/>
          </a:xfrm>
          <a:prstGeom prst="rect">
            <a:avLst/>
          </a:prstGeom>
          <a:noFill/>
          <a:ln/>
        </p:spPr>
        <p:txBody>
          <a:bodyPr wrap="square" lIns="0" tIns="0" rIns="0" bIns="0" rtlCol="0" anchor="t"/>
          <a:lstStyle/>
          <a:p>
            <a:pPr indent="0" marL="0">
              <a:buNone/>
            </a:pPr>
            <a:r>
              <a:rPr lang="en-US" sz="1400" dirty="0">
                <a:solidFill>
                  <a:schemeClr val="accent6"/>
                </a:solidFill>
              </a:rPr>
              <a:t>Every emergency procedure in one app, always at hand.</a:t>
            </a:r>
            <a:endParaRPr lang="en-US" sz="1400" dirty="0"/>
          </a:p>
        </p:txBody>
      </p:sp>
      <p:sp>
        <p:nvSpPr>
          <p:cNvPr id="21" name="alarm arrow"/>
          <p:cNvSpPr/>
          <p:nvPr/>
        </p:nvSpPr>
        <p:spPr>
          <a:xfrm>
            <a:off x="4160520" y="2606040"/>
            <a:ext cx="685800" cy="411480"/>
          </a:xfrm>
          <a:prstGeom prst="rightArrow">
            <a:avLst/>
          </a:prstGeom>
          <a:solidFill>
            <a:schemeClr val="accent1"/>
          </a:solidFill>
          <a:ln/>
        </p:spPr>
      </p:sp>
      <p:pic>
        <p:nvPicPr>
          <p:cNvPr id="22" name="alarm bell" descr="alarm">    </p:cNvPr>
          <p:cNvPicPr>
            <a:picLocks noChangeAspect="1"/>
          </p:cNvPicPr>
          <p:nvPr/>
        </p:nvPicPr>
        <p:blipFill>
          <a:blip r:embed="rId1"/>
          <a:stretch>
            <a:fillRect/>
          </a:stretch>
        </p:blipFill>
        <p:spPr>
          <a:xfrm>
            <a:off x="4343400" y="2103120"/>
            <a:ext cx="320040" cy="320040"/>
          </a:xfrm>
          <a:prstGeom prst="rect">
            <a:avLst/>
          </a:prstGeom>
        </p:spPr>
      </p:pic>
      <p:sp>
        <p:nvSpPr>
          <p:cNvPr id="23" name="phone alarm frame"/>
          <p:cNvSpPr/>
          <p:nvPr/>
        </p:nvSpPr>
        <p:spPr>
          <a:xfrm>
            <a:off x="4983480" y="1097280"/>
            <a:ext cx="1600200" cy="3429000"/>
          </a:xfrm>
          <a:prstGeom prst="roundRect">
            <a:avLst>
              <a:gd name="adj" fmla="val 11429"/>
            </a:avLst>
          </a:prstGeom>
          <a:solidFill>
            <a:schemeClr val="tx2"/>
          </a:solidFill>
          <a:ln/>
          <a:effectLst>
            <a:outerShdw sx="100000" sy="100000" kx="0" ky="0" algn="bl" rotWithShape="0" blurRad="101600" dist="25400" dir="5400000">
              <a:srgbClr val="000000">
                <a:alpha val="12000"/>
              </a:srgbClr>
            </a:outerShdw>
          </a:effectLst>
        </p:spPr>
      </p:sp>
      <p:sp>
        <p:nvSpPr>
          <p:cNvPr id="24" name="phone alarm screen"/>
          <p:cNvSpPr/>
          <p:nvPr/>
        </p:nvSpPr>
        <p:spPr>
          <a:xfrm>
            <a:off x="5065776" y="1261872"/>
            <a:ext cx="1435608" cy="3108960"/>
          </a:xfrm>
          <a:prstGeom prst="roundRect">
            <a:avLst>
              <a:gd name="adj" fmla="val 6369"/>
            </a:avLst>
          </a:prstGeom>
          <a:solidFill>
            <a:schemeClr val="bg2"/>
          </a:solidFill>
          <a:ln/>
        </p:spPr>
      </p:sp>
      <p:sp>
        <p:nvSpPr>
          <p:cNvPr id="25" name="alarm banner"/>
          <p:cNvSpPr/>
          <p:nvPr/>
        </p:nvSpPr>
        <p:spPr>
          <a:xfrm>
            <a:off x="5065776" y="1261872"/>
            <a:ext cx="1435608" cy="566928"/>
          </a:xfrm>
          <a:prstGeom prst="roundRect">
            <a:avLst>
              <a:gd name="adj" fmla="val 16129"/>
            </a:avLst>
          </a:prstGeom>
          <a:solidFill>
            <a:schemeClr val="accent1"/>
          </a:solidFill>
          <a:ln/>
        </p:spPr>
      </p:sp>
      <p:sp>
        <p:nvSpPr>
          <p:cNvPr id="26" name="Text 23"/>
          <p:cNvSpPr txBox="1"/>
          <p:nvPr/>
        </p:nvSpPr>
        <p:spPr>
          <a:xfrm>
            <a:off x="5166360" y="1307592"/>
            <a:ext cx="1280160" cy="502920"/>
          </a:xfrm>
          <a:prstGeom prst="rect">
            <a:avLst/>
          </a:prstGeom>
          <a:noFill/>
          <a:ln/>
        </p:spPr>
        <p:txBody>
          <a:bodyPr wrap="square" lIns="0" tIns="0" rIns="0" bIns="0" rtlCol="0" anchor="ctr"/>
          <a:lstStyle/>
          <a:p>
            <a:pPr indent="0" marL="0">
              <a:buNone/>
            </a:pPr>
            <a:r>
              <a:rPr lang="en-US" sz="1000" b="1" dirty="0">
                <a:solidFill>
                  <a:schemeClr val="bg1"/>
                </a:solidFill>
              </a:rPr>
              <a:t>ALARM</a:t>
            </a:r>
            <a:endParaRPr lang="en-US" sz="1000" dirty="0"/>
          </a:p>
          <a:p>
            <a:pPr indent="0" marL="0">
              <a:buNone/>
            </a:pPr>
            <a:r>
              <a:rPr lang="en-US" sz="1000" dirty="0">
                <a:solidFill>
                  <a:schemeClr val="bg1"/>
                </a:solidFill>
              </a:rPr>
              <a:t>Air raid — School No. 5</a:t>
            </a:r>
            <a:endParaRPr lang="en-US" sz="1000" dirty="0"/>
          </a:p>
        </p:txBody>
      </p:sp>
      <p:sp>
        <p:nvSpPr>
          <p:cNvPr id="27" name="task Go to the school"/>
          <p:cNvSpPr/>
          <p:nvPr/>
        </p:nvSpPr>
        <p:spPr>
          <a:xfrm>
            <a:off x="5138928" y="1965960"/>
            <a:ext cx="1289304" cy="411480"/>
          </a:xfrm>
          <a:prstGeom prst="roundRect">
            <a:avLst>
              <a:gd name="adj" fmla="val 11111"/>
            </a:avLst>
          </a:prstGeom>
          <a:solidFill>
            <a:schemeClr val="bg1"/>
          </a:solidFill>
          <a:ln/>
        </p:spPr>
      </p:sp>
      <p:sp>
        <p:nvSpPr>
          <p:cNvPr id="28" name="task check 1"/>
          <p:cNvSpPr/>
          <p:nvPr/>
        </p:nvSpPr>
        <p:spPr>
          <a:xfrm>
            <a:off x="5212080" y="2075688"/>
            <a:ext cx="192024" cy="192024"/>
          </a:xfrm>
          <a:prstGeom prst="ellipse">
            <a:avLst/>
          </a:prstGeom>
          <a:solidFill>
            <a:schemeClr val="accent4"/>
          </a:solidFill>
          <a:ln w="12700">
            <a:solidFill>
              <a:schemeClr val="accent4"/>
            </a:solidFill>
            <a:prstDash val="solid"/>
          </a:ln>
        </p:spPr>
      </p:sp>
      <p:pic>
        <p:nvPicPr>
          <p:cNvPr id="29" name="check mark 1" descr="done">    </p:cNvPr>
          <p:cNvPicPr>
            <a:picLocks noChangeAspect="1"/>
          </p:cNvPicPr>
          <p:nvPr/>
        </p:nvPicPr>
        <p:blipFill>
          <a:blip r:embed="rId2"/>
          <a:stretch>
            <a:fillRect/>
          </a:stretch>
        </p:blipFill>
        <p:spPr>
          <a:xfrm>
            <a:off x="5248656" y="2112264"/>
            <a:ext cx="118872" cy="118872"/>
          </a:xfrm>
          <a:prstGeom prst="rect">
            <a:avLst/>
          </a:prstGeom>
        </p:spPr>
      </p:pic>
      <p:sp>
        <p:nvSpPr>
          <p:cNvPr id="30" name="Text 26"/>
          <p:cNvSpPr txBox="1"/>
          <p:nvPr/>
        </p:nvSpPr>
        <p:spPr>
          <a:xfrm>
            <a:off x="5468112" y="1965960"/>
            <a:ext cx="914400" cy="411480"/>
          </a:xfrm>
          <a:prstGeom prst="rect">
            <a:avLst/>
          </a:prstGeom>
          <a:noFill/>
          <a:ln/>
        </p:spPr>
        <p:txBody>
          <a:bodyPr wrap="square" lIns="0" tIns="0" rIns="0" bIns="0" rtlCol="0" anchor="ctr"/>
          <a:lstStyle/>
          <a:p>
            <a:pPr indent="0" marL="0">
              <a:buNone/>
            </a:pPr>
            <a:r>
              <a:rPr lang="en-US" sz="1000" dirty="0">
                <a:solidFill>
                  <a:schemeClr val="tx1"/>
                </a:solidFill>
              </a:rPr>
              <a:t>Go to the school</a:t>
            </a:r>
            <a:endParaRPr lang="en-US" sz="1000" dirty="0"/>
          </a:p>
        </p:txBody>
      </p:sp>
      <p:sp>
        <p:nvSpPr>
          <p:cNvPr id="31" name="task Open the building"/>
          <p:cNvSpPr/>
          <p:nvPr/>
        </p:nvSpPr>
        <p:spPr>
          <a:xfrm>
            <a:off x="5138928" y="2468880"/>
            <a:ext cx="1289304" cy="411480"/>
          </a:xfrm>
          <a:prstGeom prst="roundRect">
            <a:avLst>
              <a:gd name="adj" fmla="val 11111"/>
            </a:avLst>
          </a:prstGeom>
          <a:solidFill>
            <a:schemeClr val="bg1"/>
          </a:solidFill>
          <a:ln/>
        </p:spPr>
      </p:sp>
      <p:sp>
        <p:nvSpPr>
          <p:cNvPr id="32" name="task check 2"/>
          <p:cNvSpPr/>
          <p:nvPr/>
        </p:nvSpPr>
        <p:spPr>
          <a:xfrm>
            <a:off x="5212080" y="2578608"/>
            <a:ext cx="192024" cy="192024"/>
          </a:xfrm>
          <a:prstGeom prst="ellipse">
            <a:avLst/>
          </a:prstGeom>
          <a:solidFill>
            <a:schemeClr val="accent4"/>
          </a:solidFill>
          <a:ln w="12700">
            <a:solidFill>
              <a:schemeClr val="accent4"/>
            </a:solidFill>
            <a:prstDash val="solid"/>
          </a:ln>
        </p:spPr>
      </p:sp>
      <p:pic>
        <p:nvPicPr>
          <p:cNvPr id="33" name="check mark 2" descr="done">    </p:cNvPr>
          <p:cNvPicPr>
            <a:picLocks noChangeAspect="1"/>
          </p:cNvPicPr>
          <p:nvPr/>
        </p:nvPicPr>
        <p:blipFill>
          <a:blip r:embed="rId3"/>
          <a:stretch>
            <a:fillRect/>
          </a:stretch>
        </p:blipFill>
        <p:spPr>
          <a:xfrm>
            <a:off x="5248656" y="2615184"/>
            <a:ext cx="118872" cy="118872"/>
          </a:xfrm>
          <a:prstGeom prst="rect">
            <a:avLst/>
          </a:prstGeom>
        </p:spPr>
      </p:pic>
      <p:sp>
        <p:nvSpPr>
          <p:cNvPr id="34" name="Text 29"/>
          <p:cNvSpPr txBox="1"/>
          <p:nvPr/>
        </p:nvSpPr>
        <p:spPr>
          <a:xfrm>
            <a:off x="5468112" y="2468880"/>
            <a:ext cx="914400" cy="411480"/>
          </a:xfrm>
          <a:prstGeom prst="rect">
            <a:avLst/>
          </a:prstGeom>
          <a:noFill/>
          <a:ln/>
        </p:spPr>
        <p:txBody>
          <a:bodyPr wrap="square" lIns="0" tIns="0" rIns="0" bIns="0" rtlCol="0" anchor="ctr"/>
          <a:lstStyle/>
          <a:p>
            <a:pPr indent="0" marL="0">
              <a:buNone/>
            </a:pPr>
            <a:r>
              <a:rPr lang="en-US" sz="1000" dirty="0">
                <a:solidFill>
                  <a:schemeClr val="tx1"/>
                </a:solidFill>
              </a:rPr>
              <a:t>Open the building</a:t>
            </a:r>
            <a:endParaRPr lang="en-US" sz="1000" dirty="0"/>
          </a:p>
        </p:txBody>
      </p:sp>
      <p:sp>
        <p:nvSpPr>
          <p:cNvPr id="35" name="task Open the shelter"/>
          <p:cNvSpPr/>
          <p:nvPr/>
        </p:nvSpPr>
        <p:spPr>
          <a:xfrm>
            <a:off x="5138928" y="2971800"/>
            <a:ext cx="1289304" cy="411480"/>
          </a:xfrm>
          <a:prstGeom prst="roundRect">
            <a:avLst>
              <a:gd name="adj" fmla="val 11111"/>
            </a:avLst>
          </a:prstGeom>
          <a:solidFill>
            <a:schemeClr val="bg1"/>
          </a:solidFill>
          <a:ln/>
        </p:spPr>
      </p:sp>
      <p:sp>
        <p:nvSpPr>
          <p:cNvPr id="36" name="task check 3"/>
          <p:cNvSpPr/>
          <p:nvPr/>
        </p:nvSpPr>
        <p:spPr>
          <a:xfrm>
            <a:off x="5212080" y="3081528"/>
            <a:ext cx="192024" cy="192024"/>
          </a:xfrm>
          <a:prstGeom prst="ellipse">
            <a:avLst/>
          </a:prstGeom>
          <a:solidFill>
            <a:schemeClr val="bg1"/>
          </a:solidFill>
          <a:ln w="12700">
            <a:solidFill>
              <a:schemeClr val="accent6"/>
            </a:solidFill>
            <a:prstDash val="solid"/>
          </a:ln>
        </p:spPr>
      </p:sp>
      <p:sp>
        <p:nvSpPr>
          <p:cNvPr id="37" name="Text 32"/>
          <p:cNvSpPr txBox="1"/>
          <p:nvPr/>
        </p:nvSpPr>
        <p:spPr>
          <a:xfrm>
            <a:off x="5468112" y="2971800"/>
            <a:ext cx="914400" cy="411480"/>
          </a:xfrm>
          <a:prstGeom prst="rect">
            <a:avLst/>
          </a:prstGeom>
          <a:noFill/>
          <a:ln/>
        </p:spPr>
        <p:txBody>
          <a:bodyPr wrap="square" lIns="0" tIns="0" rIns="0" bIns="0" rtlCol="0" anchor="ctr"/>
          <a:lstStyle/>
          <a:p>
            <a:pPr indent="0" marL="0">
              <a:buNone/>
            </a:pPr>
            <a:r>
              <a:rPr lang="en-US" sz="1000" dirty="0">
                <a:solidFill>
                  <a:schemeClr val="tx1"/>
                </a:solidFill>
              </a:rPr>
              <a:t>Open the shelter</a:t>
            </a:r>
            <a:endParaRPr lang="en-US" sz="1000" dirty="0"/>
          </a:p>
        </p:txBody>
      </p:sp>
      <p:sp>
        <p:nvSpPr>
          <p:cNvPr id="38" name="task Display signs"/>
          <p:cNvSpPr/>
          <p:nvPr/>
        </p:nvSpPr>
        <p:spPr>
          <a:xfrm>
            <a:off x="5138928" y="3474720"/>
            <a:ext cx="1289304" cy="411480"/>
          </a:xfrm>
          <a:prstGeom prst="roundRect">
            <a:avLst>
              <a:gd name="adj" fmla="val 11111"/>
            </a:avLst>
          </a:prstGeom>
          <a:solidFill>
            <a:schemeClr val="bg1"/>
          </a:solidFill>
          <a:ln/>
        </p:spPr>
      </p:sp>
      <p:sp>
        <p:nvSpPr>
          <p:cNvPr id="39" name="task check 4"/>
          <p:cNvSpPr/>
          <p:nvPr/>
        </p:nvSpPr>
        <p:spPr>
          <a:xfrm>
            <a:off x="5212080" y="3584448"/>
            <a:ext cx="192024" cy="192024"/>
          </a:xfrm>
          <a:prstGeom prst="ellipse">
            <a:avLst/>
          </a:prstGeom>
          <a:solidFill>
            <a:schemeClr val="bg1"/>
          </a:solidFill>
          <a:ln w="12700">
            <a:solidFill>
              <a:schemeClr val="accent6"/>
            </a:solidFill>
            <a:prstDash val="solid"/>
          </a:ln>
        </p:spPr>
      </p:sp>
      <p:sp>
        <p:nvSpPr>
          <p:cNvPr id="40" name="Text 35"/>
          <p:cNvSpPr txBox="1"/>
          <p:nvPr/>
        </p:nvSpPr>
        <p:spPr>
          <a:xfrm>
            <a:off x="5468112" y="3474720"/>
            <a:ext cx="914400" cy="411480"/>
          </a:xfrm>
          <a:prstGeom prst="rect">
            <a:avLst/>
          </a:prstGeom>
          <a:noFill/>
          <a:ln/>
        </p:spPr>
        <p:txBody>
          <a:bodyPr wrap="square" lIns="0" tIns="0" rIns="0" bIns="0" rtlCol="0" anchor="ctr"/>
          <a:lstStyle/>
          <a:p>
            <a:pPr indent="0" marL="0">
              <a:buNone/>
            </a:pPr>
            <a:r>
              <a:rPr lang="en-US" sz="1000" dirty="0">
                <a:solidFill>
                  <a:schemeClr val="tx1"/>
                </a:solidFill>
              </a:rPr>
              <a:t>Display signs</a:t>
            </a:r>
            <a:endParaRPr lang="en-US" sz="1000" dirty="0"/>
          </a:p>
        </p:txBody>
      </p:sp>
      <p:sp>
        <p:nvSpPr>
          <p:cNvPr id="41" name="Text 36"/>
          <p:cNvSpPr txBox="1"/>
          <p:nvPr/>
        </p:nvSpPr>
        <p:spPr>
          <a:xfrm>
            <a:off x="5166360" y="4023360"/>
            <a:ext cx="1234440" cy="228600"/>
          </a:xfrm>
          <a:prstGeom prst="rect">
            <a:avLst/>
          </a:prstGeom>
          <a:noFill/>
          <a:ln/>
        </p:spPr>
        <p:txBody>
          <a:bodyPr wrap="square" lIns="0" tIns="0" rIns="0" bIns="0" rtlCol="0" anchor="t"/>
          <a:lstStyle/>
          <a:p>
            <a:pPr indent="0" marL="0">
              <a:buNone/>
            </a:pPr>
            <a:r>
              <a:rPr lang="en-US" sz="1000" b="1" dirty="0">
                <a:solidFill>
                  <a:schemeClr val="accent4"/>
                </a:solidFill>
              </a:rPr>
              <a:t>2 / 4 done</a:t>
            </a:r>
            <a:endParaRPr lang="en-US" sz="1000" dirty="0"/>
          </a:p>
        </p:txBody>
      </p:sp>
      <p:sp>
        <p:nvSpPr>
          <p:cNvPr id="42" name="Text 37"/>
          <p:cNvSpPr txBox="1"/>
          <p:nvPr/>
        </p:nvSpPr>
        <p:spPr>
          <a:xfrm>
            <a:off x="6766560" y="1463040"/>
            <a:ext cx="19202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ON ALARM</a:t>
            </a:r>
            <a:endParaRPr lang="en-US" sz="1200" dirty="0"/>
          </a:p>
        </p:txBody>
      </p:sp>
      <p:sp>
        <p:nvSpPr>
          <p:cNvPr id="43" name="Text 38"/>
          <p:cNvSpPr txBox="1"/>
          <p:nvPr/>
        </p:nvSpPr>
        <p:spPr>
          <a:xfrm>
            <a:off x="6766560" y="1783080"/>
            <a:ext cx="1920240" cy="365760"/>
          </a:xfrm>
          <a:prstGeom prst="rect">
            <a:avLst/>
          </a:prstGeom>
          <a:noFill/>
          <a:ln/>
        </p:spPr>
        <p:txBody>
          <a:bodyPr wrap="square" lIns="0" tIns="0" rIns="0" bIns="0" rtlCol="0" anchor="t"/>
          <a:lstStyle/>
          <a:p>
            <a:pPr indent="0" marL="0">
              <a:buNone/>
            </a:pPr>
            <a:r>
              <a:rPr lang="en-US" sz="1800" b="1" dirty="0">
                <a:solidFill>
                  <a:schemeClr val="tx1"/>
                </a:solidFill>
              </a:rPr>
              <a:t>A live to-do list</a:t>
            </a:r>
            <a:endParaRPr lang="en-US" sz="1800" dirty="0"/>
          </a:p>
        </p:txBody>
      </p:sp>
      <p:sp>
        <p:nvSpPr>
          <p:cNvPr id="44" name="Text 39"/>
          <p:cNvSpPr txBox="1"/>
          <p:nvPr/>
        </p:nvSpPr>
        <p:spPr>
          <a:xfrm>
            <a:off x="6766560" y="2240280"/>
            <a:ext cx="1920240" cy="1371600"/>
          </a:xfrm>
          <a:prstGeom prst="rect">
            <a:avLst/>
          </a:prstGeom>
          <a:noFill/>
          <a:ln/>
        </p:spPr>
        <p:txBody>
          <a:bodyPr wrap="square" lIns="0" tIns="0" rIns="0" bIns="0" rtlCol="0" anchor="t"/>
          <a:lstStyle/>
          <a:p>
            <a:pPr indent="0" marL="0">
              <a:buNone/>
            </a:pPr>
            <a:r>
              <a:rPr lang="en-US" sz="1400" dirty="0">
                <a:solidFill>
                  <a:schemeClr val="accent6"/>
                </a:solidFill>
              </a:rPr>
              <a:t>The app switches to the person's own tasks — step by step, with progress reported back.</a:t>
            </a:r>
            <a:endParaRPr lang="en-US" sz="1400" dirty="0"/>
          </a:p>
        </p:txBody>
      </p:sp>
      <p:sp>
        <p:nvSpPr>
          <p:cNvPr id="25" name="Slide Number Placeholder 0"/>
          <p:cNvSpPr>
            <a:spLocks noGrp="1"/>
          </p:cNvSpPr>
          <p:nvPr>
            <p:ph type="sldNum" sz="quarter" idx="4294967295"/>
          </p:nvPr>
        </p:nvSpPr>
        <p:spPr>
          <a:xfrm>
            <a:off x="8138160" y="472744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One Alarm. Clear Orders.</a:t>
            </a:r>
            <a:endParaRPr lang="en-US" sz="2800" dirty="0"/>
          </a:p>
        </p:txBody>
      </p:sp>
      <p:sp>
        <p:nvSpPr>
          <p:cNvPr id="3" name="Alarm card"/>
          <p:cNvSpPr/>
          <p:nvPr/>
        </p:nvSpPr>
        <p:spPr>
          <a:xfrm>
            <a:off x="457200" y="1188720"/>
            <a:ext cx="1783080" cy="2423160"/>
          </a:xfrm>
          <a:prstGeom prst="roundRect">
            <a:avLst>
              <a:gd name="adj" fmla="val 5128"/>
            </a:avLst>
          </a:prstGeom>
          <a:solidFill>
            <a:schemeClr val="bg2"/>
          </a:solidFill>
          <a:ln/>
        </p:spPr>
      </p:sp>
      <p:sp>
        <p:nvSpPr>
          <p:cNvPr id="4" name="Alarm circle"/>
          <p:cNvSpPr/>
          <p:nvPr/>
        </p:nvSpPr>
        <p:spPr>
          <a:xfrm>
            <a:off x="685800" y="1417320"/>
            <a:ext cx="685800" cy="685800"/>
          </a:xfrm>
          <a:prstGeom prst="ellipse">
            <a:avLst/>
          </a:prstGeom>
          <a:solidFill>
            <a:schemeClr val="accent1"/>
          </a:solidFill>
          <a:ln/>
        </p:spPr>
      </p:sp>
      <p:pic>
        <p:nvPicPr>
          <p:cNvPr id="5" name="Alarm icon" descr="Alarm">    </p:cNvPr>
          <p:cNvPicPr>
            <a:picLocks noChangeAspect="1"/>
          </p:cNvPicPr>
          <p:nvPr/>
        </p:nvPicPr>
        <p:blipFill>
          <a:blip r:embed="rId1"/>
          <a:stretch>
            <a:fillRect/>
          </a:stretch>
        </p:blipFill>
        <p:spPr>
          <a:xfrm>
            <a:off x="857250" y="1588770"/>
            <a:ext cx="342900" cy="342900"/>
          </a:xfrm>
          <a:prstGeom prst="rect">
            <a:avLst/>
          </a:prstGeom>
        </p:spPr>
      </p:pic>
      <p:sp>
        <p:nvSpPr>
          <p:cNvPr id="6" name="Text 3"/>
          <p:cNvSpPr txBox="1"/>
          <p:nvPr/>
        </p:nvSpPr>
        <p:spPr>
          <a:xfrm>
            <a:off x="685800" y="2286000"/>
            <a:ext cx="1463040" cy="365760"/>
          </a:xfrm>
          <a:prstGeom prst="rect">
            <a:avLst/>
          </a:prstGeom>
          <a:noFill/>
          <a:ln/>
        </p:spPr>
        <p:txBody>
          <a:bodyPr wrap="square" lIns="0" tIns="0" rIns="0" bIns="0" rtlCol="0" anchor="t"/>
          <a:lstStyle/>
          <a:p>
            <a:pPr indent="0" marL="0">
              <a:buNone/>
            </a:pPr>
            <a:r>
              <a:rPr lang="en-US" sz="1800" b="1" dirty="0">
                <a:solidFill>
                  <a:schemeClr val="tx1"/>
                </a:solidFill>
              </a:rPr>
              <a:t>Alarm</a:t>
            </a:r>
            <a:endParaRPr lang="en-US" sz="1800" dirty="0"/>
          </a:p>
        </p:txBody>
      </p:sp>
      <p:sp>
        <p:nvSpPr>
          <p:cNvPr id="7" name="Text 4"/>
          <p:cNvSpPr txBox="1"/>
          <p:nvPr/>
        </p:nvSpPr>
        <p:spPr>
          <a:xfrm>
            <a:off x="685800" y="2697480"/>
            <a:ext cx="1417320" cy="868680"/>
          </a:xfrm>
          <a:prstGeom prst="rect">
            <a:avLst/>
          </a:prstGeom>
          <a:noFill/>
          <a:ln/>
        </p:spPr>
        <p:txBody>
          <a:bodyPr wrap="square" lIns="0" tIns="0" rIns="0" bIns="0" rtlCol="0" anchor="t"/>
          <a:lstStyle/>
          <a:p>
            <a:pPr indent="0" marL="0">
              <a:buNone/>
            </a:pPr>
            <a:r>
              <a:rPr lang="en-US" sz="1400" dirty="0">
                <a:solidFill>
                  <a:schemeClr val="accent6"/>
                </a:solidFill>
              </a:rPr>
              <a:t>Starts — or cancels — the emergency response.</a:t>
            </a:r>
            <a:endParaRPr lang="en-US" sz="1400" dirty="0"/>
          </a:p>
        </p:txBody>
      </p:sp>
      <p:sp>
        <p:nvSpPr>
          <p:cNvPr id="8" name="flow arrow 1"/>
          <p:cNvSpPr/>
          <p:nvPr/>
        </p:nvSpPr>
        <p:spPr>
          <a:xfrm>
            <a:off x="2322576" y="2240280"/>
            <a:ext cx="201168" cy="329184"/>
          </a:xfrm>
          <a:prstGeom prst="chevron">
            <a:avLst/>
          </a:prstGeom>
          <a:solidFill>
            <a:schemeClr val="accent1"/>
          </a:solidFill>
          <a:ln/>
        </p:spPr>
      </p:sp>
      <p:sp>
        <p:nvSpPr>
          <p:cNvPr id="9" name="Scenario card"/>
          <p:cNvSpPr/>
          <p:nvPr/>
        </p:nvSpPr>
        <p:spPr>
          <a:xfrm>
            <a:off x="2606040" y="1188720"/>
            <a:ext cx="1783080" cy="2423160"/>
          </a:xfrm>
          <a:prstGeom prst="roundRect">
            <a:avLst>
              <a:gd name="adj" fmla="val 5128"/>
            </a:avLst>
          </a:prstGeom>
          <a:solidFill>
            <a:schemeClr val="bg2"/>
          </a:solidFill>
          <a:ln/>
        </p:spPr>
      </p:sp>
      <p:sp>
        <p:nvSpPr>
          <p:cNvPr id="10" name="Scenario circle"/>
          <p:cNvSpPr/>
          <p:nvPr/>
        </p:nvSpPr>
        <p:spPr>
          <a:xfrm>
            <a:off x="2834640" y="1417320"/>
            <a:ext cx="685800" cy="685800"/>
          </a:xfrm>
          <a:prstGeom prst="ellipse">
            <a:avLst/>
          </a:prstGeom>
          <a:solidFill>
            <a:schemeClr val="tx2"/>
          </a:solidFill>
          <a:ln/>
        </p:spPr>
      </p:sp>
      <p:pic>
        <p:nvPicPr>
          <p:cNvPr id="11" name="Scenario icon" descr="Scenario">    </p:cNvPr>
          <p:cNvPicPr>
            <a:picLocks noChangeAspect="1"/>
          </p:cNvPicPr>
          <p:nvPr/>
        </p:nvPicPr>
        <p:blipFill>
          <a:blip r:embed="rId2"/>
          <a:stretch>
            <a:fillRect/>
          </a:stretch>
        </p:blipFill>
        <p:spPr>
          <a:xfrm>
            <a:off x="3006090" y="1588770"/>
            <a:ext cx="342900" cy="342900"/>
          </a:xfrm>
          <a:prstGeom prst="rect">
            <a:avLst/>
          </a:prstGeom>
        </p:spPr>
      </p:pic>
      <p:sp>
        <p:nvSpPr>
          <p:cNvPr id="12" name="Text 8"/>
          <p:cNvSpPr txBox="1"/>
          <p:nvPr/>
        </p:nvSpPr>
        <p:spPr>
          <a:xfrm>
            <a:off x="2834640" y="2286000"/>
            <a:ext cx="1463040" cy="365760"/>
          </a:xfrm>
          <a:prstGeom prst="rect">
            <a:avLst/>
          </a:prstGeom>
          <a:noFill/>
          <a:ln/>
        </p:spPr>
        <p:txBody>
          <a:bodyPr wrap="square" lIns="0" tIns="0" rIns="0" bIns="0" rtlCol="0" anchor="t"/>
          <a:lstStyle/>
          <a:p>
            <a:pPr indent="0" marL="0">
              <a:buNone/>
            </a:pPr>
            <a:r>
              <a:rPr lang="en-US" sz="1800" b="1" dirty="0">
                <a:solidFill>
                  <a:schemeClr val="tx1"/>
                </a:solidFill>
              </a:rPr>
              <a:t>Scenario</a:t>
            </a:r>
            <a:endParaRPr lang="en-US" sz="1800" dirty="0"/>
          </a:p>
        </p:txBody>
      </p:sp>
      <p:sp>
        <p:nvSpPr>
          <p:cNvPr id="13" name="Text 9"/>
          <p:cNvSpPr txBox="1"/>
          <p:nvPr/>
        </p:nvSpPr>
        <p:spPr>
          <a:xfrm>
            <a:off x="2834640" y="2697480"/>
            <a:ext cx="1417320" cy="868680"/>
          </a:xfrm>
          <a:prstGeom prst="rect">
            <a:avLst/>
          </a:prstGeom>
          <a:noFill/>
          <a:ln/>
        </p:spPr>
        <p:txBody>
          <a:bodyPr wrap="square" lIns="0" tIns="0" rIns="0" bIns="0" rtlCol="0" anchor="t"/>
          <a:lstStyle/>
          <a:p>
            <a:pPr indent="0" marL="0">
              <a:buNone/>
            </a:pPr>
            <a:r>
              <a:rPr lang="en-US" sz="1400" dirty="0">
                <a:solidFill>
                  <a:schemeClr val="accent6"/>
                </a:solidFill>
              </a:rPr>
              <a:t>Predefined response plan tied to that alarm.</a:t>
            </a:r>
            <a:endParaRPr lang="en-US" sz="1400" dirty="0"/>
          </a:p>
        </p:txBody>
      </p:sp>
      <p:sp>
        <p:nvSpPr>
          <p:cNvPr id="14" name="flow arrow 2"/>
          <p:cNvSpPr/>
          <p:nvPr/>
        </p:nvSpPr>
        <p:spPr>
          <a:xfrm>
            <a:off x="4471416" y="2240280"/>
            <a:ext cx="201168" cy="329184"/>
          </a:xfrm>
          <a:prstGeom prst="chevron">
            <a:avLst/>
          </a:prstGeom>
          <a:solidFill>
            <a:schemeClr val="accent1"/>
          </a:solidFill>
          <a:ln/>
        </p:spPr>
      </p:sp>
      <p:sp>
        <p:nvSpPr>
          <p:cNvPr id="15" name="Task Group card"/>
          <p:cNvSpPr/>
          <p:nvPr/>
        </p:nvSpPr>
        <p:spPr>
          <a:xfrm>
            <a:off x="4754880" y="1188720"/>
            <a:ext cx="1783080" cy="2423160"/>
          </a:xfrm>
          <a:prstGeom prst="roundRect">
            <a:avLst>
              <a:gd name="adj" fmla="val 5128"/>
            </a:avLst>
          </a:prstGeom>
          <a:solidFill>
            <a:schemeClr val="bg2"/>
          </a:solidFill>
          <a:ln/>
        </p:spPr>
      </p:sp>
      <p:sp>
        <p:nvSpPr>
          <p:cNvPr id="16" name="Task Group circle"/>
          <p:cNvSpPr/>
          <p:nvPr/>
        </p:nvSpPr>
        <p:spPr>
          <a:xfrm>
            <a:off x="4983480" y="1417320"/>
            <a:ext cx="685800" cy="685800"/>
          </a:xfrm>
          <a:prstGeom prst="ellipse">
            <a:avLst/>
          </a:prstGeom>
          <a:solidFill>
            <a:schemeClr val="tx2"/>
          </a:solidFill>
          <a:ln/>
        </p:spPr>
      </p:sp>
      <p:pic>
        <p:nvPicPr>
          <p:cNvPr id="17" name="Task Group icon" descr="Task Group">    </p:cNvPr>
          <p:cNvPicPr>
            <a:picLocks noChangeAspect="1"/>
          </p:cNvPicPr>
          <p:nvPr/>
        </p:nvPicPr>
        <p:blipFill>
          <a:blip r:embed="rId3"/>
          <a:stretch>
            <a:fillRect/>
          </a:stretch>
        </p:blipFill>
        <p:spPr>
          <a:xfrm>
            <a:off x="5154930" y="1588770"/>
            <a:ext cx="342900" cy="342900"/>
          </a:xfrm>
          <a:prstGeom prst="rect">
            <a:avLst/>
          </a:prstGeom>
        </p:spPr>
      </p:pic>
      <p:sp>
        <p:nvSpPr>
          <p:cNvPr id="18" name="Text 13"/>
          <p:cNvSpPr txBox="1"/>
          <p:nvPr/>
        </p:nvSpPr>
        <p:spPr>
          <a:xfrm>
            <a:off x="4983480" y="2286000"/>
            <a:ext cx="1463040" cy="365760"/>
          </a:xfrm>
          <a:prstGeom prst="rect">
            <a:avLst/>
          </a:prstGeom>
          <a:noFill/>
          <a:ln/>
        </p:spPr>
        <p:txBody>
          <a:bodyPr wrap="square" lIns="0" tIns="0" rIns="0" bIns="0" rtlCol="0" anchor="t"/>
          <a:lstStyle/>
          <a:p>
            <a:pPr indent="0" marL="0">
              <a:buNone/>
            </a:pPr>
            <a:r>
              <a:rPr lang="en-US" sz="1800" b="1" dirty="0">
                <a:solidFill>
                  <a:schemeClr val="tx1"/>
                </a:solidFill>
              </a:rPr>
              <a:t>Task Group</a:t>
            </a:r>
            <a:endParaRPr lang="en-US" sz="1800" dirty="0"/>
          </a:p>
        </p:txBody>
      </p:sp>
      <p:sp>
        <p:nvSpPr>
          <p:cNvPr id="19" name="Text 14"/>
          <p:cNvSpPr txBox="1"/>
          <p:nvPr/>
        </p:nvSpPr>
        <p:spPr>
          <a:xfrm>
            <a:off x="4983480" y="2697480"/>
            <a:ext cx="1417320" cy="868680"/>
          </a:xfrm>
          <a:prstGeom prst="rect">
            <a:avLst/>
          </a:prstGeom>
          <a:noFill/>
          <a:ln/>
        </p:spPr>
        <p:txBody>
          <a:bodyPr wrap="square" lIns="0" tIns="0" rIns="0" bIns="0" rtlCol="0" anchor="t"/>
          <a:lstStyle/>
          <a:p>
            <a:pPr indent="0" marL="0">
              <a:buNone/>
            </a:pPr>
            <a:r>
              <a:rPr lang="en-US" sz="1400" dirty="0">
                <a:solidFill>
                  <a:schemeClr val="accent6"/>
                </a:solidFill>
              </a:rPr>
              <a:t>A set of tasks to carry out at one location.</a:t>
            </a:r>
            <a:endParaRPr lang="en-US" sz="1400" dirty="0"/>
          </a:p>
        </p:txBody>
      </p:sp>
      <p:sp>
        <p:nvSpPr>
          <p:cNvPr id="20" name="flow arrow 3"/>
          <p:cNvSpPr/>
          <p:nvPr/>
        </p:nvSpPr>
        <p:spPr>
          <a:xfrm>
            <a:off x="6620256" y="2240280"/>
            <a:ext cx="201168" cy="329184"/>
          </a:xfrm>
          <a:prstGeom prst="chevron">
            <a:avLst/>
          </a:prstGeom>
          <a:solidFill>
            <a:schemeClr val="accent1"/>
          </a:solidFill>
          <a:ln/>
        </p:spPr>
      </p:sp>
      <p:sp>
        <p:nvSpPr>
          <p:cNvPr id="21" name="Person card"/>
          <p:cNvSpPr/>
          <p:nvPr/>
        </p:nvSpPr>
        <p:spPr>
          <a:xfrm>
            <a:off x="6903720" y="1188720"/>
            <a:ext cx="1783080" cy="2423160"/>
          </a:xfrm>
          <a:prstGeom prst="roundRect">
            <a:avLst>
              <a:gd name="adj" fmla="val 5128"/>
            </a:avLst>
          </a:prstGeom>
          <a:solidFill>
            <a:schemeClr val="bg2"/>
          </a:solidFill>
          <a:ln/>
        </p:spPr>
      </p:sp>
      <p:sp>
        <p:nvSpPr>
          <p:cNvPr id="22" name="Person circle"/>
          <p:cNvSpPr/>
          <p:nvPr/>
        </p:nvSpPr>
        <p:spPr>
          <a:xfrm>
            <a:off x="7132320" y="1417320"/>
            <a:ext cx="685800" cy="685800"/>
          </a:xfrm>
          <a:prstGeom prst="ellipse">
            <a:avLst/>
          </a:prstGeom>
          <a:solidFill>
            <a:schemeClr val="accent4"/>
          </a:solidFill>
          <a:ln/>
        </p:spPr>
      </p:sp>
      <p:pic>
        <p:nvPicPr>
          <p:cNvPr id="23" name="Person icon" descr="Person">    </p:cNvPr>
          <p:cNvPicPr>
            <a:picLocks noChangeAspect="1"/>
          </p:cNvPicPr>
          <p:nvPr/>
        </p:nvPicPr>
        <p:blipFill>
          <a:blip r:embed="rId4"/>
          <a:stretch>
            <a:fillRect/>
          </a:stretch>
        </p:blipFill>
        <p:spPr>
          <a:xfrm>
            <a:off x="7303770" y="1588770"/>
            <a:ext cx="342900" cy="342900"/>
          </a:xfrm>
          <a:prstGeom prst="rect">
            <a:avLst/>
          </a:prstGeom>
        </p:spPr>
      </p:pic>
      <p:sp>
        <p:nvSpPr>
          <p:cNvPr id="24" name="Text 18"/>
          <p:cNvSpPr txBox="1"/>
          <p:nvPr/>
        </p:nvSpPr>
        <p:spPr>
          <a:xfrm>
            <a:off x="7132320" y="2286000"/>
            <a:ext cx="1463040" cy="365760"/>
          </a:xfrm>
          <a:prstGeom prst="rect">
            <a:avLst/>
          </a:prstGeom>
          <a:noFill/>
          <a:ln/>
        </p:spPr>
        <p:txBody>
          <a:bodyPr wrap="square" lIns="0" tIns="0" rIns="0" bIns="0" rtlCol="0" anchor="t"/>
          <a:lstStyle/>
          <a:p>
            <a:pPr indent="0" marL="0">
              <a:buNone/>
            </a:pPr>
            <a:r>
              <a:rPr lang="en-US" sz="1800" b="1" dirty="0">
                <a:solidFill>
                  <a:schemeClr val="tx1"/>
                </a:solidFill>
              </a:rPr>
              <a:t>Person</a:t>
            </a:r>
            <a:endParaRPr lang="en-US" sz="1800" dirty="0"/>
          </a:p>
        </p:txBody>
      </p:sp>
      <p:sp>
        <p:nvSpPr>
          <p:cNvPr id="25" name="Text 19"/>
          <p:cNvSpPr txBox="1"/>
          <p:nvPr/>
        </p:nvSpPr>
        <p:spPr>
          <a:xfrm>
            <a:off x="7132320" y="2697480"/>
            <a:ext cx="1417320" cy="868680"/>
          </a:xfrm>
          <a:prstGeom prst="rect">
            <a:avLst/>
          </a:prstGeom>
          <a:noFill/>
          <a:ln/>
        </p:spPr>
        <p:txBody>
          <a:bodyPr wrap="square" lIns="0" tIns="0" rIns="0" bIns="0" rtlCol="0" anchor="t"/>
          <a:lstStyle/>
          <a:p>
            <a:pPr indent="0" marL="0">
              <a:buNone/>
            </a:pPr>
            <a:r>
              <a:rPr lang="en-US" sz="1400" dirty="0">
                <a:solidFill>
                  <a:schemeClr val="accent6"/>
                </a:solidFill>
              </a:rPr>
              <a:t>Gets exactly their tasks — where they need to act.</a:t>
            </a:r>
            <a:endParaRPr lang="en-US" sz="1400" dirty="0"/>
          </a:p>
        </p:txBody>
      </p:sp>
      <p:sp>
        <p:nvSpPr>
          <p:cNvPr id="26" name="key message"/>
          <p:cNvSpPr/>
          <p:nvPr/>
        </p:nvSpPr>
        <p:spPr>
          <a:xfrm>
            <a:off x="457200" y="3840480"/>
            <a:ext cx="8229600" cy="640080"/>
          </a:xfrm>
          <a:prstGeom prst="roundRect">
            <a:avLst>
              <a:gd name="adj" fmla="val 11429"/>
            </a:avLst>
          </a:prstGeom>
          <a:solidFill>
            <a:schemeClr val="accent1">
              <a:alpha val="10000"/>
            </a:schemeClr>
          </a:solidFill>
          <a:ln/>
        </p:spPr>
      </p:sp>
      <p:sp>
        <p:nvSpPr>
          <p:cNvPr id="27" name="Text 21"/>
          <p:cNvSpPr txBox="1"/>
          <p:nvPr/>
        </p:nvSpPr>
        <p:spPr>
          <a:xfrm>
            <a:off x="685800" y="3840480"/>
            <a:ext cx="7772400" cy="640080"/>
          </a:xfrm>
          <a:prstGeom prst="rect">
            <a:avLst/>
          </a:prstGeom>
          <a:noFill/>
          <a:ln/>
        </p:spPr>
        <p:txBody>
          <a:bodyPr wrap="square" lIns="0" tIns="0" rIns="0" bIns="0" rtlCol="0" anchor="ctr"/>
          <a:lstStyle/>
          <a:p>
            <a:pPr indent="0" marL="0">
              <a:buNone/>
            </a:pPr>
            <a:r>
              <a:rPr lang="en-US" sz="1600" b="1" dirty="0">
                <a:solidFill>
                  <a:schemeClr val="accent1"/>
                </a:solidFill>
              </a:rPr>
              <a:t>Result: </a:t>
            </a:r>
            <a:pPr indent="0" marL="0">
              <a:buNone/>
            </a:pPr>
            <a:r>
              <a:rPr lang="en-US" sz="1600" dirty="0">
                <a:solidFill>
                  <a:schemeClr val="tx1"/>
                </a:solidFill>
              </a:rPr>
              <a:t>every person gets their own tasks, at the place where they need to act.</a:t>
            </a:r>
            <a:endParaRPr lang="en-US" sz="1600" dirty="0"/>
          </a:p>
        </p:txBody>
      </p:sp>
      <p:sp>
        <p:nvSpPr>
          <p:cNvPr id="25" name="Slide Number Placeholder 0"/>
          <p:cNvSpPr>
            <a:spLocks noGrp="1"/>
          </p:cNvSpPr>
          <p:nvPr>
            <p:ph type="sldNum" sz="quarter" idx="4294967295"/>
          </p:nvPr>
        </p:nvSpPr>
        <p:spPr>
          <a:xfrm>
            <a:off x="8138160" y="472744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From Alarm to All-Clear in Five Steps</a:t>
            </a:r>
            <a:endParaRPr lang="en-US" sz="2800" dirty="0"/>
          </a:p>
        </p:txBody>
      </p:sp>
      <p:sp>
        <p:nvSpPr>
          <p:cNvPr id="3" name="timeline"/>
          <p:cNvSpPr/>
          <p:nvPr/>
        </p:nvSpPr>
        <p:spPr>
          <a:xfrm>
            <a:off x="1280160" y="1645920"/>
            <a:ext cx="6583680" cy="0"/>
          </a:xfrm>
          <a:prstGeom prst="line">
            <a:avLst/>
          </a:prstGeom>
          <a:noFill/>
          <a:ln w="25400">
            <a:solidFill>
              <a:srgbClr val="5B6575">
                <a:alpha val="40000"/>
              </a:srgbClr>
            </a:solidFill>
            <a:prstDash val="solid"/>
          </a:ln>
        </p:spPr>
      </p:sp>
      <p:sp>
        <p:nvSpPr>
          <p:cNvPr id="4" name="step 1"/>
          <p:cNvSpPr/>
          <p:nvPr/>
        </p:nvSpPr>
        <p:spPr>
          <a:xfrm>
            <a:off x="932688" y="1298448"/>
            <a:ext cx="694944" cy="694944"/>
          </a:xfrm>
          <a:prstGeom prst="ellipse">
            <a:avLst/>
          </a:prstGeom>
          <a:solidFill>
            <a:schemeClr val="accent1"/>
          </a:solidFill>
          <a:ln w="38100">
            <a:solidFill>
              <a:schemeClr val="bg1"/>
            </a:solidFill>
            <a:prstDash val="solid"/>
          </a:ln>
        </p:spPr>
      </p:sp>
      <p:sp>
        <p:nvSpPr>
          <p:cNvPr id="5" name="Text 3"/>
          <p:cNvSpPr txBox="1"/>
          <p:nvPr/>
        </p:nvSpPr>
        <p:spPr>
          <a:xfrm>
            <a:off x="932688" y="1298448"/>
            <a:ext cx="694944" cy="694944"/>
          </a:xfrm>
          <a:prstGeom prst="rect">
            <a:avLst/>
          </a:prstGeom>
          <a:noFill/>
          <a:ln/>
        </p:spPr>
        <p:txBody>
          <a:bodyPr wrap="square" lIns="0" tIns="0" rIns="0" bIns="0" rtlCol="0" anchor="ctr"/>
          <a:lstStyle/>
          <a:p>
            <a:pPr algn="ctr" indent="0" marL="0">
              <a:buNone/>
            </a:pPr>
            <a:r>
              <a:rPr lang="en-US" sz="2200" b="1" dirty="0">
                <a:solidFill>
                  <a:schemeClr val="bg1"/>
                </a:solidFill>
                <a:latin typeface="Arial" pitchFamily="34" charset="0"/>
                <a:ea typeface="Arial" pitchFamily="34" charset="-122"/>
                <a:cs typeface="Arial" pitchFamily="34" charset="-120"/>
              </a:rPr>
              <a:t>1</a:t>
            </a:r>
            <a:endParaRPr lang="en-US" sz="2200" dirty="0"/>
          </a:p>
        </p:txBody>
      </p:sp>
      <p:sp>
        <p:nvSpPr>
          <p:cNvPr id="6" name="Text 4"/>
          <p:cNvSpPr txBox="1"/>
          <p:nvPr/>
        </p:nvSpPr>
        <p:spPr>
          <a:xfrm>
            <a:off x="548640" y="2194560"/>
            <a:ext cx="1463040" cy="365760"/>
          </a:xfrm>
          <a:prstGeom prst="rect">
            <a:avLst/>
          </a:prstGeom>
          <a:noFill/>
          <a:ln/>
        </p:spPr>
        <p:txBody>
          <a:bodyPr wrap="square" lIns="0" tIns="0" rIns="0" bIns="0" rtlCol="0" anchor="t"/>
          <a:lstStyle/>
          <a:p>
            <a:pPr algn="ctr" indent="0" marL="0">
              <a:buNone/>
            </a:pPr>
            <a:r>
              <a:rPr lang="en-US" sz="1800" b="1" dirty="0">
                <a:solidFill>
                  <a:schemeClr val="tx1"/>
                </a:solidFill>
              </a:rPr>
              <a:t>Raise</a:t>
            </a:r>
            <a:endParaRPr lang="en-US" sz="1800" dirty="0"/>
          </a:p>
        </p:txBody>
      </p:sp>
      <p:sp>
        <p:nvSpPr>
          <p:cNvPr id="7" name="Text 5"/>
          <p:cNvSpPr txBox="1"/>
          <p:nvPr/>
        </p:nvSpPr>
        <p:spPr>
          <a:xfrm>
            <a:off x="548640" y="2606040"/>
            <a:ext cx="1463040" cy="1005840"/>
          </a:xfrm>
          <a:prstGeom prst="rect">
            <a:avLst/>
          </a:prstGeom>
          <a:noFill/>
          <a:ln/>
        </p:spPr>
        <p:txBody>
          <a:bodyPr wrap="square" lIns="0" tIns="0" rIns="0" bIns="0" rtlCol="0" anchor="t"/>
          <a:lstStyle/>
          <a:p>
            <a:pPr algn="ctr" indent="0" marL="0">
              <a:buNone/>
            </a:pPr>
            <a:r>
              <a:rPr lang="en-US" sz="1400" dirty="0">
                <a:solidFill>
                  <a:schemeClr val="accent6"/>
                </a:solidFill>
              </a:rPr>
              <a:t>An authorized person raises a signed alarm.</a:t>
            </a:r>
            <a:endParaRPr lang="en-US" sz="1400" dirty="0"/>
          </a:p>
        </p:txBody>
      </p:sp>
      <p:sp>
        <p:nvSpPr>
          <p:cNvPr id="8" name="step 2"/>
          <p:cNvSpPr/>
          <p:nvPr/>
        </p:nvSpPr>
        <p:spPr>
          <a:xfrm>
            <a:off x="2578608" y="1298448"/>
            <a:ext cx="694944" cy="694944"/>
          </a:xfrm>
          <a:prstGeom prst="ellipse">
            <a:avLst/>
          </a:prstGeom>
          <a:solidFill>
            <a:schemeClr val="accent1"/>
          </a:solidFill>
          <a:ln w="38100">
            <a:solidFill>
              <a:schemeClr val="bg1"/>
            </a:solidFill>
            <a:prstDash val="solid"/>
          </a:ln>
        </p:spPr>
      </p:sp>
      <p:sp>
        <p:nvSpPr>
          <p:cNvPr id="9" name="Text 7"/>
          <p:cNvSpPr txBox="1"/>
          <p:nvPr/>
        </p:nvSpPr>
        <p:spPr>
          <a:xfrm>
            <a:off x="2578608" y="1298448"/>
            <a:ext cx="694944" cy="694944"/>
          </a:xfrm>
          <a:prstGeom prst="rect">
            <a:avLst/>
          </a:prstGeom>
          <a:noFill/>
          <a:ln/>
        </p:spPr>
        <p:txBody>
          <a:bodyPr wrap="square" lIns="0" tIns="0" rIns="0" bIns="0" rtlCol="0" anchor="ctr"/>
          <a:lstStyle/>
          <a:p>
            <a:pPr algn="ctr" indent="0" marL="0">
              <a:buNone/>
            </a:pPr>
            <a:r>
              <a:rPr lang="en-US" sz="2200" b="1" dirty="0">
                <a:solidFill>
                  <a:schemeClr val="bg1"/>
                </a:solidFill>
                <a:latin typeface="Arial" pitchFamily="34" charset="0"/>
                <a:ea typeface="Arial" pitchFamily="34" charset="-122"/>
                <a:cs typeface="Arial" pitchFamily="34" charset="-120"/>
              </a:rPr>
              <a:t>2</a:t>
            </a:r>
            <a:endParaRPr lang="en-US" sz="2200" dirty="0"/>
          </a:p>
        </p:txBody>
      </p:sp>
      <p:sp>
        <p:nvSpPr>
          <p:cNvPr id="10" name="Text 8"/>
          <p:cNvSpPr txBox="1"/>
          <p:nvPr/>
        </p:nvSpPr>
        <p:spPr>
          <a:xfrm>
            <a:off x="2194560" y="2194560"/>
            <a:ext cx="1463040" cy="365760"/>
          </a:xfrm>
          <a:prstGeom prst="rect">
            <a:avLst/>
          </a:prstGeom>
          <a:noFill/>
          <a:ln/>
        </p:spPr>
        <p:txBody>
          <a:bodyPr wrap="square" lIns="0" tIns="0" rIns="0" bIns="0" rtlCol="0" anchor="t"/>
          <a:lstStyle/>
          <a:p>
            <a:pPr algn="ctr" indent="0" marL="0">
              <a:buNone/>
            </a:pPr>
            <a:r>
              <a:rPr lang="en-US" sz="1800" b="1" dirty="0">
                <a:solidFill>
                  <a:schemeClr val="tx1"/>
                </a:solidFill>
              </a:rPr>
              <a:t>Activate</a:t>
            </a:r>
            <a:endParaRPr lang="en-US" sz="1800" dirty="0"/>
          </a:p>
        </p:txBody>
      </p:sp>
      <p:sp>
        <p:nvSpPr>
          <p:cNvPr id="11" name="Text 9"/>
          <p:cNvSpPr txBox="1"/>
          <p:nvPr/>
        </p:nvSpPr>
        <p:spPr>
          <a:xfrm>
            <a:off x="2194560" y="2606040"/>
            <a:ext cx="1463040" cy="1005840"/>
          </a:xfrm>
          <a:prstGeom prst="rect">
            <a:avLst/>
          </a:prstGeom>
          <a:noFill/>
          <a:ln/>
        </p:spPr>
        <p:txBody>
          <a:bodyPr wrap="square" lIns="0" tIns="0" rIns="0" bIns="0" rtlCol="0" anchor="t"/>
          <a:lstStyle/>
          <a:p>
            <a:pPr algn="ctr" indent="0" marL="0">
              <a:buNone/>
            </a:pPr>
            <a:r>
              <a:rPr lang="en-US" sz="1400" dirty="0">
                <a:solidFill>
                  <a:schemeClr val="accent6"/>
                </a:solidFill>
              </a:rPr>
              <a:t>The alarm triggers its scenario on every device.</a:t>
            </a:r>
            <a:endParaRPr lang="en-US" sz="1400" dirty="0"/>
          </a:p>
        </p:txBody>
      </p:sp>
      <p:sp>
        <p:nvSpPr>
          <p:cNvPr id="12" name="step 3"/>
          <p:cNvSpPr/>
          <p:nvPr/>
        </p:nvSpPr>
        <p:spPr>
          <a:xfrm>
            <a:off x="4224528" y="1298448"/>
            <a:ext cx="694944" cy="694944"/>
          </a:xfrm>
          <a:prstGeom prst="ellipse">
            <a:avLst/>
          </a:prstGeom>
          <a:solidFill>
            <a:schemeClr val="accent1"/>
          </a:solidFill>
          <a:ln w="38100">
            <a:solidFill>
              <a:schemeClr val="bg1"/>
            </a:solidFill>
            <a:prstDash val="solid"/>
          </a:ln>
        </p:spPr>
      </p:sp>
      <p:sp>
        <p:nvSpPr>
          <p:cNvPr id="13" name="Text 11"/>
          <p:cNvSpPr txBox="1"/>
          <p:nvPr/>
        </p:nvSpPr>
        <p:spPr>
          <a:xfrm>
            <a:off x="4224528" y="1298448"/>
            <a:ext cx="694944" cy="694944"/>
          </a:xfrm>
          <a:prstGeom prst="rect">
            <a:avLst/>
          </a:prstGeom>
          <a:noFill/>
          <a:ln/>
        </p:spPr>
        <p:txBody>
          <a:bodyPr wrap="square" lIns="0" tIns="0" rIns="0" bIns="0" rtlCol="0" anchor="ctr"/>
          <a:lstStyle/>
          <a:p>
            <a:pPr algn="ctr" indent="0" marL="0">
              <a:buNone/>
            </a:pPr>
            <a:r>
              <a:rPr lang="en-US" sz="2200" b="1" dirty="0">
                <a:solidFill>
                  <a:schemeClr val="bg1"/>
                </a:solidFill>
                <a:latin typeface="Arial" pitchFamily="34" charset="0"/>
                <a:ea typeface="Arial" pitchFamily="34" charset="-122"/>
                <a:cs typeface="Arial" pitchFamily="34" charset="-120"/>
              </a:rPr>
              <a:t>3</a:t>
            </a:r>
            <a:endParaRPr lang="en-US" sz="2200" dirty="0"/>
          </a:p>
        </p:txBody>
      </p:sp>
      <p:sp>
        <p:nvSpPr>
          <p:cNvPr id="14" name="Text 12"/>
          <p:cNvSpPr txBox="1"/>
          <p:nvPr/>
        </p:nvSpPr>
        <p:spPr>
          <a:xfrm>
            <a:off x="3840480" y="2194560"/>
            <a:ext cx="1463040" cy="365760"/>
          </a:xfrm>
          <a:prstGeom prst="rect">
            <a:avLst/>
          </a:prstGeom>
          <a:noFill/>
          <a:ln/>
        </p:spPr>
        <p:txBody>
          <a:bodyPr wrap="square" lIns="0" tIns="0" rIns="0" bIns="0" rtlCol="0" anchor="t"/>
          <a:lstStyle/>
          <a:p>
            <a:pPr algn="ctr" indent="0" marL="0">
              <a:buNone/>
            </a:pPr>
            <a:r>
              <a:rPr lang="en-US" sz="1800" b="1" dirty="0">
                <a:solidFill>
                  <a:schemeClr val="tx1"/>
                </a:solidFill>
              </a:rPr>
              <a:t>Dispatch</a:t>
            </a:r>
            <a:endParaRPr lang="en-US" sz="1800" dirty="0"/>
          </a:p>
        </p:txBody>
      </p:sp>
      <p:sp>
        <p:nvSpPr>
          <p:cNvPr id="15" name="Text 13"/>
          <p:cNvSpPr txBox="1"/>
          <p:nvPr/>
        </p:nvSpPr>
        <p:spPr>
          <a:xfrm>
            <a:off x="3840480" y="2606040"/>
            <a:ext cx="1463040" cy="1005840"/>
          </a:xfrm>
          <a:prstGeom prst="rect">
            <a:avLst/>
          </a:prstGeom>
          <a:noFill/>
          <a:ln/>
        </p:spPr>
        <p:txBody>
          <a:bodyPr wrap="square" lIns="0" tIns="0" rIns="0" bIns="0" rtlCol="0" anchor="t"/>
          <a:lstStyle/>
          <a:p>
            <a:pPr algn="ctr" indent="0" marL="0">
              <a:buNone/>
            </a:pPr>
            <a:r>
              <a:rPr lang="en-US" sz="1400" dirty="0">
                <a:solidFill>
                  <a:schemeClr val="accent6"/>
                </a:solidFill>
              </a:rPr>
              <a:t>Task groups reach the right people and places.</a:t>
            </a:r>
            <a:endParaRPr lang="en-US" sz="1400" dirty="0"/>
          </a:p>
        </p:txBody>
      </p:sp>
      <p:sp>
        <p:nvSpPr>
          <p:cNvPr id="16" name="step 4"/>
          <p:cNvSpPr/>
          <p:nvPr/>
        </p:nvSpPr>
        <p:spPr>
          <a:xfrm>
            <a:off x="5870448" y="1298448"/>
            <a:ext cx="694944" cy="694944"/>
          </a:xfrm>
          <a:prstGeom prst="ellipse">
            <a:avLst/>
          </a:prstGeom>
          <a:solidFill>
            <a:schemeClr val="accent1"/>
          </a:solidFill>
          <a:ln w="38100">
            <a:solidFill>
              <a:schemeClr val="bg1"/>
            </a:solidFill>
            <a:prstDash val="solid"/>
          </a:ln>
        </p:spPr>
      </p:sp>
      <p:sp>
        <p:nvSpPr>
          <p:cNvPr id="17" name="Text 15"/>
          <p:cNvSpPr txBox="1"/>
          <p:nvPr/>
        </p:nvSpPr>
        <p:spPr>
          <a:xfrm>
            <a:off x="5870448" y="1298448"/>
            <a:ext cx="694944" cy="694944"/>
          </a:xfrm>
          <a:prstGeom prst="rect">
            <a:avLst/>
          </a:prstGeom>
          <a:noFill/>
          <a:ln/>
        </p:spPr>
        <p:txBody>
          <a:bodyPr wrap="square" lIns="0" tIns="0" rIns="0" bIns="0" rtlCol="0" anchor="ctr"/>
          <a:lstStyle/>
          <a:p>
            <a:pPr algn="ctr" indent="0" marL="0">
              <a:buNone/>
            </a:pPr>
            <a:r>
              <a:rPr lang="en-US" sz="2200" b="1" dirty="0">
                <a:solidFill>
                  <a:schemeClr val="bg1"/>
                </a:solidFill>
                <a:latin typeface="Arial" pitchFamily="34" charset="0"/>
                <a:ea typeface="Arial" pitchFamily="34" charset="-122"/>
                <a:cs typeface="Arial" pitchFamily="34" charset="-120"/>
              </a:rPr>
              <a:t>4</a:t>
            </a:r>
            <a:endParaRPr lang="en-US" sz="2200" dirty="0"/>
          </a:p>
        </p:txBody>
      </p:sp>
      <p:sp>
        <p:nvSpPr>
          <p:cNvPr id="18" name="Text 16"/>
          <p:cNvSpPr txBox="1"/>
          <p:nvPr/>
        </p:nvSpPr>
        <p:spPr>
          <a:xfrm>
            <a:off x="5486400" y="2194560"/>
            <a:ext cx="1463040" cy="365760"/>
          </a:xfrm>
          <a:prstGeom prst="rect">
            <a:avLst/>
          </a:prstGeom>
          <a:noFill/>
          <a:ln/>
        </p:spPr>
        <p:txBody>
          <a:bodyPr wrap="square" lIns="0" tIns="0" rIns="0" bIns="0" rtlCol="0" anchor="t"/>
          <a:lstStyle/>
          <a:p>
            <a:pPr algn="ctr" indent="0" marL="0">
              <a:buNone/>
            </a:pPr>
            <a:r>
              <a:rPr lang="en-US" sz="1800" b="1" dirty="0">
                <a:solidFill>
                  <a:schemeClr val="tx1"/>
                </a:solidFill>
              </a:rPr>
              <a:t>Report</a:t>
            </a:r>
            <a:endParaRPr lang="en-US" sz="1800" dirty="0"/>
          </a:p>
        </p:txBody>
      </p:sp>
      <p:sp>
        <p:nvSpPr>
          <p:cNvPr id="19" name="Text 17"/>
          <p:cNvSpPr txBox="1"/>
          <p:nvPr/>
        </p:nvSpPr>
        <p:spPr>
          <a:xfrm>
            <a:off x="5486400" y="2606040"/>
            <a:ext cx="1463040" cy="1005840"/>
          </a:xfrm>
          <a:prstGeom prst="rect">
            <a:avLst/>
          </a:prstGeom>
          <a:noFill/>
          <a:ln/>
        </p:spPr>
        <p:txBody>
          <a:bodyPr wrap="square" lIns="0" tIns="0" rIns="0" bIns="0" rtlCol="0" anchor="t"/>
          <a:lstStyle/>
          <a:p>
            <a:pPr algn="ctr" indent="0" marL="0">
              <a:buNone/>
            </a:pPr>
            <a:r>
              <a:rPr lang="en-US" sz="1400" dirty="0">
                <a:solidFill>
                  <a:schemeClr val="accent6"/>
                </a:solidFill>
              </a:rPr>
              <a:t>People confirm reception and tick off tasks.</a:t>
            </a:r>
            <a:endParaRPr lang="en-US" sz="1400" dirty="0"/>
          </a:p>
        </p:txBody>
      </p:sp>
      <p:sp>
        <p:nvSpPr>
          <p:cNvPr id="20" name="step 5"/>
          <p:cNvSpPr/>
          <p:nvPr/>
        </p:nvSpPr>
        <p:spPr>
          <a:xfrm>
            <a:off x="7516368" y="1298448"/>
            <a:ext cx="694944" cy="694944"/>
          </a:xfrm>
          <a:prstGeom prst="ellipse">
            <a:avLst/>
          </a:prstGeom>
          <a:solidFill>
            <a:schemeClr val="accent4"/>
          </a:solidFill>
          <a:ln w="38100">
            <a:solidFill>
              <a:schemeClr val="bg1"/>
            </a:solidFill>
            <a:prstDash val="solid"/>
          </a:ln>
        </p:spPr>
      </p:sp>
      <p:sp>
        <p:nvSpPr>
          <p:cNvPr id="21" name="Text 19"/>
          <p:cNvSpPr txBox="1"/>
          <p:nvPr/>
        </p:nvSpPr>
        <p:spPr>
          <a:xfrm>
            <a:off x="7516368" y="1298448"/>
            <a:ext cx="694944" cy="694944"/>
          </a:xfrm>
          <a:prstGeom prst="rect">
            <a:avLst/>
          </a:prstGeom>
          <a:noFill/>
          <a:ln/>
        </p:spPr>
        <p:txBody>
          <a:bodyPr wrap="square" lIns="0" tIns="0" rIns="0" bIns="0" rtlCol="0" anchor="ctr"/>
          <a:lstStyle/>
          <a:p>
            <a:pPr algn="ctr" indent="0" marL="0">
              <a:buNone/>
            </a:pPr>
            <a:r>
              <a:rPr lang="en-US" sz="2200" b="1" dirty="0">
                <a:solidFill>
                  <a:schemeClr val="bg1"/>
                </a:solidFill>
                <a:latin typeface="Arial" pitchFamily="34" charset="0"/>
                <a:ea typeface="Arial" pitchFamily="34" charset="-122"/>
                <a:cs typeface="Arial" pitchFamily="34" charset="-120"/>
              </a:rPr>
              <a:t>5</a:t>
            </a:r>
            <a:endParaRPr lang="en-US" sz="2200" dirty="0"/>
          </a:p>
        </p:txBody>
      </p:sp>
      <p:sp>
        <p:nvSpPr>
          <p:cNvPr id="22" name="Text 20"/>
          <p:cNvSpPr txBox="1"/>
          <p:nvPr/>
        </p:nvSpPr>
        <p:spPr>
          <a:xfrm>
            <a:off x="7132320" y="2194560"/>
            <a:ext cx="1463040" cy="365760"/>
          </a:xfrm>
          <a:prstGeom prst="rect">
            <a:avLst/>
          </a:prstGeom>
          <a:noFill/>
          <a:ln/>
        </p:spPr>
        <p:txBody>
          <a:bodyPr wrap="square" lIns="0" tIns="0" rIns="0" bIns="0" rtlCol="0" anchor="t"/>
          <a:lstStyle/>
          <a:p>
            <a:pPr algn="ctr" indent="0" marL="0">
              <a:buNone/>
            </a:pPr>
            <a:r>
              <a:rPr lang="en-US" sz="1800" b="1" dirty="0">
                <a:solidFill>
                  <a:schemeClr val="tx1"/>
                </a:solidFill>
              </a:rPr>
              <a:t>Cancel</a:t>
            </a:r>
            <a:endParaRPr lang="en-US" sz="1800" dirty="0"/>
          </a:p>
        </p:txBody>
      </p:sp>
      <p:sp>
        <p:nvSpPr>
          <p:cNvPr id="23" name="Text 21"/>
          <p:cNvSpPr txBox="1"/>
          <p:nvPr/>
        </p:nvSpPr>
        <p:spPr>
          <a:xfrm>
            <a:off x="7132320" y="2606040"/>
            <a:ext cx="1463040" cy="1005840"/>
          </a:xfrm>
          <a:prstGeom prst="rect">
            <a:avLst/>
          </a:prstGeom>
          <a:noFill/>
          <a:ln/>
        </p:spPr>
        <p:txBody>
          <a:bodyPr wrap="square" lIns="0" tIns="0" rIns="0" bIns="0" rtlCol="0" anchor="t"/>
          <a:lstStyle/>
          <a:p>
            <a:pPr algn="ctr" indent="0" marL="0">
              <a:buNone/>
            </a:pPr>
            <a:r>
              <a:rPr lang="en-US" sz="1400" dirty="0">
                <a:solidFill>
                  <a:schemeClr val="accent6"/>
                </a:solidFill>
              </a:rPr>
              <a:t>An authorized person ends the alarm.</a:t>
            </a:r>
            <a:endParaRPr lang="en-US" sz="1400" dirty="0"/>
          </a:p>
        </p:txBody>
      </p:sp>
      <p:sp>
        <p:nvSpPr>
          <p:cNvPr id="24" name="responder note"/>
          <p:cNvSpPr/>
          <p:nvPr/>
        </p:nvSpPr>
        <p:spPr>
          <a:xfrm>
            <a:off x="457200" y="3840480"/>
            <a:ext cx="8229600" cy="640080"/>
          </a:xfrm>
          <a:prstGeom prst="roundRect">
            <a:avLst>
              <a:gd name="adj" fmla="val 11429"/>
            </a:avLst>
          </a:prstGeom>
          <a:solidFill>
            <a:schemeClr val="bg2"/>
          </a:solidFill>
          <a:ln/>
        </p:spPr>
      </p:sp>
      <p:sp>
        <p:nvSpPr>
          <p:cNvPr id="25" name="responder circle"/>
          <p:cNvSpPr/>
          <p:nvPr/>
        </p:nvSpPr>
        <p:spPr>
          <a:xfrm>
            <a:off x="640080" y="3950208"/>
            <a:ext cx="420624" cy="420624"/>
          </a:xfrm>
          <a:prstGeom prst="ellipse">
            <a:avLst/>
          </a:prstGeom>
          <a:solidFill>
            <a:schemeClr val="tx2"/>
          </a:solidFill>
          <a:ln/>
        </p:spPr>
      </p:sp>
      <p:pic>
        <p:nvPicPr>
          <p:cNvPr id="26" name="responder icon" descr="responder">    </p:cNvPr>
          <p:cNvPicPr>
            <a:picLocks noChangeAspect="1"/>
          </p:cNvPicPr>
          <p:nvPr/>
        </p:nvPicPr>
        <p:blipFill>
          <a:blip r:embed="rId1"/>
          <a:stretch>
            <a:fillRect/>
          </a:stretch>
        </p:blipFill>
        <p:spPr>
          <a:xfrm>
            <a:off x="745236" y="4055364"/>
            <a:ext cx="210312" cy="210312"/>
          </a:xfrm>
          <a:prstGeom prst="rect">
            <a:avLst/>
          </a:prstGeom>
        </p:spPr>
      </p:pic>
      <p:sp>
        <p:nvSpPr>
          <p:cNvPr id="27" name="Text 24"/>
          <p:cNvSpPr txBox="1"/>
          <p:nvPr/>
        </p:nvSpPr>
        <p:spPr>
          <a:xfrm>
            <a:off x="1234440" y="3840480"/>
            <a:ext cx="7315200" cy="640080"/>
          </a:xfrm>
          <a:prstGeom prst="rect">
            <a:avLst/>
          </a:prstGeom>
          <a:noFill/>
          <a:ln/>
        </p:spPr>
        <p:txBody>
          <a:bodyPr wrap="square" lIns="0" tIns="0" rIns="0" bIns="0" rtlCol="0" anchor="ctr"/>
          <a:lstStyle/>
          <a:p>
            <a:pPr indent="0" marL="0">
              <a:buNone/>
            </a:pPr>
            <a:r>
              <a:rPr lang="en-US" sz="1600" dirty="0">
                <a:solidFill>
                  <a:schemeClr val="tx1"/>
                </a:solidFill>
              </a:rPr>
              <a:t>For the responder: no searching, no calling around — just the next task.</a:t>
            </a:r>
            <a:endParaRPr lang="en-US" sz="1600" dirty="0"/>
          </a:p>
        </p:txBody>
      </p:sp>
      <p:sp>
        <p:nvSpPr>
          <p:cNvPr id="25" name="Slide Number Placeholder 0"/>
          <p:cNvSpPr>
            <a:spLocks noGrp="1"/>
          </p:cNvSpPr>
          <p:nvPr>
            <p:ph type="sldNum" sz="quarter" idx="4294967295"/>
          </p:nvPr>
        </p:nvSpPr>
        <p:spPr>
          <a:xfrm>
            <a:off x="8138160" y="472744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Always Ready — Even Offline</a:t>
            </a:r>
            <a:endParaRPr lang="en-US" sz="2800" dirty="0"/>
          </a:p>
        </p:txBody>
      </p:sp>
      <p:sp>
        <p:nvSpPr>
          <p:cNvPr id="3" name="stat panel"/>
          <p:cNvSpPr/>
          <p:nvPr/>
        </p:nvSpPr>
        <p:spPr>
          <a:xfrm>
            <a:off x="457200" y="1188720"/>
            <a:ext cx="3108960" cy="3291840"/>
          </a:xfrm>
          <a:prstGeom prst="roundRect">
            <a:avLst>
              <a:gd name="adj" fmla="val 3529"/>
            </a:avLst>
          </a:prstGeom>
          <a:solidFill>
            <a:schemeClr val="tx2"/>
          </a:solidFill>
          <a:ln/>
        </p:spPr>
      </p:sp>
      <p:sp>
        <p:nvSpPr>
          <p:cNvPr id="4" name="Text 2"/>
          <p:cNvSpPr txBox="1"/>
          <p:nvPr/>
        </p:nvSpPr>
        <p:spPr>
          <a:xfrm>
            <a:off x="777240" y="1600200"/>
            <a:ext cx="2560320" cy="1280160"/>
          </a:xfrm>
          <a:prstGeom prst="rect">
            <a:avLst/>
          </a:prstGeom>
          <a:noFill/>
          <a:ln/>
        </p:spPr>
        <p:txBody>
          <a:bodyPr wrap="square" lIns="0" tIns="0" rIns="0" bIns="0" rtlCol="0" anchor="t"/>
          <a:lstStyle/>
          <a:p>
            <a:pPr indent="0" marL="0">
              <a:buNone/>
            </a:pPr>
            <a:r>
              <a:rPr lang="en-US" sz="9600" b="1" dirty="0">
                <a:solidFill>
                  <a:schemeClr val="accent1"/>
                </a:solidFill>
                <a:latin typeface="Arial" pitchFamily="34" charset="0"/>
                <a:ea typeface="Arial" pitchFamily="34" charset="-122"/>
                <a:cs typeface="Arial" pitchFamily="34" charset="-120"/>
              </a:rPr>
              <a:t>0</a:t>
            </a:r>
            <a:endParaRPr lang="en-US" sz="9600" dirty="0"/>
          </a:p>
        </p:txBody>
      </p:sp>
      <p:sp>
        <p:nvSpPr>
          <p:cNvPr id="5" name="Text 3"/>
          <p:cNvSpPr txBox="1"/>
          <p:nvPr/>
        </p:nvSpPr>
        <p:spPr>
          <a:xfrm>
            <a:off x="777240" y="2971800"/>
            <a:ext cx="2468880" cy="822960"/>
          </a:xfrm>
          <a:prstGeom prst="rect">
            <a:avLst/>
          </a:prstGeom>
          <a:noFill/>
          <a:ln/>
        </p:spPr>
        <p:txBody>
          <a:bodyPr wrap="square" lIns="0" tIns="0" rIns="0" bIns="0" rtlCol="0" anchor="t"/>
          <a:lstStyle/>
          <a:p>
            <a:pPr indent="0" marL="0">
              <a:buNone/>
            </a:pPr>
            <a:r>
              <a:rPr lang="en-US" sz="1700" b="1" dirty="0">
                <a:solidFill>
                  <a:schemeClr val="bg1"/>
                </a:solidFill>
              </a:rPr>
              <a:t>seconds spent searching for the right procedure</a:t>
            </a:r>
            <a:endParaRPr lang="en-US" sz="1700" dirty="0"/>
          </a:p>
        </p:txBody>
      </p:sp>
      <p:sp>
        <p:nvSpPr>
          <p:cNvPr id="6" name="Distributed in advance circle"/>
          <p:cNvSpPr/>
          <p:nvPr/>
        </p:nvSpPr>
        <p:spPr>
          <a:xfrm>
            <a:off x="3931920" y="1234440"/>
            <a:ext cx="548640" cy="548640"/>
          </a:xfrm>
          <a:prstGeom prst="ellipse">
            <a:avLst/>
          </a:prstGeom>
          <a:solidFill>
            <a:schemeClr val="accent1">
              <a:alpha val="12000"/>
            </a:schemeClr>
          </a:solidFill>
          <a:ln/>
        </p:spPr>
      </p:sp>
      <p:pic>
        <p:nvPicPr>
          <p:cNvPr id="7" name="Distributed in advance icon" descr="Distributed in advance">    </p:cNvPr>
          <p:cNvPicPr>
            <a:picLocks noChangeAspect="1"/>
          </p:cNvPicPr>
          <p:nvPr/>
        </p:nvPicPr>
        <p:blipFill>
          <a:blip r:embed="rId1"/>
          <a:stretch>
            <a:fillRect/>
          </a:stretch>
        </p:blipFill>
        <p:spPr>
          <a:xfrm>
            <a:off x="4069080" y="1371600"/>
            <a:ext cx="274320" cy="274320"/>
          </a:xfrm>
          <a:prstGeom prst="rect">
            <a:avLst/>
          </a:prstGeom>
        </p:spPr>
      </p:pic>
      <p:sp>
        <p:nvSpPr>
          <p:cNvPr id="8" name="Text 5"/>
          <p:cNvSpPr txBox="1"/>
          <p:nvPr/>
        </p:nvSpPr>
        <p:spPr>
          <a:xfrm>
            <a:off x="4663440" y="1216152"/>
            <a:ext cx="4023360" cy="320040"/>
          </a:xfrm>
          <a:prstGeom prst="rect">
            <a:avLst/>
          </a:prstGeom>
          <a:noFill/>
          <a:ln/>
        </p:spPr>
        <p:txBody>
          <a:bodyPr wrap="square" lIns="0" tIns="0" rIns="0" bIns="0" rtlCol="0" anchor="t"/>
          <a:lstStyle/>
          <a:p>
            <a:pPr indent="0" marL="0">
              <a:buNone/>
            </a:pPr>
            <a:r>
              <a:rPr lang="en-US" sz="1700" b="1" dirty="0">
                <a:solidFill>
                  <a:schemeClr val="tx1"/>
                </a:solidFill>
              </a:rPr>
              <a:t>Distributed in advance</a:t>
            </a:r>
            <a:endParaRPr lang="en-US" sz="1700" dirty="0"/>
          </a:p>
        </p:txBody>
      </p:sp>
      <p:sp>
        <p:nvSpPr>
          <p:cNvPr id="9" name="Text 6"/>
          <p:cNvSpPr txBox="1"/>
          <p:nvPr/>
        </p:nvSpPr>
        <p:spPr>
          <a:xfrm>
            <a:off x="4663440" y="1563624"/>
            <a:ext cx="4023360" cy="548640"/>
          </a:xfrm>
          <a:prstGeom prst="rect">
            <a:avLst/>
          </a:prstGeom>
          <a:noFill/>
          <a:ln/>
        </p:spPr>
        <p:txBody>
          <a:bodyPr wrap="square" lIns="0" tIns="0" rIns="0" bIns="0" rtlCol="0" anchor="t"/>
          <a:lstStyle/>
          <a:p>
            <a:pPr indent="0" marL="0">
              <a:buNone/>
            </a:pPr>
            <a:r>
              <a:rPr lang="en-US" sz="1400" dirty="0">
                <a:solidFill>
                  <a:schemeClr val="accent6"/>
                </a:solidFill>
              </a:rPr>
              <a:t>Scenarios and alarm keys are pushed to every device periodically.</a:t>
            </a:r>
            <a:endParaRPr lang="en-US" sz="1400" dirty="0"/>
          </a:p>
        </p:txBody>
      </p:sp>
      <p:sp>
        <p:nvSpPr>
          <p:cNvPr id="10" name="Stored on the device circle"/>
          <p:cNvSpPr/>
          <p:nvPr/>
        </p:nvSpPr>
        <p:spPr>
          <a:xfrm>
            <a:off x="3931920" y="2331720"/>
            <a:ext cx="548640" cy="548640"/>
          </a:xfrm>
          <a:prstGeom prst="ellipse">
            <a:avLst/>
          </a:prstGeom>
          <a:solidFill>
            <a:schemeClr val="accent1">
              <a:alpha val="12000"/>
            </a:schemeClr>
          </a:solidFill>
          <a:ln/>
        </p:spPr>
      </p:sp>
      <p:pic>
        <p:nvPicPr>
          <p:cNvPr id="11" name="Stored on the device icon" descr="Stored on the device">    </p:cNvPr>
          <p:cNvPicPr>
            <a:picLocks noChangeAspect="1"/>
          </p:cNvPicPr>
          <p:nvPr/>
        </p:nvPicPr>
        <p:blipFill>
          <a:blip r:embed="rId2"/>
          <a:stretch>
            <a:fillRect/>
          </a:stretch>
        </p:blipFill>
        <p:spPr>
          <a:xfrm>
            <a:off x="4069080" y="2468880"/>
            <a:ext cx="274320" cy="274320"/>
          </a:xfrm>
          <a:prstGeom prst="rect">
            <a:avLst/>
          </a:prstGeom>
        </p:spPr>
      </p:pic>
      <p:sp>
        <p:nvSpPr>
          <p:cNvPr id="12" name="Text 8"/>
          <p:cNvSpPr txBox="1"/>
          <p:nvPr/>
        </p:nvSpPr>
        <p:spPr>
          <a:xfrm>
            <a:off x="4663440" y="2313432"/>
            <a:ext cx="4023360" cy="320040"/>
          </a:xfrm>
          <a:prstGeom prst="rect">
            <a:avLst/>
          </a:prstGeom>
          <a:noFill/>
          <a:ln/>
        </p:spPr>
        <p:txBody>
          <a:bodyPr wrap="square" lIns="0" tIns="0" rIns="0" bIns="0" rtlCol="0" anchor="t"/>
          <a:lstStyle/>
          <a:p>
            <a:pPr indent="0" marL="0">
              <a:buNone/>
            </a:pPr>
            <a:r>
              <a:rPr lang="en-US" sz="1700" b="1" dirty="0">
                <a:solidFill>
                  <a:schemeClr val="tx1"/>
                </a:solidFill>
              </a:rPr>
              <a:t>Stored on the device</a:t>
            </a:r>
            <a:endParaRPr lang="en-US" sz="1700" dirty="0"/>
          </a:p>
        </p:txBody>
      </p:sp>
      <p:sp>
        <p:nvSpPr>
          <p:cNvPr id="13" name="Text 9"/>
          <p:cNvSpPr txBox="1"/>
          <p:nvPr/>
        </p:nvSpPr>
        <p:spPr>
          <a:xfrm>
            <a:off x="4663440" y="2660904"/>
            <a:ext cx="4023360" cy="548640"/>
          </a:xfrm>
          <a:prstGeom prst="rect">
            <a:avLst/>
          </a:prstGeom>
          <a:noFill/>
          <a:ln/>
        </p:spPr>
        <p:txBody>
          <a:bodyPr wrap="square" lIns="0" tIns="0" rIns="0" bIns="0" rtlCol="0" anchor="t"/>
          <a:lstStyle/>
          <a:p>
            <a:pPr indent="0" marL="0">
              <a:buNone/>
            </a:pPr>
            <a:r>
              <a:rPr lang="en-US" sz="1400" dirty="0">
                <a:solidFill>
                  <a:schemeClr val="accent6"/>
                </a:solidFill>
              </a:rPr>
              <a:t>Each phone keeps its scenarios offline — ready without a server.</a:t>
            </a:r>
            <a:endParaRPr lang="en-US" sz="1400" dirty="0"/>
          </a:p>
        </p:txBody>
      </p:sp>
      <p:sp>
        <p:nvSpPr>
          <p:cNvPr id="14" name="Instant on alarm circle"/>
          <p:cNvSpPr/>
          <p:nvPr/>
        </p:nvSpPr>
        <p:spPr>
          <a:xfrm>
            <a:off x="3931920" y="3429000"/>
            <a:ext cx="548640" cy="548640"/>
          </a:xfrm>
          <a:prstGeom prst="ellipse">
            <a:avLst/>
          </a:prstGeom>
          <a:solidFill>
            <a:schemeClr val="accent1">
              <a:alpha val="12000"/>
            </a:schemeClr>
          </a:solidFill>
          <a:ln/>
        </p:spPr>
      </p:sp>
      <p:pic>
        <p:nvPicPr>
          <p:cNvPr id="15" name="Instant on alarm icon" descr="Instant on alarm">    </p:cNvPr>
          <p:cNvPicPr>
            <a:picLocks noChangeAspect="1"/>
          </p:cNvPicPr>
          <p:nvPr/>
        </p:nvPicPr>
        <p:blipFill>
          <a:blip r:embed="rId3"/>
          <a:stretch>
            <a:fillRect/>
          </a:stretch>
        </p:blipFill>
        <p:spPr>
          <a:xfrm>
            <a:off x="4069080" y="3566160"/>
            <a:ext cx="274320" cy="274320"/>
          </a:xfrm>
          <a:prstGeom prst="rect">
            <a:avLst/>
          </a:prstGeom>
        </p:spPr>
      </p:pic>
      <p:sp>
        <p:nvSpPr>
          <p:cNvPr id="16" name="Text 11"/>
          <p:cNvSpPr txBox="1"/>
          <p:nvPr/>
        </p:nvSpPr>
        <p:spPr>
          <a:xfrm>
            <a:off x="4663440" y="3410712"/>
            <a:ext cx="4023360" cy="320040"/>
          </a:xfrm>
          <a:prstGeom prst="rect">
            <a:avLst/>
          </a:prstGeom>
          <a:noFill/>
          <a:ln/>
        </p:spPr>
        <p:txBody>
          <a:bodyPr wrap="square" lIns="0" tIns="0" rIns="0" bIns="0" rtlCol="0" anchor="t"/>
          <a:lstStyle/>
          <a:p>
            <a:pPr indent="0" marL="0">
              <a:buNone/>
            </a:pPr>
            <a:r>
              <a:rPr lang="en-US" sz="1700" b="1" dirty="0">
                <a:solidFill>
                  <a:schemeClr val="tx1"/>
                </a:solidFill>
              </a:rPr>
              <a:t>Instant on alarm</a:t>
            </a:r>
            <a:endParaRPr lang="en-US" sz="1700" dirty="0"/>
          </a:p>
        </p:txBody>
      </p:sp>
      <p:sp>
        <p:nvSpPr>
          <p:cNvPr id="17" name="Text 12"/>
          <p:cNvSpPr txBox="1"/>
          <p:nvPr/>
        </p:nvSpPr>
        <p:spPr>
          <a:xfrm>
            <a:off x="4663440" y="3758184"/>
            <a:ext cx="4023360" cy="548640"/>
          </a:xfrm>
          <a:prstGeom prst="rect">
            <a:avLst/>
          </a:prstGeom>
          <a:noFill/>
          <a:ln/>
        </p:spPr>
        <p:txBody>
          <a:bodyPr wrap="square" lIns="0" tIns="0" rIns="0" bIns="0" rtlCol="0" anchor="t"/>
          <a:lstStyle/>
          <a:p>
            <a:pPr indent="0" marL="0">
              <a:buNone/>
            </a:pPr>
            <a:r>
              <a:rPr lang="en-US" sz="1400" dirty="0">
                <a:solidFill>
                  <a:schemeClr val="accent6"/>
                </a:solidFill>
              </a:rPr>
              <a:t>Users never hunt for procedures when an emergency starts.</a:t>
            </a:r>
            <a:endParaRPr lang="en-US" sz="1400" dirty="0"/>
          </a:p>
        </p:txBody>
      </p:sp>
      <p:sp>
        <p:nvSpPr>
          <p:cNvPr id="25" name="Slide Number Placeholder 0"/>
          <p:cNvSpPr>
            <a:spLocks noGrp="1"/>
          </p:cNvSpPr>
          <p:nvPr>
            <p:ph type="sldNum" sz="quarter" idx="4294967295"/>
          </p:nvPr>
        </p:nvSpPr>
        <p:spPr>
          <a:xfrm>
            <a:off x="8138160" y="472744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Communication-Independent</a:t>
            </a:r>
            <a:endParaRPr lang="en-US" sz="2800" dirty="0"/>
          </a:p>
        </p:txBody>
      </p:sp>
      <p:sp>
        <p:nvSpPr>
          <p:cNvPr id="3" name="Text 1"/>
          <p:cNvSpPr txBox="1"/>
          <p:nvPr/>
        </p:nvSpPr>
        <p:spPr>
          <a:xfrm>
            <a:off x="457200" y="1188720"/>
            <a:ext cx="3840480" cy="640080"/>
          </a:xfrm>
          <a:prstGeom prst="rect">
            <a:avLst/>
          </a:prstGeom>
          <a:noFill/>
          <a:ln/>
        </p:spPr>
        <p:txBody>
          <a:bodyPr wrap="square" lIns="0" tIns="0" rIns="0" bIns="0" rtlCol="0" anchor="t"/>
          <a:lstStyle/>
          <a:p>
            <a:pPr indent="0" marL="0">
              <a:buNone/>
            </a:pPr>
            <a:r>
              <a:rPr lang="en-US" sz="1700" b="1" dirty="0">
                <a:solidFill>
                  <a:schemeClr val="tx1"/>
                </a:solidFill>
              </a:rPr>
              <a:t>The alarm does not depend on a single communication medium.</a:t>
            </a:r>
            <a:endParaRPr lang="en-US" sz="1700" dirty="0"/>
          </a:p>
        </p:txBody>
      </p:sp>
      <p:sp>
        <p:nvSpPr>
          <p:cNvPr id="4" name="Text 2"/>
          <p:cNvSpPr txBox="1"/>
          <p:nvPr/>
        </p:nvSpPr>
        <p:spPr>
          <a:xfrm>
            <a:off x="457200" y="1874520"/>
            <a:ext cx="3840480" cy="822960"/>
          </a:xfrm>
          <a:prstGeom prst="rect">
            <a:avLst/>
          </a:prstGeom>
          <a:noFill/>
          <a:ln/>
        </p:spPr>
        <p:txBody>
          <a:bodyPr wrap="square" lIns="0" tIns="0" rIns="0" bIns="0" rtlCol="0" anchor="t"/>
          <a:lstStyle/>
          <a:p>
            <a:pPr indent="0" marL="0">
              <a:buNone/>
            </a:pPr>
            <a:r>
              <a:rPr lang="en-US" sz="1400" dirty="0">
                <a:solidFill>
                  <a:schemeClr val="accent6"/>
                </a:solidFill>
              </a:rPr>
              <a:t>Every device that receives a valid alarm forwards it to others in reach. The medium can change from hop to hop.</a:t>
            </a:r>
            <a:endParaRPr lang="en-US" sz="1400" dirty="0"/>
          </a:p>
        </p:txBody>
      </p:sp>
      <p:sp>
        <p:nvSpPr>
          <p:cNvPr id="5" name="Radio chip"/>
          <p:cNvSpPr/>
          <p:nvPr/>
        </p:nvSpPr>
        <p:spPr>
          <a:xfrm>
            <a:off x="457200" y="2880360"/>
            <a:ext cx="1188720" cy="384048"/>
          </a:xfrm>
          <a:prstGeom prst="roundRect">
            <a:avLst>
              <a:gd name="adj" fmla="val 50000"/>
            </a:avLst>
          </a:prstGeom>
          <a:solidFill>
            <a:schemeClr val="bg2"/>
          </a:solidFill>
          <a:ln/>
        </p:spPr>
      </p:sp>
      <p:pic>
        <p:nvPicPr>
          <p:cNvPr id="6" name="Radio icon" descr="Radio">    </p:cNvPr>
          <p:cNvPicPr>
            <a:picLocks noChangeAspect="1"/>
          </p:cNvPicPr>
          <p:nvPr/>
        </p:nvPicPr>
        <p:blipFill>
          <a:blip r:embed="rId1"/>
          <a:stretch>
            <a:fillRect/>
          </a:stretch>
        </p:blipFill>
        <p:spPr>
          <a:xfrm>
            <a:off x="576072" y="2971800"/>
            <a:ext cx="201168" cy="201168"/>
          </a:xfrm>
          <a:prstGeom prst="rect">
            <a:avLst/>
          </a:prstGeom>
        </p:spPr>
      </p:pic>
      <p:sp>
        <p:nvSpPr>
          <p:cNvPr id="7" name="Text 4"/>
          <p:cNvSpPr txBox="1"/>
          <p:nvPr/>
        </p:nvSpPr>
        <p:spPr>
          <a:xfrm>
            <a:off x="841248" y="2880360"/>
            <a:ext cx="777240" cy="384048"/>
          </a:xfrm>
          <a:prstGeom prst="rect">
            <a:avLst/>
          </a:prstGeom>
          <a:noFill/>
          <a:ln/>
        </p:spPr>
        <p:txBody>
          <a:bodyPr wrap="square" lIns="0" tIns="0" rIns="0" bIns="0" rtlCol="0" anchor="ctr"/>
          <a:lstStyle/>
          <a:p>
            <a:pPr indent="0" marL="0">
              <a:buNone/>
            </a:pPr>
            <a:r>
              <a:rPr lang="en-US" sz="1200" dirty="0">
                <a:solidFill>
                  <a:schemeClr val="tx1"/>
                </a:solidFill>
              </a:rPr>
              <a:t>Radio</a:t>
            </a:r>
            <a:endParaRPr lang="en-US" sz="1200" dirty="0"/>
          </a:p>
        </p:txBody>
      </p:sp>
      <p:sp>
        <p:nvSpPr>
          <p:cNvPr id="8" name="Bluetooth chip"/>
          <p:cNvSpPr/>
          <p:nvPr/>
        </p:nvSpPr>
        <p:spPr>
          <a:xfrm>
            <a:off x="1755648" y="2880360"/>
            <a:ext cx="1188720" cy="384048"/>
          </a:xfrm>
          <a:prstGeom prst="roundRect">
            <a:avLst>
              <a:gd name="adj" fmla="val 50000"/>
            </a:avLst>
          </a:prstGeom>
          <a:solidFill>
            <a:schemeClr val="bg2"/>
          </a:solidFill>
          <a:ln/>
        </p:spPr>
      </p:sp>
      <p:pic>
        <p:nvPicPr>
          <p:cNvPr id="9" name="Bluetooth icon" descr="Bluetooth">    </p:cNvPr>
          <p:cNvPicPr>
            <a:picLocks noChangeAspect="1"/>
          </p:cNvPicPr>
          <p:nvPr/>
        </p:nvPicPr>
        <p:blipFill>
          <a:blip r:embed="rId2"/>
          <a:stretch>
            <a:fillRect/>
          </a:stretch>
        </p:blipFill>
        <p:spPr>
          <a:xfrm>
            <a:off x="1874520" y="2971800"/>
            <a:ext cx="201168" cy="201168"/>
          </a:xfrm>
          <a:prstGeom prst="rect">
            <a:avLst/>
          </a:prstGeom>
        </p:spPr>
      </p:pic>
      <p:sp>
        <p:nvSpPr>
          <p:cNvPr id="10" name="Text 6"/>
          <p:cNvSpPr txBox="1"/>
          <p:nvPr/>
        </p:nvSpPr>
        <p:spPr>
          <a:xfrm>
            <a:off x="2139696" y="2880360"/>
            <a:ext cx="777240" cy="384048"/>
          </a:xfrm>
          <a:prstGeom prst="rect">
            <a:avLst/>
          </a:prstGeom>
          <a:noFill/>
          <a:ln/>
        </p:spPr>
        <p:txBody>
          <a:bodyPr wrap="square" lIns="0" tIns="0" rIns="0" bIns="0" rtlCol="0" anchor="ctr"/>
          <a:lstStyle/>
          <a:p>
            <a:pPr indent="0" marL="0">
              <a:buNone/>
            </a:pPr>
            <a:r>
              <a:rPr lang="en-US" sz="1200" dirty="0">
                <a:solidFill>
                  <a:schemeClr val="tx1"/>
                </a:solidFill>
              </a:rPr>
              <a:t>Bluetooth</a:t>
            </a:r>
            <a:endParaRPr lang="en-US" sz="1200" dirty="0"/>
          </a:p>
        </p:txBody>
      </p:sp>
      <p:sp>
        <p:nvSpPr>
          <p:cNvPr id="11" name="Pager chip"/>
          <p:cNvSpPr/>
          <p:nvPr/>
        </p:nvSpPr>
        <p:spPr>
          <a:xfrm>
            <a:off x="3054096" y="2880360"/>
            <a:ext cx="1188720" cy="384048"/>
          </a:xfrm>
          <a:prstGeom prst="roundRect">
            <a:avLst>
              <a:gd name="adj" fmla="val 50000"/>
            </a:avLst>
          </a:prstGeom>
          <a:solidFill>
            <a:schemeClr val="bg2"/>
          </a:solidFill>
          <a:ln/>
        </p:spPr>
      </p:sp>
      <p:pic>
        <p:nvPicPr>
          <p:cNvPr id="12" name="Pager icon" descr="Pager">    </p:cNvPr>
          <p:cNvPicPr>
            <a:picLocks noChangeAspect="1"/>
          </p:cNvPicPr>
          <p:nvPr/>
        </p:nvPicPr>
        <p:blipFill>
          <a:blip r:embed="rId3"/>
          <a:stretch>
            <a:fillRect/>
          </a:stretch>
        </p:blipFill>
        <p:spPr>
          <a:xfrm>
            <a:off x="3172968" y="2971800"/>
            <a:ext cx="201168" cy="201168"/>
          </a:xfrm>
          <a:prstGeom prst="rect">
            <a:avLst/>
          </a:prstGeom>
        </p:spPr>
      </p:pic>
      <p:sp>
        <p:nvSpPr>
          <p:cNvPr id="13" name="Text 8"/>
          <p:cNvSpPr txBox="1"/>
          <p:nvPr/>
        </p:nvSpPr>
        <p:spPr>
          <a:xfrm>
            <a:off x="3438144" y="2880360"/>
            <a:ext cx="777240" cy="384048"/>
          </a:xfrm>
          <a:prstGeom prst="rect">
            <a:avLst/>
          </a:prstGeom>
          <a:noFill/>
          <a:ln/>
        </p:spPr>
        <p:txBody>
          <a:bodyPr wrap="square" lIns="0" tIns="0" rIns="0" bIns="0" rtlCol="0" anchor="ctr"/>
          <a:lstStyle/>
          <a:p>
            <a:pPr indent="0" marL="0">
              <a:buNone/>
            </a:pPr>
            <a:r>
              <a:rPr lang="en-US" sz="1200" dirty="0">
                <a:solidFill>
                  <a:schemeClr val="tx1"/>
                </a:solidFill>
              </a:rPr>
              <a:t>Pager</a:t>
            </a:r>
            <a:endParaRPr lang="en-US" sz="1200" dirty="0"/>
          </a:p>
        </p:txBody>
      </p:sp>
      <p:sp>
        <p:nvSpPr>
          <p:cNvPr id="14" name="Mesh chip"/>
          <p:cNvSpPr/>
          <p:nvPr/>
        </p:nvSpPr>
        <p:spPr>
          <a:xfrm>
            <a:off x="457200" y="3383280"/>
            <a:ext cx="1188720" cy="384048"/>
          </a:xfrm>
          <a:prstGeom prst="roundRect">
            <a:avLst>
              <a:gd name="adj" fmla="val 50000"/>
            </a:avLst>
          </a:prstGeom>
          <a:solidFill>
            <a:schemeClr val="bg2"/>
          </a:solidFill>
          <a:ln/>
        </p:spPr>
      </p:sp>
      <p:pic>
        <p:nvPicPr>
          <p:cNvPr id="15" name="Mesh icon" descr="Mesh">    </p:cNvPr>
          <p:cNvPicPr>
            <a:picLocks noChangeAspect="1"/>
          </p:cNvPicPr>
          <p:nvPr/>
        </p:nvPicPr>
        <p:blipFill>
          <a:blip r:embed="rId4"/>
          <a:stretch>
            <a:fillRect/>
          </a:stretch>
        </p:blipFill>
        <p:spPr>
          <a:xfrm>
            <a:off x="576072" y="3474720"/>
            <a:ext cx="201168" cy="201168"/>
          </a:xfrm>
          <a:prstGeom prst="rect">
            <a:avLst/>
          </a:prstGeom>
        </p:spPr>
      </p:pic>
      <p:sp>
        <p:nvSpPr>
          <p:cNvPr id="16" name="Text 10"/>
          <p:cNvSpPr txBox="1"/>
          <p:nvPr/>
        </p:nvSpPr>
        <p:spPr>
          <a:xfrm>
            <a:off x="841248" y="3383280"/>
            <a:ext cx="777240" cy="384048"/>
          </a:xfrm>
          <a:prstGeom prst="rect">
            <a:avLst/>
          </a:prstGeom>
          <a:noFill/>
          <a:ln/>
        </p:spPr>
        <p:txBody>
          <a:bodyPr wrap="square" lIns="0" tIns="0" rIns="0" bIns="0" rtlCol="0" anchor="ctr"/>
          <a:lstStyle/>
          <a:p>
            <a:pPr indent="0" marL="0">
              <a:buNone/>
            </a:pPr>
            <a:r>
              <a:rPr lang="en-US" sz="1200" dirty="0">
                <a:solidFill>
                  <a:schemeClr val="tx1"/>
                </a:solidFill>
              </a:rPr>
              <a:t>Mesh</a:t>
            </a:r>
            <a:endParaRPr lang="en-US" sz="1200" dirty="0"/>
          </a:p>
        </p:txBody>
      </p:sp>
      <p:sp>
        <p:nvSpPr>
          <p:cNvPr id="17" name="Internet chip"/>
          <p:cNvSpPr/>
          <p:nvPr/>
        </p:nvSpPr>
        <p:spPr>
          <a:xfrm>
            <a:off x="1755648" y="3383280"/>
            <a:ext cx="1188720" cy="384048"/>
          </a:xfrm>
          <a:prstGeom prst="roundRect">
            <a:avLst>
              <a:gd name="adj" fmla="val 50000"/>
            </a:avLst>
          </a:prstGeom>
          <a:solidFill>
            <a:schemeClr val="bg2"/>
          </a:solidFill>
          <a:ln/>
        </p:spPr>
      </p:sp>
      <p:pic>
        <p:nvPicPr>
          <p:cNvPr id="18" name="Internet icon" descr="Internet">    </p:cNvPr>
          <p:cNvPicPr>
            <a:picLocks noChangeAspect="1"/>
          </p:cNvPicPr>
          <p:nvPr/>
        </p:nvPicPr>
        <p:blipFill>
          <a:blip r:embed="rId5"/>
          <a:stretch>
            <a:fillRect/>
          </a:stretch>
        </p:blipFill>
        <p:spPr>
          <a:xfrm>
            <a:off x="1874520" y="3474720"/>
            <a:ext cx="201168" cy="201168"/>
          </a:xfrm>
          <a:prstGeom prst="rect">
            <a:avLst/>
          </a:prstGeom>
        </p:spPr>
      </p:pic>
      <p:sp>
        <p:nvSpPr>
          <p:cNvPr id="19" name="Text 12"/>
          <p:cNvSpPr txBox="1"/>
          <p:nvPr/>
        </p:nvSpPr>
        <p:spPr>
          <a:xfrm>
            <a:off x="2139696" y="3383280"/>
            <a:ext cx="777240" cy="384048"/>
          </a:xfrm>
          <a:prstGeom prst="rect">
            <a:avLst/>
          </a:prstGeom>
          <a:noFill/>
          <a:ln/>
        </p:spPr>
        <p:txBody>
          <a:bodyPr wrap="square" lIns="0" tIns="0" rIns="0" bIns="0" rtlCol="0" anchor="ctr"/>
          <a:lstStyle/>
          <a:p>
            <a:pPr indent="0" marL="0">
              <a:buNone/>
            </a:pPr>
            <a:r>
              <a:rPr lang="en-US" sz="1200" dirty="0">
                <a:solidFill>
                  <a:schemeClr val="tx1"/>
                </a:solidFill>
              </a:rPr>
              <a:t>Internet</a:t>
            </a:r>
            <a:endParaRPr lang="en-US" sz="1200" dirty="0"/>
          </a:p>
        </p:txBody>
      </p:sp>
      <p:sp>
        <p:nvSpPr>
          <p:cNvPr id="20" name="Text 13"/>
          <p:cNvSpPr txBox="1"/>
          <p:nvPr/>
        </p:nvSpPr>
        <p:spPr>
          <a:xfrm>
            <a:off x="457200" y="4023360"/>
            <a:ext cx="3840480" cy="457200"/>
          </a:xfrm>
          <a:prstGeom prst="rect">
            <a:avLst/>
          </a:prstGeom>
          <a:noFill/>
          <a:ln/>
        </p:spPr>
        <p:txBody>
          <a:bodyPr wrap="square" lIns="0" tIns="0" rIns="0" bIns="0" rtlCol="0" anchor="t"/>
          <a:lstStyle/>
          <a:p>
            <a:pPr indent="0" marL="0">
              <a:buNone/>
            </a:pPr>
            <a:r>
              <a:rPr lang="en-US" sz="1400" b="1" i="1" dirty="0">
                <a:solidFill>
                  <a:schemeClr val="accent1"/>
                </a:solidFill>
              </a:rPr>
              <a:t>Alarms can reach people before the server does — or without it.</a:t>
            </a:r>
            <a:endParaRPr lang="en-US" sz="1400" dirty="0"/>
          </a:p>
        </p:txBody>
      </p:sp>
      <p:sp>
        <p:nvSpPr>
          <p:cNvPr id="21" name="mesh panel"/>
          <p:cNvSpPr/>
          <p:nvPr/>
        </p:nvSpPr>
        <p:spPr>
          <a:xfrm>
            <a:off x="4663440" y="1188720"/>
            <a:ext cx="4023360" cy="3291840"/>
          </a:xfrm>
          <a:prstGeom prst="roundRect">
            <a:avLst>
              <a:gd name="adj" fmla="val 3333"/>
            </a:avLst>
          </a:prstGeom>
          <a:solidFill>
            <a:schemeClr val="bg2"/>
          </a:solidFill>
          <a:ln/>
        </p:spPr>
      </p:sp>
      <p:sp>
        <p:nvSpPr>
          <p:cNvPr id="22" name="link 1"/>
          <p:cNvSpPr/>
          <p:nvPr/>
        </p:nvSpPr>
        <p:spPr>
          <a:xfrm flipV="1">
            <a:off x="5349240" y="1645920"/>
            <a:ext cx="1371600" cy="228600"/>
          </a:xfrm>
          <a:prstGeom prst="line">
            <a:avLst/>
          </a:prstGeom>
          <a:noFill/>
          <a:ln w="22225">
            <a:solidFill>
              <a:srgbClr val="0F1724"/>
            </a:solidFill>
            <a:prstDash val="solid"/>
          </a:ln>
        </p:spPr>
      </p:sp>
      <p:sp>
        <p:nvSpPr>
          <p:cNvPr id="23" name="Text 16"/>
          <p:cNvSpPr txBox="1"/>
          <p:nvPr/>
        </p:nvSpPr>
        <p:spPr>
          <a:xfrm>
            <a:off x="5760720" y="1650492"/>
            <a:ext cx="548640" cy="219456"/>
          </a:xfrm>
          <a:prstGeom prst="rect">
            <a:avLst/>
          </a:prstGeom>
          <a:solidFill>
            <a:schemeClr val="bg2"/>
          </a:solidFill>
          <a:ln/>
        </p:spPr>
        <p:txBody>
          <a:bodyPr wrap="square" lIns="0" tIns="0" rIns="0" bIns="0" rtlCol="0" anchor="ctr"/>
          <a:lstStyle/>
          <a:p>
            <a:pPr algn="ctr" indent="0" marL="0">
              <a:buNone/>
            </a:pPr>
            <a:r>
              <a:rPr lang="en-US" sz="1000" dirty="0">
                <a:solidFill>
                  <a:schemeClr val="accent6"/>
                </a:solidFill>
              </a:rPr>
              <a:t>radio</a:t>
            </a:r>
            <a:endParaRPr lang="en-US" sz="1000" dirty="0"/>
          </a:p>
        </p:txBody>
      </p:sp>
      <p:sp>
        <p:nvSpPr>
          <p:cNvPr id="24" name="link 2"/>
          <p:cNvSpPr/>
          <p:nvPr/>
        </p:nvSpPr>
        <p:spPr>
          <a:xfrm>
            <a:off x="5349240" y="1874520"/>
            <a:ext cx="822960" cy="1097280"/>
          </a:xfrm>
          <a:prstGeom prst="line">
            <a:avLst/>
          </a:prstGeom>
          <a:noFill/>
          <a:ln w="22225">
            <a:solidFill>
              <a:srgbClr val="0F1724"/>
            </a:solidFill>
            <a:prstDash val="solid"/>
          </a:ln>
        </p:spPr>
      </p:sp>
      <p:sp>
        <p:nvSpPr>
          <p:cNvPr id="25" name="Text 18"/>
          <p:cNvSpPr txBox="1"/>
          <p:nvPr/>
        </p:nvSpPr>
        <p:spPr>
          <a:xfrm>
            <a:off x="5486400" y="2313432"/>
            <a:ext cx="548640" cy="219456"/>
          </a:xfrm>
          <a:prstGeom prst="rect">
            <a:avLst/>
          </a:prstGeom>
          <a:solidFill>
            <a:schemeClr val="bg2"/>
          </a:solidFill>
          <a:ln/>
        </p:spPr>
        <p:txBody>
          <a:bodyPr wrap="square" lIns="0" tIns="0" rIns="0" bIns="0" rtlCol="0" anchor="ctr"/>
          <a:lstStyle/>
          <a:p>
            <a:pPr algn="ctr" indent="0" marL="0">
              <a:buNone/>
            </a:pPr>
            <a:r>
              <a:rPr lang="en-US" sz="1000" dirty="0">
                <a:solidFill>
                  <a:schemeClr val="accent6"/>
                </a:solidFill>
              </a:rPr>
              <a:t>BT</a:t>
            </a:r>
            <a:endParaRPr lang="en-US" sz="1000" dirty="0"/>
          </a:p>
        </p:txBody>
      </p:sp>
      <p:sp>
        <p:nvSpPr>
          <p:cNvPr id="26" name="link 3"/>
          <p:cNvSpPr/>
          <p:nvPr/>
        </p:nvSpPr>
        <p:spPr>
          <a:xfrm>
            <a:off x="6720840" y="1645920"/>
            <a:ext cx="1280160" cy="685800"/>
          </a:xfrm>
          <a:prstGeom prst="line">
            <a:avLst/>
          </a:prstGeom>
          <a:noFill/>
          <a:ln w="22225">
            <a:solidFill>
              <a:srgbClr val="0F1724"/>
            </a:solidFill>
            <a:prstDash val="solid"/>
          </a:ln>
        </p:spPr>
      </p:sp>
      <p:sp>
        <p:nvSpPr>
          <p:cNvPr id="27" name="Text 20"/>
          <p:cNvSpPr txBox="1"/>
          <p:nvPr/>
        </p:nvSpPr>
        <p:spPr>
          <a:xfrm>
            <a:off x="7086600" y="1879092"/>
            <a:ext cx="548640" cy="219456"/>
          </a:xfrm>
          <a:prstGeom prst="rect">
            <a:avLst/>
          </a:prstGeom>
          <a:solidFill>
            <a:schemeClr val="bg2"/>
          </a:solidFill>
          <a:ln/>
        </p:spPr>
        <p:txBody>
          <a:bodyPr wrap="square" lIns="0" tIns="0" rIns="0" bIns="0" rtlCol="0" anchor="ctr"/>
          <a:lstStyle/>
          <a:p>
            <a:pPr algn="ctr" indent="0" marL="0">
              <a:buNone/>
            </a:pPr>
            <a:r>
              <a:rPr lang="en-US" sz="1000" dirty="0">
                <a:solidFill>
                  <a:schemeClr val="accent6"/>
                </a:solidFill>
              </a:rPr>
              <a:t>mesh</a:t>
            </a:r>
            <a:endParaRPr lang="en-US" sz="1000" dirty="0"/>
          </a:p>
        </p:txBody>
      </p:sp>
      <p:sp>
        <p:nvSpPr>
          <p:cNvPr id="28" name="link 4"/>
          <p:cNvSpPr/>
          <p:nvPr/>
        </p:nvSpPr>
        <p:spPr>
          <a:xfrm flipV="1">
            <a:off x="6172200" y="2331720"/>
            <a:ext cx="1828800" cy="640080"/>
          </a:xfrm>
          <a:prstGeom prst="line">
            <a:avLst/>
          </a:prstGeom>
          <a:noFill/>
          <a:ln w="22225">
            <a:solidFill>
              <a:srgbClr val="0F1724"/>
            </a:solidFill>
            <a:prstDash val="solid"/>
          </a:ln>
        </p:spPr>
      </p:sp>
      <p:sp>
        <p:nvSpPr>
          <p:cNvPr id="29" name="link 5"/>
          <p:cNvSpPr/>
          <p:nvPr/>
        </p:nvSpPr>
        <p:spPr>
          <a:xfrm flipV="1">
            <a:off x="5349240" y="2971800"/>
            <a:ext cx="822960" cy="822960"/>
          </a:xfrm>
          <a:prstGeom prst="line">
            <a:avLst/>
          </a:prstGeom>
          <a:noFill/>
          <a:ln w="22225">
            <a:solidFill>
              <a:srgbClr val="0F1724"/>
            </a:solidFill>
            <a:prstDash val="solid"/>
          </a:ln>
        </p:spPr>
      </p:sp>
      <p:sp>
        <p:nvSpPr>
          <p:cNvPr id="30" name="Text 23"/>
          <p:cNvSpPr txBox="1"/>
          <p:nvPr/>
        </p:nvSpPr>
        <p:spPr>
          <a:xfrm>
            <a:off x="5486400" y="3273552"/>
            <a:ext cx="548640" cy="219456"/>
          </a:xfrm>
          <a:prstGeom prst="rect">
            <a:avLst/>
          </a:prstGeom>
          <a:solidFill>
            <a:schemeClr val="bg2"/>
          </a:solidFill>
          <a:ln/>
        </p:spPr>
        <p:txBody>
          <a:bodyPr wrap="square" lIns="0" tIns="0" rIns="0" bIns="0" rtlCol="0" anchor="ctr"/>
          <a:lstStyle/>
          <a:p>
            <a:pPr algn="ctr" indent="0" marL="0">
              <a:buNone/>
            </a:pPr>
            <a:r>
              <a:rPr lang="en-US" sz="1000" dirty="0">
                <a:solidFill>
                  <a:schemeClr val="accent6"/>
                </a:solidFill>
              </a:rPr>
              <a:t>BT</a:t>
            </a:r>
            <a:endParaRPr lang="en-US" sz="1000" dirty="0"/>
          </a:p>
        </p:txBody>
      </p:sp>
      <p:sp>
        <p:nvSpPr>
          <p:cNvPr id="31" name="link 6"/>
          <p:cNvSpPr/>
          <p:nvPr/>
        </p:nvSpPr>
        <p:spPr>
          <a:xfrm>
            <a:off x="6172200" y="2971800"/>
            <a:ext cx="1188720" cy="868680"/>
          </a:xfrm>
          <a:prstGeom prst="line">
            <a:avLst/>
          </a:prstGeom>
          <a:noFill/>
          <a:ln w="22225">
            <a:solidFill>
              <a:srgbClr val="0F1724"/>
            </a:solidFill>
            <a:prstDash val="solid"/>
          </a:ln>
        </p:spPr>
      </p:sp>
      <p:sp>
        <p:nvSpPr>
          <p:cNvPr id="32" name="Text 25"/>
          <p:cNvSpPr txBox="1"/>
          <p:nvPr/>
        </p:nvSpPr>
        <p:spPr>
          <a:xfrm>
            <a:off x="6492240" y="3296412"/>
            <a:ext cx="548640" cy="219456"/>
          </a:xfrm>
          <a:prstGeom prst="rect">
            <a:avLst/>
          </a:prstGeom>
          <a:solidFill>
            <a:schemeClr val="bg2"/>
          </a:solidFill>
          <a:ln/>
        </p:spPr>
        <p:txBody>
          <a:bodyPr wrap="square" lIns="0" tIns="0" rIns="0" bIns="0" rtlCol="0" anchor="ctr"/>
          <a:lstStyle/>
          <a:p>
            <a:pPr algn="ctr" indent="0" marL="0">
              <a:buNone/>
            </a:pPr>
            <a:r>
              <a:rPr lang="en-US" sz="1000" dirty="0">
                <a:solidFill>
                  <a:schemeClr val="accent6"/>
                </a:solidFill>
              </a:rPr>
              <a:t>pager</a:t>
            </a:r>
            <a:endParaRPr lang="en-US" sz="1000" dirty="0"/>
          </a:p>
        </p:txBody>
      </p:sp>
      <p:sp>
        <p:nvSpPr>
          <p:cNvPr id="33" name="link 7"/>
          <p:cNvSpPr/>
          <p:nvPr/>
        </p:nvSpPr>
        <p:spPr>
          <a:xfrm flipV="1">
            <a:off x="7360920" y="2331720"/>
            <a:ext cx="640080" cy="1508760"/>
          </a:xfrm>
          <a:prstGeom prst="line">
            <a:avLst/>
          </a:prstGeom>
          <a:noFill/>
          <a:ln w="22225">
            <a:solidFill>
              <a:srgbClr val="0F1724"/>
            </a:solidFill>
            <a:prstDash val="solid"/>
          </a:ln>
        </p:spPr>
      </p:sp>
      <p:sp>
        <p:nvSpPr>
          <p:cNvPr id="34" name="server link"/>
          <p:cNvSpPr/>
          <p:nvPr/>
        </p:nvSpPr>
        <p:spPr>
          <a:xfrm>
            <a:off x="8001000" y="2331720"/>
            <a:ext cx="228600" cy="1097280"/>
          </a:xfrm>
          <a:prstGeom prst="line">
            <a:avLst/>
          </a:prstGeom>
          <a:noFill/>
          <a:ln w="19050">
            <a:solidFill>
              <a:srgbClr val="5B6575"/>
            </a:solidFill>
            <a:prstDash val="dash"/>
          </a:ln>
        </p:spPr>
      </p:sp>
      <p:sp>
        <p:nvSpPr>
          <p:cNvPr id="35" name="device D1"/>
          <p:cNvSpPr/>
          <p:nvPr/>
        </p:nvSpPr>
        <p:spPr>
          <a:xfrm>
            <a:off x="6473952" y="1399032"/>
            <a:ext cx="493776" cy="493776"/>
          </a:xfrm>
          <a:prstGeom prst="ellipse">
            <a:avLst/>
          </a:prstGeom>
          <a:solidFill>
            <a:schemeClr val="tx2"/>
          </a:solidFill>
          <a:ln w="25400">
            <a:solidFill>
              <a:schemeClr val="bg2"/>
            </a:solidFill>
            <a:prstDash val="solid"/>
          </a:ln>
        </p:spPr>
      </p:sp>
      <p:pic>
        <p:nvPicPr>
          <p:cNvPr id="36" name="device icon D1" descr="device">    </p:cNvPr>
          <p:cNvPicPr>
            <a:picLocks noChangeAspect="1"/>
          </p:cNvPicPr>
          <p:nvPr/>
        </p:nvPicPr>
        <p:blipFill>
          <a:blip r:embed="rId6"/>
          <a:stretch>
            <a:fillRect/>
          </a:stretch>
        </p:blipFill>
        <p:spPr>
          <a:xfrm>
            <a:off x="6611112" y="1536192"/>
            <a:ext cx="219456" cy="219456"/>
          </a:xfrm>
          <a:prstGeom prst="rect">
            <a:avLst/>
          </a:prstGeom>
        </p:spPr>
      </p:pic>
      <p:sp>
        <p:nvSpPr>
          <p:cNvPr id="37" name="device D2"/>
          <p:cNvSpPr/>
          <p:nvPr/>
        </p:nvSpPr>
        <p:spPr>
          <a:xfrm>
            <a:off x="5925312" y="2724912"/>
            <a:ext cx="493776" cy="493776"/>
          </a:xfrm>
          <a:prstGeom prst="ellipse">
            <a:avLst/>
          </a:prstGeom>
          <a:solidFill>
            <a:schemeClr val="tx2"/>
          </a:solidFill>
          <a:ln w="25400">
            <a:solidFill>
              <a:schemeClr val="bg2"/>
            </a:solidFill>
            <a:prstDash val="solid"/>
          </a:ln>
        </p:spPr>
      </p:sp>
      <p:pic>
        <p:nvPicPr>
          <p:cNvPr id="38" name="device icon D2" descr="device">    </p:cNvPr>
          <p:cNvPicPr>
            <a:picLocks noChangeAspect="1"/>
          </p:cNvPicPr>
          <p:nvPr/>
        </p:nvPicPr>
        <p:blipFill>
          <a:blip r:embed="rId7"/>
          <a:stretch>
            <a:fillRect/>
          </a:stretch>
        </p:blipFill>
        <p:spPr>
          <a:xfrm>
            <a:off x="6062472" y="2862072"/>
            <a:ext cx="219456" cy="219456"/>
          </a:xfrm>
          <a:prstGeom prst="rect">
            <a:avLst/>
          </a:prstGeom>
        </p:spPr>
      </p:pic>
      <p:sp>
        <p:nvSpPr>
          <p:cNvPr id="39" name="device D3"/>
          <p:cNvSpPr/>
          <p:nvPr/>
        </p:nvSpPr>
        <p:spPr>
          <a:xfrm>
            <a:off x="7754112" y="2084832"/>
            <a:ext cx="493776" cy="493776"/>
          </a:xfrm>
          <a:prstGeom prst="ellipse">
            <a:avLst/>
          </a:prstGeom>
          <a:solidFill>
            <a:schemeClr val="tx2"/>
          </a:solidFill>
          <a:ln w="25400">
            <a:solidFill>
              <a:schemeClr val="bg2"/>
            </a:solidFill>
            <a:prstDash val="solid"/>
          </a:ln>
        </p:spPr>
      </p:sp>
      <p:pic>
        <p:nvPicPr>
          <p:cNvPr id="40" name="device icon D3" descr="device">    </p:cNvPr>
          <p:cNvPicPr>
            <a:picLocks noChangeAspect="1"/>
          </p:cNvPicPr>
          <p:nvPr/>
        </p:nvPicPr>
        <p:blipFill>
          <a:blip r:embed="rId8"/>
          <a:stretch>
            <a:fillRect/>
          </a:stretch>
        </p:blipFill>
        <p:spPr>
          <a:xfrm>
            <a:off x="7891272" y="2221992"/>
            <a:ext cx="219456" cy="219456"/>
          </a:xfrm>
          <a:prstGeom prst="rect">
            <a:avLst/>
          </a:prstGeom>
        </p:spPr>
      </p:pic>
      <p:sp>
        <p:nvSpPr>
          <p:cNvPr id="41" name="device D4"/>
          <p:cNvSpPr/>
          <p:nvPr/>
        </p:nvSpPr>
        <p:spPr>
          <a:xfrm>
            <a:off x="7114032" y="3593592"/>
            <a:ext cx="493776" cy="493776"/>
          </a:xfrm>
          <a:prstGeom prst="ellipse">
            <a:avLst/>
          </a:prstGeom>
          <a:solidFill>
            <a:schemeClr val="tx2"/>
          </a:solidFill>
          <a:ln w="25400">
            <a:solidFill>
              <a:schemeClr val="bg2"/>
            </a:solidFill>
            <a:prstDash val="solid"/>
          </a:ln>
        </p:spPr>
      </p:sp>
      <p:pic>
        <p:nvPicPr>
          <p:cNvPr id="42" name="device icon D4" descr="device">    </p:cNvPr>
          <p:cNvPicPr>
            <a:picLocks noChangeAspect="1"/>
          </p:cNvPicPr>
          <p:nvPr/>
        </p:nvPicPr>
        <p:blipFill>
          <a:blip r:embed="rId9"/>
          <a:stretch>
            <a:fillRect/>
          </a:stretch>
        </p:blipFill>
        <p:spPr>
          <a:xfrm>
            <a:off x="7251192" y="3730752"/>
            <a:ext cx="219456" cy="219456"/>
          </a:xfrm>
          <a:prstGeom prst="rect">
            <a:avLst/>
          </a:prstGeom>
        </p:spPr>
      </p:pic>
      <p:sp>
        <p:nvSpPr>
          <p:cNvPr id="43" name="device D5"/>
          <p:cNvSpPr/>
          <p:nvPr/>
        </p:nvSpPr>
        <p:spPr>
          <a:xfrm>
            <a:off x="5102352" y="3547872"/>
            <a:ext cx="493776" cy="493776"/>
          </a:xfrm>
          <a:prstGeom prst="ellipse">
            <a:avLst/>
          </a:prstGeom>
          <a:solidFill>
            <a:schemeClr val="tx2"/>
          </a:solidFill>
          <a:ln w="25400">
            <a:solidFill>
              <a:schemeClr val="bg2"/>
            </a:solidFill>
            <a:prstDash val="solid"/>
          </a:ln>
        </p:spPr>
      </p:sp>
      <p:pic>
        <p:nvPicPr>
          <p:cNvPr id="44" name="device icon D5" descr="device">    </p:cNvPr>
          <p:cNvPicPr>
            <a:picLocks noChangeAspect="1"/>
          </p:cNvPicPr>
          <p:nvPr/>
        </p:nvPicPr>
        <p:blipFill>
          <a:blip r:embed="rId10"/>
          <a:stretch>
            <a:fillRect/>
          </a:stretch>
        </p:blipFill>
        <p:spPr>
          <a:xfrm>
            <a:off x="5239512" y="3685032"/>
            <a:ext cx="219456" cy="219456"/>
          </a:xfrm>
          <a:prstGeom prst="rect">
            <a:avLst/>
          </a:prstGeom>
        </p:spPr>
      </p:pic>
      <p:sp>
        <p:nvSpPr>
          <p:cNvPr id="45" name="authorized person circle"/>
          <p:cNvSpPr/>
          <p:nvPr/>
        </p:nvSpPr>
        <p:spPr>
          <a:xfrm>
            <a:off x="5029200" y="1554480"/>
            <a:ext cx="640080" cy="640080"/>
          </a:xfrm>
          <a:prstGeom prst="ellipse">
            <a:avLst/>
          </a:prstGeom>
          <a:solidFill>
            <a:schemeClr val="accent1"/>
          </a:solidFill>
          <a:ln/>
        </p:spPr>
      </p:sp>
      <p:pic>
        <p:nvPicPr>
          <p:cNvPr id="46" name="authorized person icon" descr="authorized person">    </p:cNvPr>
          <p:cNvPicPr>
            <a:picLocks noChangeAspect="1"/>
          </p:cNvPicPr>
          <p:nvPr/>
        </p:nvPicPr>
        <p:blipFill>
          <a:blip r:embed="rId11"/>
          <a:stretch>
            <a:fillRect/>
          </a:stretch>
        </p:blipFill>
        <p:spPr>
          <a:xfrm>
            <a:off x="5189220" y="1714500"/>
            <a:ext cx="320040" cy="320040"/>
          </a:xfrm>
          <a:prstGeom prst="rect">
            <a:avLst/>
          </a:prstGeom>
        </p:spPr>
      </p:pic>
      <p:sp>
        <p:nvSpPr>
          <p:cNvPr id="47" name="Text 34"/>
          <p:cNvSpPr txBox="1"/>
          <p:nvPr/>
        </p:nvSpPr>
        <p:spPr>
          <a:xfrm>
            <a:off x="4709160" y="1243584"/>
            <a:ext cx="1280160" cy="228600"/>
          </a:xfrm>
          <a:prstGeom prst="rect">
            <a:avLst/>
          </a:prstGeom>
          <a:noFill/>
          <a:ln/>
        </p:spPr>
        <p:txBody>
          <a:bodyPr wrap="square" lIns="0" tIns="0" rIns="0" bIns="0" rtlCol="0" anchor="t"/>
          <a:lstStyle/>
          <a:p>
            <a:pPr algn="ctr" indent="0" marL="0">
              <a:buNone/>
            </a:pPr>
            <a:r>
              <a:rPr lang="en-US" sz="1000" b="1" dirty="0">
                <a:solidFill>
                  <a:schemeClr val="accent1"/>
                </a:solidFill>
              </a:rPr>
              <a:t>Authorized person</a:t>
            </a:r>
            <a:endParaRPr lang="en-US" sz="1000" dirty="0"/>
          </a:p>
        </p:txBody>
      </p:sp>
      <p:sp>
        <p:nvSpPr>
          <p:cNvPr id="48" name="server node"/>
          <p:cNvSpPr/>
          <p:nvPr/>
        </p:nvSpPr>
        <p:spPr>
          <a:xfrm>
            <a:off x="8001000" y="3200400"/>
            <a:ext cx="457200" cy="457200"/>
          </a:xfrm>
          <a:prstGeom prst="ellipse">
            <a:avLst/>
          </a:prstGeom>
          <a:solidFill>
            <a:schemeClr val="bg1"/>
          </a:solidFill>
          <a:ln w="15875">
            <a:solidFill>
              <a:schemeClr val="accent6"/>
            </a:solidFill>
            <a:prstDash val="dash"/>
          </a:ln>
        </p:spPr>
      </p:sp>
      <p:pic>
        <p:nvPicPr>
          <p:cNvPr id="49" name="server icon" descr="server">    </p:cNvPr>
          <p:cNvPicPr>
            <a:picLocks noChangeAspect="1"/>
          </p:cNvPicPr>
          <p:nvPr/>
        </p:nvPicPr>
        <p:blipFill>
          <a:blip r:embed="rId12"/>
          <a:stretch>
            <a:fillRect/>
          </a:stretch>
        </p:blipFill>
        <p:spPr>
          <a:xfrm>
            <a:off x="8129016" y="3328416"/>
            <a:ext cx="201168" cy="201168"/>
          </a:xfrm>
          <a:prstGeom prst="rect">
            <a:avLst/>
          </a:prstGeom>
        </p:spPr>
      </p:pic>
      <p:sp>
        <p:nvSpPr>
          <p:cNvPr id="50" name="Text 36"/>
          <p:cNvSpPr txBox="1"/>
          <p:nvPr/>
        </p:nvSpPr>
        <p:spPr>
          <a:xfrm>
            <a:off x="7726680" y="3703320"/>
            <a:ext cx="914400" cy="365760"/>
          </a:xfrm>
          <a:prstGeom prst="rect">
            <a:avLst/>
          </a:prstGeom>
          <a:noFill/>
          <a:ln/>
        </p:spPr>
        <p:txBody>
          <a:bodyPr wrap="square" lIns="0" tIns="0" rIns="0" bIns="0" rtlCol="0" anchor="t"/>
          <a:lstStyle/>
          <a:p>
            <a:pPr algn="ctr" indent="0" marL="0">
              <a:buNone/>
            </a:pPr>
            <a:r>
              <a:rPr lang="en-US" sz="1000" dirty="0">
                <a:solidFill>
                  <a:schemeClr val="accent6"/>
                </a:solidFill>
              </a:rPr>
              <a:t>Server (optional)</a:t>
            </a:r>
            <a:endParaRPr lang="en-US" sz="1000" dirty="0"/>
          </a:p>
        </p:txBody>
      </p:sp>
      <p:sp>
        <p:nvSpPr>
          <p:cNvPr id="25" name="Slide Number Placeholder 0"/>
          <p:cNvSpPr>
            <a:spLocks noGrp="1"/>
          </p:cNvSpPr>
          <p:nvPr>
            <p:ph type="sldNum" sz="quarter" idx="4294967295"/>
          </p:nvPr>
        </p:nvSpPr>
        <p:spPr>
          <a:xfrm>
            <a:off x="8138160" y="472744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Every Alarm Is Signed and Verified</a:t>
            </a:r>
            <a:endParaRPr lang="en-US" sz="2800" dirty="0"/>
          </a:p>
        </p:txBody>
      </p:sp>
      <p:sp>
        <p:nvSpPr>
          <p:cNvPr id="3" name="Server ↔ App channel card"/>
          <p:cNvSpPr/>
          <p:nvPr/>
        </p:nvSpPr>
        <p:spPr>
          <a:xfrm>
            <a:off x="457200" y="1143000"/>
            <a:ext cx="4023360" cy="2514600"/>
          </a:xfrm>
          <a:prstGeom prst="roundRect">
            <a:avLst>
              <a:gd name="adj" fmla="val 3636"/>
            </a:avLst>
          </a:prstGeom>
          <a:solidFill>
            <a:schemeClr val="bg2"/>
          </a:solidFill>
          <a:ln/>
        </p:spPr>
      </p:sp>
      <p:sp>
        <p:nvSpPr>
          <p:cNvPr id="4" name="Server ↔ App channel circle"/>
          <p:cNvSpPr/>
          <p:nvPr/>
        </p:nvSpPr>
        <p:spPr>
          <a:xfrm>
            <a:off x="685800" y="1325880"/>
            <a:ext cx="548640" cy="548640"/>
          </a:xfrm>
          <a:prstGeom prst="ellipse">
            <a:avLst/>
          </a:prstGeom>
          <a:solidFill>
            <a:schemeClr val="tx2"/>
          </a:solidFill>
          <a:ln/>
        </p:spPr>
      </p:sp>
      <p:pic>
        <p:nvPicPr>
          <p:cNvPr id="5" name="Server ↔ App channel icon" descr="Server ↔ App channel">    </p:cNvPr>
          <p:cNvPicPr>
            <a:picLocks noChangeAspect="1"/>
          </p:cNvPicPr>
          <p:nvPr/>
        </p:nvPicPr>
        <p:blipFill>
          <a:blip r:embed="rId1"/>
          <a:stretch>
            <a:fillRect/>
          </a:stretch>
        </p:blipFill>
        <p:spPr>
          <a:xfrm>
            <a:off x="822960" y="1463040"/>
            <a:ext cx="274320" cy="274320"/>
          </a:xfrm>
          <a:prstGeom prst="rect">
            <a:avLst/>
          </a:prstGeom>
        </p:spPr>
      </p:pic>
      <p:sp>
        <p:nvSpPr>
          <p:cNvPr id="6" name="Text 3"/>
          <p:cNvSpPr txBox="1"/>
          <p:nvPr/>
        </p:nvSpPr>
        <p:spPr>
          <a:xfrm>
            <a:off x="1371600" y="1307592"/>
            <a:ext cx="2971800" cy="320040"/>
          </a:xfrm>
          <a:prstGeom prst="rect">
            <a:avLst/>
          </a:prstGeom>
          <a:noFill/>
          <a:ln/>
        </p:spPr>
        <p:txBody>
          <a:bodyPr wrap="square" lIns="0" tIns="0" rIns="0" bIns="0" rtlCol="0" anchor="t"/>
          <a:lstStyle/>
          <a:p>
            <a:pPr indent="0" marL="0">
              <a:buNone/>
            </a:pPr>
            <a:r>
              <a:rPr lang="en-US" sz="1700" b="1" dirty="0">
                <a:solidFill>
                  <a:schemeClr val="tx1"/>
                </a:solidFill>
              </a:rPr>
              <a:t>Server ↔ App channel</a:t>
            </a:r>
            <a:endParaRPr lang="en-US" sz="1700" dirty="0"/>
          </a:p>
        </p:txBody>
      </p:sp>
      <p:sp>
        <p:nvSpPr>
          <p:cNvPr id="7" name="Text 4"/>
          <p:cNvSpPr txBox="1"/>
          <p:nvPr/>
        </p:nvSpPr>
        <p:spPr>
          <a:xfrm>
            <a:off x="1371600" y="1627632"/>
            <a:ext cx="2971800" cy="411480"/>
          </a:xfrm>
          <a:prstGeom prst="rect">
            <a:avLst/>
          </a:prstGeom>
          <a:noFill/>
          <a:ln/>
        </p:spPr>
        <p:txBody>
          <a:bodyPr wrap="square" lIns="0" tIns="0" rIns="0" bIns="0" rtlCol="0" anchor="t"/>
          <a:lstStyle/>
          <a:p>
            <a:pPr indent="0" marL="0">
              <a:buNone/>
            </a:pPr>
            <a:r>
              <a:rPr lang="en-US" sz="1200" i="1" dirty="0">
                <a:solidFill>
                  <a:schemeClr val="accent6"/>
                </a:solidFill>
              </a:rPr>
              <a:t>Per-device symmetric credentials, like VPN pre-shared keys</a:t>
            </a:r>
            <a:endParaRPr lang="en-US" sz="1200" dirty="0"/>
          </a:p>
        </p:txBody>
      </p:sp>
      <p:sp>
        <p:nvSpPr>
          <p:cNvPr id="8" name="Text 5"/>
          <p:cNvSpPr txBox="1"/>
          <p:nvPr/>
        </p:nvSpPr>
        <p:spPr>
          <a:xfrm>
            <a:off x="731520" y="2148840"/>
            <a:ext cx="356616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Scenario download and updates</a:t>
            </a:r>
            <a:endParaRPr lang="en-US" sz="1400" dirty="0"/>
          </a:p>
          <a:p>
            <a:pPr marL="177800" indent="-177800">
              <a:spcAft>
                <a:spcPts val="400"/>
              </a:spcAft>
              <a:buSzPct val="100000"/>
              <a:buChar char="•"/>
            </a:pPr>
            <a:r>
              <a:rPr lang="en-US" sz="1400" dirty="0">
                <a:solidFill>
                  <a:schemeClr val="tx1"/>
                </a:solidFill>
              </a:rPr>
              <a:t>Delivery of new alarm keys</a:t>
            </a:r>
            <a:endParaRPr lang="en-US" sz="1400" dirty="0"/>
          </a:p>
          <a:p>
            <a:pPr marL="177800" indent="-177800">
              <a:spcAft>
                <a:spcPts val="400"/>
              </a:spcAft>
              <a:buSzPct val="100000"/>
              <a:buChar char="•"/>
            </a:pPr>
            <a:r>
              <a:rPr lang="en-US" sz="1400" dirty="0">
                <a:solidFill>
                  <a:schemeClr val="tx1"/>
                </a:solidFill>
              </a:rPr>
              <a:t>Status reports (online only)</a:t>
            </a:r>
            <a:endParaRPr lang="en-US" sz="1400" dirty="0"/>
          </a:p>
        </p:txBody>
      </p:sp>
      <p:sp>
        <p:nvSpPr>
          <p:cNvPr id="9" name="Alarm cryptography card"/>
          <p:cNvSpPr/>
          <p:nvPr/>
        </p:nvSpPr>
        <p:spPr>
          <a:xfrm>
            <a:off x="4663440" y="1143000"/>
            <a:ext cx="4023360" cy="2514600"/>
          </a:xfrm>
          <a:prstGeom prst="roundRect">
            <a:avLst>
              <a:gd name="adj" fmla="val 3636"/>
            </a:avLst>
          </a:prstGeom>
          <a:solidFill>
            <a:schemeClr val="bg2"/>
          </a:solidFill>
          <a:ln/>
        </p:spPr>
      </p:sp>
      <p:sp>
        <p:nvSpPr>
          <p:cNvPr id="10" name="Alarm cryptography circle"/>
          <p:cNvSpPr/>
          <p:nvPr/>
        </p:nvSpPr>
        <p:spPr>
          <a:xfrm>
            <a:off x="4892040" y="1325880"/>
            <a:ext cx="548640" cy="548640"/>
          </a:xfrm>
          <a:prstGeom prst="ellipse">
            <a:avLst/>
          </a:prstGeom>
          <a:solidFill>
            <a:schemeClr val="accent1"/>
          </a:solidFill>
          <a:ln/>
        </p:spPr>
      </p:sp>
      <p:pic>
        <p:nvPicPr>
          <p:cNvPr id="11" name="Alarm cryptography icon" descr="Alarm cryptography">    </p:cNvPr>
          <p:cNvPicPr>
            <a:picLocks noChangeAspect="1"/>
          </p:cNvPicPr>
          <p:nvPr/>
        </p:nvPicPr>
        <p:blipFill>
          <a:blip r:embed="rId2"/>
          <a:stretch>
            <a:fillRect/>
          </a:stretch>
        </p:blipFill>
        <p:spPr>
          <a:xfrm>
            <a:off x="5029200" y="1463040"/>
            <a:ext cx="274320" cy="274320"/>
          </a:xfrm>
          <a:prstGeom prst="rect">
            <a:avLst/>
          </a:prstGeom>
        </p:spPr>
      </p:pic>
      <p:sp>
        <p:nvSpPr>
          <p:cNvPr id="12" name="Text 8"/>
          <p:cNvSpPr txBox="1"/>
          <p:nvPr/>
        </p:nvSpPr>
        <p:spPr>
          <a:xfrm>
            <a:off x="5577840" y="1307592"/>
            <a:ext cx="2971800" cy="320040"/>
          </a:xfrm>
          <a:prstGeom prst="rect">
            <a:avLst/>
          </a:prstGeom>
          <a:noFill/>
          <a:ln/>
        </p:spPr>
        <p:txBody>
          <a:bodyPr wrap="square" lIns="0" tIns="0" rIns="0" bIns="0" rtlCol="0" anchor="t"/>
          <a:lstStyle/>
          <a:p>
            <a:pPr indent="0" marL="0">
              <a:buNone/>
            </a:pPr>
            <a:r>
              <a:rPr lang="en-US" sz="1700" b="1" dirty="0">
                <a:solidFill>
                  <a:schemeClr val="tx1"/>
                </a:solidFill>
              </a:rPr>
              <a:t>Alarm cryptography</a:t>
            </a:r>
            <a:endParaRPr lang="en-US" sz="1700" dirty="0"/>
          </a:p>
        </p:txBody>
      </p:sp>
      <p:sp>
        <p:nvSpPr>
          <p:cNvPr id="13" name="Text 9"/>
          <p:cNvSpPr txBox="1"/>
          <p:nvPr/>
        </p:nvSpPr>
        <p:spPr>
          <a:xfrm>
            <a:off x="5577840" y="1627632"/>
            <a:ext cx="2971800" cy="411480"/>
          </a:xfrm>
          <a:prstGeom prst="rect">
            <a:avLst/>
          </a:prstGeom>
          <a:noFill/>
          <a:ln/>
        </p:spPr>
        <p:txBody>
          <a:bodyPr wrap="square" lIns="0" tIns="0" rIns="0" bIns="0" rtlCol="0" anchor="t"/>
          <a:lstStyle/>
          <a:p>
            <a:pPr indent="0" marL="0">
              <a:buNone/>
            </a:pPr>
            <a:r>
              <a:rPr lang="en-US" sz="1200" i="1" dirty="0">
                <a:solidFill>
                  <a:schemeClr val="accent6"/>
                </a:solidFill>
              </a:rPr>
              <a:t>Asymmetric signatures, independent of the server</a:t>
            </a:r>
            <a:endParaRPr lang="en-US" sz="1200" dirty="0"/>
          </a:p>
        </p:txBody>
      </p:sp>
      <p:sp>
        <p:nvSpPr>
          <p:cNvPr id="14" name="Text 10"/>
          <p:cNvSpPr txBox="1"/>
          <p:nvPr/>
        </p:nvSpPr>
        <p:spPr>
          <a:xfrm>
            <a:off x="4937760" y="2148840"/>
            <a:ext cx="356616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Private key only for authorized controllers</a:t>
            </a:r>
            <a:endParaRPr lang="en-US" sz="1400" dirty="0"/>
          </a:p>
          <a:p>
            <a:pPr marL="177800" indent="-177800">
              <a:spcAft>
                <a:spcPts val="400"/>
              </a:spcAft>
              <a:buSzPct val="100000"/>
              <a:buChar char="•"/>
            </a:pPr>
            <a:r>
              <a:rPr lang="en-US" sz="1400" dirty="0">
                <a:solidFill>
                  <a:schemeClr val="tx1"/>
                </a:solidFill>
              </a:rPr>
              <a:t>Public key on every receiving device</a:t>
            </a:r>
            <a:endParaRPr lang="en-US" sz="1400" dirty="0"/>
          </a:p>
          <a:p>
            <a:pPr marL="177800" indent="-177800">
              <a:spcAft>
                <a:spcPts val="400"/>
              </a:spcAft>
              <a:buSzPct val="100000"/>
              <a:buChar char="•"/>
            </a:pPr>
            <a:r>
              <a:rPr lang="en-US" sz="1400" dirty="0">
                <a:solidFill>
                  <a:schemeClr val="tx1"/>
                </a:solidFill>
              </a:rPr>
              <a:t>Checked on every device before accepting</a:t>
            </a:r>
            <a:endParaRPr lang="en-US" sz="1400" dirty="0"/>
          </a:p>
          <a:p>
            <a:pPr marL="177800" indent="-177800">
              <a:spcAft>
                <a:spcPts val="400"/>
              </a:spcAft>
              <a:buSzPct val="100000"/>
              <a:buChar char="•"/>
            </a:pPr>
            <a:r>
              <a:rPr lang="en-US" sz="1400" dirty="0">
                <a:solidFill>
                  <a:schemeClr val="tx1"/>
                </a:solidFill>
              </a:rPr>
              <a:t>Timestamp and ID mark each event</a:t>
            </a:r>
            <a:endParaRPr lang="en-US" sz="1400" dirty="0"/>
          </a:p>
        </p:txBody>
      </p:sp>
      <p:sp>
        <p:nvSpPr>
          <p:cNvPr id="15" name="principle"/>
          <p:cNvSpPr/>
          <p:nvPr/>
        </p:nvSpPr>
        <p:spPr>
          <a:xfrm>
            <a:off x="457200" y="3840480"/>
            <a:ext cx="8229600" cy="685800"/>
          </a:xfrm>
          <a:prstGeom prst="roundRect">
            <a:avLst>
              <a:gd name="adj" fmla="val 10667"/>
            </a:avLst>
          </a:prstGeom>
          <a:solidFill>
            <a:schemeClr val="tx2"/>
          </a:solidFill>
          <a:ln/>
        </p:spPr>
      </p:sp>
      <p:sp>
        <p:nvSpPr>
          <p:cNvPr id="16" name="security principle circle"/>
          <p:cNvSpPr/>
          <p:nvPr/>
        </p:nvSpPr>
        <p:spPr>
          <a:xfrm>
            <a:off x="658368" y="3959352"/>
            <a:ext cx="457200" cy="457200"/>
          </a:xfrm>
          <a:prstGeom prst="ellipse">
            <a:avLst/>
          </a:prstGeom>
          <a:solidFill>
            <a:schemeClr val="accent1"/>
          </a:solidFill>
          <a:ln/>
        </p:spPr>
      </p:sp>
      <p:pic>
        <p:nvPicPr>
          <p:cNvPr id="17" name="security principle icon" descr="security principle">    </p:cNvPr>
          <p:cNvPicPr>
            <a:picLocks noChangeAspect="1"/>
          </p:cNvPicPr>
          <p:nvPr/>
        </p:nvPicPr>
        <p:blipFill>
          <a:blip r:embed="rId3"/>
          <a:stretch>
            <a:fillRect/>
          </a:stretch>
        </p:blipFill>
        <p:spPr>
          <a:xfrm>
            <a:off x="772668" y="4073652"/>
            <a:ext cx="228600" cy="228600"/>
          </a:xfrm>
          <a:prstGeom prst="rect">
            <a:avLst/>
          </a:prstGeom>
        </p:spPr>
      </p:pic>
      <p:sp>
        <p:nvSpPr>
          <p:cNvPr id="18" name="Text 13"/>
          <p:cNvSpPr txBox="1"/>
          <p:nvPr/>
        </p:nvSpPr>
        <p:spPr>
          <a:xfrm>
            <a:off x="1280160" y="3840480"/>
            <a:ext cx="7223760" cy="685800"/>
          </a:xfrm>
          <a:prstGeom prst="rect">
            <a:avLst/>
          </a:prstGeom>
          <a:noFill/>
          <a:ln/>
        </p:spPr>
        <p:txBody>
          <a:bodyPr wrap="square" lIns="0" tIns="0" rIns="0" bIns="0" rtlCol="0" anchor="ctr"/>
          <a:lstStyle/>
          <a:p>
            <a:pPr indent="0" marL="0">
              <a:buNone/>
            </a:pPr>
            <a:r>
              <a:rPr lang="en-US" sz="1600" b="1" dirty="0">
                <a:solidFill>
                  <a:schemeClr val="bg1"/>
                </a:solidFill>
              </a:rPr>
              <a:t>Alarm authenticity never depends on the server or the delivery medium.</a:t>
            </a:r>
            <a:endParaRPr lang="en-US" sz="1600" dirty="0"/>
          </a:p>
        </p:txBody>
      </p:sp>
      <p:sp>
        <p:nvSpPr>
          <p:cNvPr id="25" name="Slide Number Placeholder 0"/>
          <p:cNvSpPr>
            <a:spLocks noGrp="1"/>
          </p:cNvSpPr>
          <p:nvPr>
            <p:ph type="sldNum" sz="quarter" idx="4294967295"/>
          </p:nvPr>
        </p:nvSpPr>
        <p:spPr>
          <a:xfrm>
            <a:off x="8138160" y="472744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Know What Is Happening</a:t>
            </a:r>
            <a:endParaRPr lang="en-US" sz="2800" dirty="0"/>
          </a:p>
        </p:txBody>
      </p:sp>
      <p:sp>
        <p:nvSpPr>
          <p:cNvPr id="3" name="Text 1"/>
          <p:cNvSpPr txBox="1"/>
          <p:nvPr/>
        </p:nvSpPr>
        <p:spPr>
          <a:xfrm>
            <a:off x="457200" y="1188720"/>
            <a:ext cx="3566160" cy="548640"/>
          </a:xfrm>
          <a:prstGeom prst="rect">
            <a:avLst/>
          </a:prstGeom>
          <a:noFill/>
          <a:ln/>
        </p:spPr>
        <p:txBody>
          <a:bodyPr wrap="square" lIns="0" tIns="0" rIns="0" bIns="0" rtlCol="0" anchor="t"/>
          <a:lstStyle/>
          <a:p>
            <a:pPr indent="0" marL="0">
              <a:buNone/>
            </a:pPr>
            <a:r>
              <a:rPr lang="en-US" sz="1500" dirty="0">
                <a:solidFill>
                  <a:schemeClr val="tx1"/>
                </a:solidFill>
              </a:rPr>
              <a:t>During an active alarm, the admin panel shows on a live map:</a:t>
            </a:r>
            <a:endParaRPr lang="en-US" sz="1500" dirty="0"/>
          </a:p>
        </p:txBody>
      </p:sp>
      <p:sp>
        <p:nvSpPr>
          <p:cNvPr id="4" name="Who received the alarm circle"/>
          <p:cNvSpPr/>
          <p:nvPr/>
        </p:nvSpPr>
        <p:spPr>
          <a:xfrm>
            <a:off x="457200" y="1874520"/>
            <a:ext cx="457200" cy="457200"/>
          </a:xfrm>
          <a:prstGeom prst="ellipse">
            <a:avLst/>
          </a:prstGeom>
          <a:solidFill>
            <a:schemeClr val="accent1">
              <a:alpha val="12000"/>
            </a:schemeClr>
          </a:solidFill>
          <a:ln/>
        </p:spPr>
      </p:sp>
      <p:pic>
        <p:nvPicPr>
          <p:cNvPr id="5" name="Who received the alarm icon" descr="Who received the alarm">    </p:cNvPr>
          <p:cNvPicPr>
            <a:picLocks noChangeAspect="1"/>
          </p:cNvPicPr>
          <p:nvPr/>
        </p:nvPicPr>
        <p:blipFill>
          <a:blip r:embed="rId1"/>
          <a:stretch>
            <a:fillRect/>
          </a:stretch>
        </p:blipFill>
        <p:spPr>
          <a:xfrm>
            <a:off x="571500" y="1988820"/>
            <a:ext cx="228600" cy="228600"/>
          </a:xfrm>
          <a:prstGeom prst="rect">
            <a:avLst/>
          </a:prstGeom>
        </p:spPr>
      </p:pic>
      <p:sp>
        <p:nvSpPr>
          <p:cNvPr id="6" name="Text 3"/>
          <p:cNvSpPr txBox="1"/>
          <p:nvPr/>
        </p:nvSpPr>
        <p:spPr>
          <a:xfrm>
            <a:off x="1097280" y="1874520"/>
            <a:ext cx="2926080" cy="457200"/>
          </a:xfrm>
          <a:prstGeom prst="rect">
            <a:avLst/>
          </a:prstGeom>
          <a:noFill/>
          <a:ln/>
        </p:spPr>
        <p:txBody>
          <a:bodyPr wrap="square" lIns="0" tIns="0" rIns="0" bIns="0" rtlCol="0" anchor="ctr"/>
          <a:lstStyle/>
          <a:p>
            <a:pPr indent="0" marL="0">
              <a:buNone/>
            </a:pPr>
            <a:r>
              <a:rPr lang="en-US" sz="1600" b="1" dirty="0">
                <a:solidFill>
                  <a:schemeClr val="tx1"/>
                </a:solidFill>
              </a:rPr>
              <a:t>Who received the alarm</a:t>
            </a:r>
            <a:endParaRPr lang="en-US" sz="1600" dirty="0"/>
          </a:p>
        </p:txBody>
      </p:sp>
      <p:sp>
        <p:nvSpPr>
          <p:cNvPr id="7" name="Where people are circle"/>
          <p:cNvSpPr/>
          <p:nvPr/>
        </p:nvSpPr>
        <p:spPr>
          <a:xfrm>
            <a:off x="457200" y="2514600"/>
            <a:ext cx="457200" cy="457200"/>
          </a:xfrm>
          <a:prstGeom prst="ellipse">
            <a:avLst/>
          </a:prstGeom>
          <a:solidFill>
            <a:schemeClr val="accent1">
              <a:alpha val="12000"/>
            </a:schemeClr>
          </a:solidFill>
          <a:ln/>
        </p:spPr>
      </p:sp>
      <p:pic>
        <p:nvPicPr>
          <p:cNvPr id="8" name="Where people are icon" descr="Where people are">    </p:cNvPr>
          <p:cNvPicPr>
            <a:picLocks noChangeAspect="1"/>
          </p:cNvPicPr>
          <p:nvPr/>
        </p:nvPicPr>
        <p:blipFill>
          <a:blip r:embed="rId2"/>
          <a:stretch>
            <a:fillRect/>
          </a:stretch>
        </p:blipFill>
        <p:spPr>
          <a:xfrm>
            <a:off x="571500" y="2628900"/>
            <a:ext cx="228600" cy="228600"/>
          </a:xfrm>
          <a:prstGeom prst="rect">
            <a:avLst/>
          </a:prstGeom>
        </p:spPr>
      </p:pic>
      <p:sp>
        <p:nvSpPr>
          <p:cNvPr id="9" name="Text 5"/>
          <p:cNvSpPr txBox="1"/>
          <p:nvPr/>
        </p:nvSpPr>
        <p:spPr>
          <a:xfrm>
            <a:off x="1097280" y="2514600"/>
            <a:ext cx="2926080" cy="457200"/>
          </a:xfrm>
          <a:prstGeom prst="rect">
            <a:avLst/>
          </a:prstGeom>
          <a:noFill/>
          <a:ln/>
        </p:spPr>
        <p:txBody>
          <a:bodyPr wrap="square" lIns="0" tIns="0" rIns="0" bIns="0" rtlCol="0" anchor="ctr"/>
          <a:lstStyle/>
          <a:p>
            <a:pPr indent="0" marL="0">
              <a:buNone/>
            </a:pPr>
            <a:r>
              <a:rPr lang="en-US" sz="1600" b="1" dirty="0">
                <a:solidFill>
                  <a:schemeClr val="tx1"/>
                </a:solidFill>
              </a:rPr>
              <a:t>Where people are</a:t>
            </a:r>
            <a:endParaRPr lang="en-US" sz="1600" dirty="0"/>
          </a:p>
        </p:txBody>
      </p:sp>
      <p:sp>
        <p:nvSpPr>
          <p:cNvPr id="10" name="How far each task has got circle"/>
          <p:cNvSpPr/>
          <p:nvPr/>
        </p:nvSpPr>
        <p:spPr>
          <a:xfrm>
            <a:off x="457200" y="3154680"/>
            <a:ext cx="457200" cy="457200"/>
          </a:xfrm>
          <a:prstGeom prst="ellipse">
            <a:avLst/>
          </a:prstGeom>
          <a:solidFill>
            <a:schemeClr val="accent1">
              <a:alpha val="12000"/>
            </a:schemeClr>
          </a:solidFill>
          <a:ln/>
        </p:spPr>
      </p:sp>
      <p:pic>
        <p:nvPicPr>
          <p:cNvPr id="11" name="How far each task has got icon" descr="How far each task has got">    </p:cNvPr>
          <p:cNvPicPr>
            <a:picLocks noChangeAspect="1"/>
          </p:cNvPicPr>
          <p:nvPr/>
        </p:nvPicPr>
        <p:blipFill>
          <a:blip r:embed="rId3"/>
          <a:stretch>
            <a:fillRect/>
          </a:stretch>
        </p:blipFill>
        <p:spPr>
          <a:xfrm>
            <a:off x="571500" y="3268980"/>
            <a:ext cx="228600" cy="228600"/>
          </a:xfrm>
          <a:prstGeom prst="rect">
            <a:avLst/>
          </a:prstGeom>
        </p:spPr>
      </p:pic>
      <p:sp>
        <p:nvSpPr>
          <p:cNvPr id="12" name="Text 7"/>
          <p:cNvSpPr txBox="1"/>
          <p:nvPr/>
        </p:nvSpPr>
        <p:spPr>
          <a:xfrm>
            <a:off x="1097280" y="3154680"/>
            <a:ext cx="2926080" cy="457200"/>
          </a:xfrm>
          <a:prstGeom prst="rect">
            <a:avLst/>
          </a:prstGeom>
          <a:noFill/>
          <a:ln/>
        </p:spPr>
        <p:txBody>
          <a:bodyPr wrap="square" lIns="0" tIns="0" rIns="0" bIns="0" rtlCol="0" anchor="ctr"/>
          <a:lstStyle/>
          <a:p>
            <a:pPr indent="0" marL="0">
              <a:buNone/>
            </a:pPr>
            <a:r>
              <a:rPr lang="en-US" sz="1600" b="1" dirty="0">
                <a:solidFill>
                  <a:schemeClr val="tx1"/>
                </a:solidFill>
              </a:rPr>
              <a:t>How far each task has got</a:t>
            </a:r>
            <a:endParaRPr lang="en-US" sz="1600" dirty="0"/>
          </a:p>
        </p:txBody>
      </p:sp>
      <p:sp>
        <p:nvSpPr>
          <p:cNvPr id="13" name="Text 8"/>
          <p:cNvSpPr txBox="1"/>
          <p:nvPr/>
        </p:nvSpPr>
        <p:spPr>
          <a:xfrm>
            <a:off x="457200" y="3840480"/>
            <a:ext cx="3566160" cy="640080"/>
          </a:xfrm>
          <a:prstGeom prst="rect">
            <a:avLst/>
          </a:prstGeom>
          <a:noFill/>
          <a:ln/>
        </p:spPr>
        <p:txBody>
          <a:bodyPr wrap="square" lIns="0" tIns="0" rIns="0" bIns="0" rtlCol="0" anchor="t"/>
          <a:lstStyle/>
          <a:p>
            <a:pPr indent="0" marL="0">
              <a:buNone/>
            </a:pPr>
            <a:r>
              <a:rPr lang="en-US" sz="1100" dirty="0">
                <a:solidFill>
                  <a:schemeClr val="accent6"/>
                </a:solidFill>
              </a:rPr>
              <a:t>Location is shared only when enabled and needed for the response; access and retention are set by the deploying organization.</a:t>
            </a:r>
            <a:endParaRPr lang="en-US" sz="1100" dirty="0"/>
          </a:p>
        </p:txBody>
      </p:sp>
      <p:sp>
        <p:nvSpPr>
          <p:cNvPr id="14" name="dashboard window"/>
          <p:cNvSpPr/>
          <p:nvPr/>
        </p:nvSpPr>
        <p:spPr>
          <a:xfrm>
            <a:off x="4297680" y="1143000"/>
            <a:ext cx="4389120" cy="3383280"/>
          </a:xfrm>
          <a:prstGeom prst="roundRect">
            <a:avLst>
              <a:gd name="adj" fmla="val 2162"/>
            </a:avLst>
          </a:prstGeom>
          <a:solidFill>
            <a:schemeClr val="bg1"/>
          </a:solidFill>
          <a:ln w="12700">
            <a:solidFill>
              <a:srgbClr val="F2F4F7"/>
            </a:solidFill>
            <a:prstDash val="solid"/>
          </a:ln>
          <a:effectLst>
            <a:outerShdw sx="100000" sy="100000" kx="0" ky="0" algn="bl" rotWithShape="0" blurRad="101600" dist="25400" dir="5400000">
              <a:srgbClr val="000000">
                <a:alpha val="12000"/>
              </a:srgbClr>
            </a:outerShdw>
          </a:effectLst>
        </p:spPr>
      </p:sp>
      <p:sp>
        <p:nvSpPr>
          <p:cNvPr id="15" name="dashboard header"/>
          <p:cNvSpPr/>
          <p:nvPr/>
        </p:nvSpPr>
        <p:spPr>
          <a:xfrm>
            <a:off x="4297680" y="1143000"/>
            <a:ext cx="4389120" cy="365760"/>
          </a:xfrm>
          <a:prstGeom prst="rect">
            <a:avLst/>
          </a:prstGeom>
          <a:solidFill>
            <a:schemeClr val="tx2"/>
          </a:solidFill>
          <a:ln/>
        </p:spPr>
      </p:sp>
      <p:sp>
        <p:nvSpPr>
          <p:cNvPr id="16" name="Text 11"/>
          <p:cNvSpPr txBox="1"/>
          <p:nvPr/>
        </p:nvSpPr>
        <p:spPr>
          <a:xfrm>
            <a:off x="4434840" y="1143000"/>
            <a:ext cx="4114800" cy="365760"/>
          </a:xfrm>
          <a:prstGeom prst="rect">
            <a:avLst/>
          </a:prstGeom>
          <a:noFill/>
          <a:ln/>
        </p:spPr>
        <p:txBody>
          <a:bodyPr wrap="square" lIns="0" tIns="0" rIns="0" bIns="0" rtlCol="0" anchor="ctr"/>
          <a:lstStyle/>
          <a:p>
            <a:pPr indent="0" marL="0">
              <a:buNone/>
            </a:pPr>
            <a:r>
              <a:rPr lang="en-US" sz="1100" dirty="0">
                <a:solidFill>
                  <a:schemeClr val="bg1"/>
                </a:solidFill>
              </a:rPr>
              <a:t>Admin panel · Air raid alarm  </a:t>
            </a:r>
            <a:pPr indent="0" marL="0">
              <a:buNone/>
            </a:pPr>
            <a:r>
              <a:rPr lang="en-US" sz="1100" b="1" dirty="0">
                <a:solidFill>
                  <a:schemeClr val="accent1"/>
                </a:solidFill>
              </a:rPr>
              <a:t>● ACTIVE</a:t>
            </a:r>
            <a:endParaRPr lang="en-US" sz="1100" dirty="0"/>
          </a:p>
        </p:txBody>
      </p:sp>
      <p:sp>
        <p:nvSpPr>
          <p:cNvPr id="17" name="map"/>
          <p:cNvSpPr/>
          <p:nvPr/>
        </p:nvSpPr>
        <p:spPr>
          <a:xfrm>
            <a:off x="4407408" y="1618488"/>
            <a:ext cx="2697480" cy="2798064"/>
          </a:xfrm>
          <a:prstGeom prst="rect">
            <a:avLst/>
          </a:prstGeom>
          <a:solidFill>
            <a:schemeClr val="accent2">
              <a:alpha val="10000"/>
            </a:schemeClr>
          </a:solidFill>
          <a:ln/>
        </p:spPr>
      </p:sp>
      <p:sp>
        <p:nvSpPr>
          <p:cNvPr id="18" name="road 1"/>
          <p:cNvSpPr/>
          <p:nvPr/>
        </p:nvSpPr>
        <p:spPr>
          <a:xfrm flipV="1">
            <a:off x="4407408" y="2350008"/>
            <a:ext cx="2697480" cy="274320"/>
          </a:xfrm>
          <a:prstGeom prst="line">
            <a:avLst/>
          </a:prstGeom>
          <a:noFill/>
          <a:ln w="63500">
            <a:solidFill>
              <a:srgbClr val="FFFFFF"/>
            </a:solidFill>
            <a:prstDash val="solid"/>
          </a:ln>
        </p:spPr>
      </p:sp>
      <p:sp>
        <p:nvSpPr>
          <p:cNvPr id="19" name="road 2"/>
          <p:cNvSpPr/>
          <p:nvPr/>
        </p:nvSpPr>
        <p:spPr>
          <a:xfrm>
            <a:off x="4407408" y="3721608"/>
            <a:ext cx="2697480" cy="182880"/>
          </a:xfrm>
          <a:prstGeom prst="line">
            <a:avLst/>
          </a:prstGeom>
          <a:noFill/>
          <a:ln w="63500">
            <a:solidFill>
              <a:srgbClr val="FFFFFF"/>
            </a:solidFill>
            <a:prstDash val="solid"/>
          </a:ln>
        </p:spPr>
      </p:sp>
      <p:sp>
        <p:nvSpPr>
          <p:cNvPr id="20" name="road 3"/>
          <p:cNvSpPr/>
          <p:nvPr/>
        </p:nvSpPr>
        <p:spPr>
          <a:xfrm>
            <a:off x="5230368" y="1618488"/>
            <a:ext cx="274320" cy="2798064"/>
          </a:xfrm>
          <a:prstGeom prst="line">
            <a:avLst/>
          </a:prstGeom>
          <a:noFill/>
          <a:ln w="63500">
            <a:solidFill>
              <a:srgbClr val="FFFFFF"/>
            </a:solidFill>
            <a:prstDash val="solid"/>
          </a:ln>
        </p:spPr>
      </p:sp>
      <p:sp>
        <p:nvSpPr>
          <p:cNvPr id="21" name="road 4"/>
          <p:cNvSpPr/>
          <p:nvPr/>
        </p:nvSpPr>
        <p:spPr>
          <a:xfrm flipV="1">
            <a:off x="6236208" y="1618488"/>
            <a:ext cx="182880" cy="2798064"/>
          </a:xfrm>
          <a:prstGeom prst="line">
            <a:avLst/>
          </a:prstGeom>
          <a:noFill/>
          <a:ln w="63500">
            <a:solidFill>
              <a:srgbClr val="FFFFFF"/>
            </a:solidFill>
            <a:prstDash val="solid"/>
          </a:ln>
        </p:spPr>
      </p:sp>
      <p:sp>
        <p:nvSpPr>
          <p:cNvPr id="22" name="person pin 1"/>
          <p:cNvSpPr/>
          <p:nvPr/>
        </p:nvSpPr>
        <p:spPr>
          <a:xfrm>
            <a:off x="4718304" y="1929384"/>
            <a:ext cx="201168" cy="201168"/>
          </a:xfrm>
          <a:prstGeom prst="ellipse">
            <a:avLst/>
          </a:prstGeom>
          <a:solidFill>
            <a:schemeClr val="accent4"/>
          </a:solidFill>
          <a:ln w="25400">
            <a:solidFill>
              <a:schemeClr val="bg1"/>
            </a:solidFill>
            <a:prstDash val="solid"/>
          </a:ln>
        </p:spPr>
      </p:sp>
      <p:sp>
        <p:nvSpPr>
          <p:cNvPr id="23" name="person pin 2"/>
          <p:cNvSpPr/>
          <p:nvPr/>
        </p:nvSpPr>
        <p:spPr>
          <a:xfrm>
            <a:off x="5769864" y="1883664"/>
            <a:ext cx="201168" cy="201168"/>
          </a:xfrm>
          <a:prstGeom prst="ellipse">
            <a:avLst/>
          </a:prstGeom>
          <a:solidFill>
            <a:schemeClr val="accent4"/>
          </a:solidFill>
          <a:ln w="25400">
            <a:solidFill>
              <a:schemeClr val="bg1"/>
            </a:solidFill>
            <a:prstDash val="solid"/>
          </a:ln>
        </p:spPr>
      </p:sp>
      <p:sp>
        <p:nvSpPr>
          <p:cNvPr id="24" name="person pin 3"/>
          <p:cNvSpPr/>
          <p:nvPr/>
        </p:nvSpPr>
        <p:spPr>
          <a:xfrm>
            <a:off x="6684264" y="2706624"/>
            <a:ext cx="201168" cy="201168"/>
          </a:xfrm>
          <a:prstGeom prst="ellipse">
            <a:avLst/>
          </a:prstGeom>
          <a:solidFill>
            <a:schemeClr val="accent5"/>
          </a:solidFill>
          <a:ln w="25400">
            <a:solidFill>
              <a:schemeClr val="bg1"/>
            </a:solidFill>
            <a:prstDash val="solid"/>
          </a:ln>
        </p:spPr>
      </p:sp>
      <p:sp>
        <p:nvSpPr>
          <p:cNvPr id="25" name="person pin 4"/>
          <p:cNvSpPr/>
          <p:nvPr/>
        </p:nvSpPr>
        <p:spPr>
          <a:xfrm>
            <a:off x="4764024" y="3072384"/>
            <a:ext cx="201168" cy="201168"/>
          </a:xfrm>
          <a:prstGeom prst="ellipse">
            <a:avLst/>
          </a:prstGeom>
          <a:solidFill>
            <a:schemeClr val="accent4"/>
          </a:solidFill>
          <a:ln w="25400">
            <a:solidFill>
              <a:schemeClr val="bg1"/>
            </a:solidFill>
            <a:prstDash val="solid"/>
          </a:ln>
        </p:spPr>
      </p:sp>
      <p:sp>
        <p:nvSpPr>
          <p:cNvPr id="26" name="person pin 5"/>
          <p:cNvSpPr/>
          <p:nvPr/>
        </p:nvSpPr>
        <p:spPr>
          <a:xfrm>
            <a:off x="5724144" y="3118104"/>
            <a:ext cx="201168" cy="201168"/>
          </a:xfrm>
          <a:prstGeom prst="ellipse">
            <a:avLst/>
          </a:prstGeom>
          <a:solidFill>
            <a:schemeClr val="accent5"/>
          </a:solidFill>
          <a:ln w="25400">
            <a:solidFill>
              <a:schemeClr val="bg1"/>
            </a:solidFill>
            <a:prstDash val="solid"/>
          </a:ln>
        </p:spPr>
      </p:sp>
      <p:sp>
        <p:nvSpPr>
          <p:cNvPr id="27" name="person pin 6"/>
          <p:cNvSpPr/>
          <p:nvPr/>
        </p:nvSpPr>
        <p:spPr>
          <a:xfrm>
            <a:off x="6592824" y="3986784"/>
            <a:ext cx="201168" cy="201168"/>
          </a:xfrm>
          <a:prstGeom prst="ellipse">
            <a:avLst/>
          </a:prstGeom>
          <a:solidFill>
            <a:schemeClr val="accent1"/>
          </a:solidFill>
          <a:ln w="25400">
            <a:solidFill>
              <a:schemeClr val="bg1"/>
            </a:solidFill>
            <a:prstDash val="solid"/>
          </a:ln>
        </p:spPr>
      </p:sp>
      <p:sp>
        <p:nvSpPr>
          <p:cNvPr id="28" name="person pin 7"/>
          <p:cNvSpPr/>
          <p:nvPr/>
        </p:nvSpPr>
        <p:spPr>
          <a:xfrm>
            <a:off x="4946904" y="4032504"/>
            <a:ext cx="201168" cy="201168"/>
          </a:xfrm>
          <a:prstGeom prst="ellipse">
            <a:avLst/>
          </a:prstGeom>
          <a:solidFill>
            <a:schemeClr val="accent4"/>
          </a:solidFill>
          <a:ln w="25400">
            <a:solidFill>
              <a:schemeClr val="bg1"/>
            </a:solidFill>
            <a:prstDash val="solid"/>
          </a:ln>
        </p:spPr>
      </p:sp>
      <p:sp>
        <p:nvSpPr>
          <p:cNvPr id="29" name="person pin 8"/>
          <p:cNvSpPr/>
          <p:nvPr/>
        </p:nvSpPr>
        <p:spPr>
          <a:xfrm>
            <a:off x="5815584" y="4123944"/>
            <a:ext cx="201168" cy="201168"/>
          </a:xfrm>
          <a:prstGeom prst="ellipse">
            <a:avLst/>
          </a:prstGeom>
          <a:solidFill>
            <a:schemeClr val="accent4"/>
          </a:solidFill>
          <a:ln w="25400">
            <a:solidFill>
              <a:schemeClr val="bg1"/>
            </a:solidFill>
            <a:prstDash val="solid"/>
          </a:ln>
        </p:spPr>
      </p:sp>
      <p:sp>
        <p:nvSpPr>
          <p:cNvPr id="30" name="Text 25"/>
          <p:cNvSpPr txBox="1"/>
          <p:nvPr/>
        </p:nvSpPr>
        <p:spPr>
          <a:xfrm>
            <a:off x="7242048" y="1618488"/>
            <a:ext cx="1335024" cy="228600"/>
          </a:xfrm>
          <a:prstGeom prst="rect">
            <a:avLst/>
          </a:prstGeom>
          <a:noFill/>
          <a:ln/>
        </p:spPr>
        <p:txBody>
          <a:bodyPr wrap="square" lIns="0" tIns="0" rIns="0" bIns="0" rtlCol="0" anchor="t"/>
          <a:lstStyle/>
          <a:p>
            <a:pPr indent="0" marL="0">
              <a:buNone/>
            </a:pPr>
            <a:r>
              <a:rPr lang="en-US" sz="1000" dirty="0">
                <a:solidFill>
                  <a:schemeClr val="accent6"/>
                </a:solidFill>
              </a:rPr>
              <a:t>Received</a:t>
            </a:r>
            <a:endParaRPr lang="en-US" sz="1000" dirty="0"/>
          </a:p>
        </p:txBody>
      </p:sp>
      <p:sp>
        <p:nvSpPr>
          <p:cNvPr id="31" name="Text 26"/>
          <p:cNvSpPr txBox="1"/>
          <p:nvPr/>
        </p:nvSpPr>
        <p:spPr>
          <a:xfrm>
            <a:off x="7242048" y="1819656"/>
            <a:ext cx="1335024" cy="45720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47</a:t>
            </a:r>
            <a:pPr indent="0" marL="0">
              <a:buNone/>
            </a:pPr>
            <a:r>
              <a:rPr lang="en-US" sz="1400" dirty="0">
                <a:solidFill>
                  <a:schemeClr val="accent6"/>
                </a:solidFill>
                <a:latin typeface="Arial" pitchFamily="34" charset="0"/>
                <a:ea typeface="Arial" pitchFamily="34" charset="-122"/>
                <a:cs typeface="Arial" pitchFamily="34" charset="-120"/>
              </a:rPr>
              <a:t> / 52</a:t>
            </a:r>
            <a:endParaRPr lang="en-US" sz="2600" dirty="0"/>
          </a:p>
        </p:txBody>
      </p:sp>
      <p:sp>
        <p:nvSpPr>
          <p:cNvPr id="32" name="Text 27"/>
          <p:cNvSpPr txBox="1"/>
          <p:nvPr/>
        </p:nvSpPr>
        <p:spPr>
          <a:xfrm>
            <a:off x="7242048" y="2487168"/>
            <a:ext cx="1335024" cy="228600"/>
          </a:xfrm>
          <a:prstGeom prst="rect">
            <a:avLst/>
          </a:prstGeom>
          <a:noFill/>
          <a:ln/>
        </p:spPr>
        <p:txBody>
          <a:bodyPr wrap="square" lIns="0" tIns="0" rIns="0" bIns="0" rtlCol="0" anchor="t"/>
          <a:lstStyle/>
          <a:p>
            <a:pPr indent="0" marL="0">
              <a:buNone/>
            </a:pPr>
            <a:r>
              <a:rPr lang="en-US" sz="1000" dirty="0">
                <a:solidFill>
                  <a:schemeClr val="tx1"/>
                </a:solidFill>
              </a:rPr>
              <a:t>Buildings open</a:t>
            </a:r>
            <a:endParaRPr lang="en-US" sz="1000" dirty="0"/>
          </a:p>
        </p:txBody>
      </p:sp>
      <p:sp>
        <p:nvSpPr>
          <p:cNvPr id="33" name="Buildings open track"/>
          <p:cNvSpPr/>
          <p:nvPr/>
        </p:nvSpPr>
        <p:spPr>
          <a:xfrm>
            <a:off x="7242048" y="2761488"/>
            <a:ext cx="1335024" cy="118872"/>
          </a:xfrm>
          <a:prstGeom prst="roundRect">
            <a:avLst>
              <a:gd name="adj" fmla="val 46154"/>
            </a:avLst>
          </a:prstGeom>
          <a:solidFill>
            <a:schemeClr val="bg2"/>
          </a:solidFill>
          <a:ln/>
        </p:spPr>
      </p:sp>
      <p:sp>
        <p:nvSpPr>
          <p:cNvPr id="34" name="Buildings open bar"/>
          <p:cNvSpPr/>
          <p:nvPr/>
        </p:nvSpPr>
        <p:spPr>
          <a:xfrm>
            <a:off x="7242048" y="2761488"/>
            <a:ext cx="1201522" cy="118872"/>
          </a:xfrm>
          <a:prstGeom prst="roundRect">
            <a:avLst>
              <a:gd name="adj" fmla="val 46154"/>
            </a:avLst>
          </a:prstGeom>
          <a:solidFill>
            <a:schemeClr val="accent4"/>
          </a:solidFill>
          <a:ln/>
        </p:spPr>
      </p:sp>
      <p:sp>
        <p:nvSpPr>
          <p:cNvPr id="35" name="Text 30"/>
          <p:cNvSpPr txBox="1"/>
          <p:nvPr/>
        </p:nvSpPr>
        <p:spPr>
          <a:xfrm>
            <a:off x="7242048" y="3108960"/>
            <a:ext cx="1335024" cy="228600"/>
          </a:xfrm>
          <a:prstGeom prst="rect">
            <a:avLst/>
          </a:prstGeom>
          <a:noFill/>
          <a:ln/>
        </p:spPr>
        <p:txBody>
          <a:bodyPr wrap="square" lIns="0" tIns="0" rIns="0" bIns="0" rtlCol="0" anchor="t"/>
          <a:lstStyle/>
          <a:p>
            <a:pPr indent="0" marL="0">
              <a:buNone/>
            </a:pPr>
            <a:r>
              <a:rPr lang="en-US" sz="1000" dirty="0">
                <a:solidFill>
                  <a:schemeClr val="tx1"/>
                </a:solidFill>
              </a:rPr>
              <a:t>Shelters ready</a:t>
            </a:r>
            <a:endParaRPr lang="en-US" sz="1000" dirty="0"/>
          </a:p>
        </p:txBody>
      </p:sp>
      <p:sp>
        <p:nvSpPr>
          <p:cNvPr id="36" name="Shelters ready track"/>
          <p:cNvSpPr/>
          <p:nvPr/>
        </p:nvSpPr>
        <p:spPr>
          <a:xfrm>
            <a:off x="7242048" y="3383280"/>
            <a:ext cx="1335024" cy="118872"/>
          </a:xfrm>
          <a:prstGeom prst="roundRect">
            <a:avLst>
              <a:gd name="adj" fmla="val 46154"/>
            </a:avLst>
          </a:prstGeom>
          <a:solidFill>
            <a:schemeClr val="bg2"/>
          </a:solidFill>
          <a:ln/>
        </p:spPr>
      </p:sp>
      <p:sp>
        <p:nvSpPr>
          <p:cNvPr id="37" name="Shelters ready bar"/>
          <p:cNvSpPr/>
          <p:nvPr/>
        </p:nvSpPr>
        <p:spPr>
          <a:xfrm>
            <a:off x="7242048" y="3383280"/>
            <a:ext cx="801014" cy="118872"/>
          </a:xfrm>
          <a:prstGeom prst="roundRect">
            <a:avLst>
              <a:gd name="adj" fmla="val 46154"/>
            </a:avLst>
          </a:prstGeom>
          <a:solidFill>
            <a:schemeClr val="accent5"/>
          </a:solidFill>
          <a:ln/>
        </p:spPr>
      </p:sp>
      <p:sp>
        <p:nvSpPr>
          <p:cNvPr id="38" name="Text 33"/>
          <p:cNvSpPr txBox="1"/>
          <p:nvPr/>
        </p:nvSpPr>
        <p:spPr>
          <a:xfrm>
            <a:off x="7242048" y="3730752"/>
            <a:ext cx="1335024" cy="228600"/>
          </a:xfrm>
          <a:prstGeom prst="rect">
            <a:avLst/>
          </a:prstGeom>
          <a:noFill/>
          <a:ln/>
        </p:spPr>
        <p:txBody>
          <a:bodyPr wrap="square" lIns="0" tIns="0" rIns="0" bIns="0" rtlCol="0" anchor="t"/>
          <a:lstStyle/>
          <a:p>
            <a:pPr indent="0" marL="0">
              <a:buNone/>
            </a:pPr>
            <a:r>
              <a:rPr lang="en-US" sz="1000" dirty="0">
                <a:solidFill>
                  <a:schemeClr val="tx1"/>
                </a:solidFill>
              </a:rPr>
              <a:t>Signs placed</a:t>
            </a:r>
            <a:endParaRPr lang="en-US" sz="1000" dirty="0"/>
          </a:p>
        </p:txBody>
      </p:sp>
      <p:sp>
        <p:nvSpPr>
          <p:cNvPr id="39" name="Signs placed track"/>
          <p:cNvSpPr/>
          <p:nvPr/>
        </p:nvSpPr>
        <p:spPr>
          <a:xfrm>
            <a:off x="7242048" y="4005072"/>
            <a:ext cx="1335024" cy="118872"/>
          </a:xfrm>
          <a:prstGeom prst="roundRect">
            <a:avLst>
              <a:gd name="adj" fmla="val 46154"/>
            </a:avLst>
          </a:prstGeom>
          <a:solidFill>
            <a:schemeClr val="bg2"/>
          </a:solidFill>
          <a:ln/>
        </p:spPr>
      </p:sp>
      <p:sp>
        <p:nvSpPr>
          <p:cNvPr id="40" name="Signs placed bar"/>
          <p:cNvSpPr/>
          <p:nvPr/>
        </p:nvSpPr>
        <p:spPr>
          <a:xfrm>
            <a:off x="7242048" y="4005072"/>
            <a:ext cx="400507" cy="118872"/>
          </a:xfrm>
          <a:prstGeom prst="roundRect">
            <a:avLst>
              <a:gd name="adj" fmla="val 46154"/>
            </a:avLst>
          </a:prstGeom>
          <a:solidFill>
            <a:schemeClr val="accent1"/>
          </a:solidFill>
          <a:ln/>
        </p:spPr>
      </p:sp>
      <p:sp>
        <p:nvSpPr>
          <p:cNvPr id="41" name="Text 36"/>
          <p:cNvSpPr txBox="1"/>
          <p:nvPr/>
        </p:nvSpPr>
        <p:spPr>
          <a:xfrm>
            <a:off x="7242048" y="4224528"/>
            <a:ext cx="1426464" cy="201168"/>
          </a:xfrm>
          <a:prstGeom prst="rect">
            <a:avLst/>
          </a:prstGeom>
          <a:noFill/>
          <a:ln/>
        </p:spPr>
        <p:txBody>
          <a:bodyPr wrap="square" lIns="0" tIns="0" rIns="0" bIns="0" rtlCol="0" anchor="t"/>
          <a:lstStyle/>
          <a:p>
            <a:pPr indent="0" marL="0">
              <a:buNone/>
            </a:pPr>
            <a:r>
              <a:rPr lang="en-US" sz="900" dirty="0">
                <a:solidFill>
                  <a:schemeClr val="accent4"/>
                </a:solidFill>
              </a:rPr>
              <a:t>● </a:t>
            </a:r>
            <a:pPr indent="0" marL="0">
              <a:buNone/>
            </a:pPr>
            <a:r>
              <a:rPr lang="en-US" sz="900" dirty="0">
                <a:solidFill>
                  <a:schemeClr val="accent6"/>
                </a:solidFill>
              </a:rPr>
              <a:t>done  </a:t>
            </a:r>
            <a:pPr indent="0" marL="0">
              <a:buNone/>
            </a:pPr>
            <a:r>
              <a:rPr lang="en-US" sz="900" dirty="0">
                <a:solidFill>
                  <a:schemeClr val="accent5"/>
                </a:solidFill>
              </a:rPr>
              <a:t>● </a:t>
            </a:r>
            <a:pPr indent="0" marL="0">
              <a:buNone/>
            </a:pPr>
            <a:r>
              <a:rPr lang="en-US" sz="900" dirty="0">
                <a:solidFill>
                  <a:schemeClr val="accent6"/>
                </a:solidFill>
              </a:rPr>
              <a:t>working  </a:t>
            </a:r>
            <a:pPr indent="0" marL="0">
              <a:buNone/>
            </a:pPr>
            <a:r>
              <a:rPr lang="en-US" sz="900" dirty="0">
                <a:solidFill>
                  <a:schemeClr val="accent1"/>
                </a:solidFill>
              </a:rPr>
              <a:t>● </a:t>
            </a:r>
            <a:pPr indent="0" marL="0">
              <a:buNone/>
            </a:pPr>
            <a:r>
              <a:rPr lang="en-US" sz="900" dirty="0">
                <a:solidFill>
                  <a:schemeClr val="accent6"/>
                </a:solidFill>
              </a:rPr>
              <a:t>no reply</a:t>
            </a:r>
            <a:endParaRPr lang="en-US" sz="900" dirty="0"/>
          </a:p>
        </p:txBody>
      </p:sp>
      <p:sp>
        <p:nvSpPr>
          <p:cNvPr id="25" name="Slide Number Placeholder 0"/>
          <p:cNvSpPr>
            <a:spLocks noGrp="1"/>
          </p:cNvSpPr>
          <p:nvPr>
            <p:ph type="sldNum" sz="quarter" idx="4294967295"/>
          </p:nvPr>
        </p:nvSpPr>
        <p:spPr>
          <a:xfrm>
            <a:off x="8138160" y="472744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latin typeface="Arial" pitchFamily="34" charset="0"/>
                <a:ea typeface="Arial" pitchFamily="34" charset="-122"/>
                <a:cs typeface="Arial" pitchFamily="34" charset="-120"/>
              </a:rPr>
              <a:t>One Principle. Three Domains.</a:t>
            </a:r>
            <a:endParaRPr lang="en-US" sz="2800" dirty="0"/>
          </a:p>
        </p:txBody>
      </p:sp>
      <p:sp>
        <p:nvSpPr>
          <p:cNvPr id="3" name="Text 1"/>
          <p:cNvSpPr txBox="1"/>
          <p:nvPr/>
        </p:nvSpPr>
        <p:spPr>
          <a:xfrm>
            <a:off x="457200" y="841248"/>
            <a:ext cx="8229600" cy="320040"/>
          </a:xfrm>
          <a:prstGeom prst="rect">
            <a:avLst/>
          </a:prstGeom>
          <a:noFill/>
          <a:ln/>
        </p:spPr>
        <p:txBody>
          <a:bodyPr wrap="square" lIns="0" tIns="0" rIns="0" bIns="0" rtlCol="0" anchor="t"/>
          <a:lstStyle/>
          <a:p>
            <a:pPr indent="0" marL="0">
              <a:buNone/>
            </a:pPr>
            <a:r>
              <a:rPr lang="en-US" sz="1500" i="1" dirty="0">
                <a:solidFill>
                  <a:schemeClr val="accent6"/>
                </a:solidFill>
              </a:rPr>
              <a:t>The scenario changes — the coordination principle stays the same.</a:t>
            </a:r>
            <a:endParaRPr lang="en-US" sz="1500" dirty="0"/>
          </a:p>
        </p:txBody>
      </p:sp>
      <p:sp>
        <p:nvSpPr>
          <p:cNvPr id="4" name="Air raid alarm card"/>
          <p:cNvSpPr/>
          <p:nvPr/>
        </p:nvSpPr>
        <p:spPr>
          <a:xfrm>
            <a:off x="457200" y="1325880"/>
            <a:ext cx="2560320" cy="3200400"/>
          </a:xfrm>
          <a:prstGeom prst="roundRect">
            <a:avLst>
              <a:gd name="adj" fmla="val 3571"/>
            </a:avLst>
          </a:prstGeom>
          <a:solidFill>
            <a:schemeClr val="bg2"/>
          </a:solidFill>
          <a:ln/>
        </p:spPr>
      </p:sp>
      <p:pic>
        <p:nvPicPr>
          <p:cNvPr id="5" name="CIV · CIVIL ADMINISTRATION logo" descr="Siren CIV · CIVIL ADMINISTRATION">    </p:cNvPr>
          <p:cNvPicPr>
            <a:picLocks noChangeAspect="1"/>
          </p:cNvPicPr>
          <p:nvPr/>
        </p:nvPicPr>
        <p:blipFill>
          <a:blip r:embed="rId1"/>
          <a:stretch>
            <a:fillRect/>
          </a:stretch>
        </p:blipFill>
        <p:spPr>
          <a:xfrm>
            <a:off x="658368" y="1463040"/>
            <a:ext cx="741809" cy="685800"/>
          </a:xfrm>
          <a:prstGeom prst="rect">
            <a:avLst/>
          </a:prstGeom>
        </p:spPr>
      </p:pic>
      <p:sp>
        <p:nvSpPr>
          <p:cNvPr id="6" name="Text 3"/>
          <p:cNvSpPr txBox="1"/>
          <p:nvPr/>
        </p:nvSpPr>
        <p:spPr>
          <a:xfrm>
            <a:off x="658368" y="2240280"/>
            <a:ext cx="219456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CIV · CIVIL ADMINISTRATION</a:t>
            </a:r>
            <a:endParaRPr lang="en-US" sz="1000" dirty="0"/>
          </a:p>
        </p:txBody>
      </p:sp>
      <p:sp>
        <p:nvSpPr>
          <p:cNvPr id="7" name="Text 4"/>
          <p:cNvSpPr txBox="1"/>
          <p:nvPr/>
        </p:nvSpPr>
        <p:spPr>
          <a:xfrm>
            <a:off x="658368" y="2468880"/>
            <a:ext cx="2194560" cy="320040"/>
          </a:xfrm>
          <a:prstGeom prst="rect">
            <a:avLst/>
          </a:prstGeom>
          <a:noFill/>
          <a:ln/>
        </p:spPr>
        <p:txBody>
          <a:bodyPr wrap="square" lIns="0" tIns="0" rIns="0" bIns="0" rtlCol="0" anchor="t"/>
          <a:lstStyle/>
          <a:p>
            <a:pPr indent="0" marL="0">
              <a:buNone/>
            </a:pPr>
            <a:r>
              <a:rPr lang="en-US" sz="1600" b="1" dirty="0">
                <a:solidFill>
                  <a:schemeClr val="tx1"/>
                </a:solidFill>
              </a:rPr>
              <a:t>Air raid alarm</a:t>
            </a:r>
            <a:endParaRPr lang="en-US" sz="1600" dirty="0"/>
          </a:p>
        </p:txBody>
      </p:sp>
      <p:sp>
        <p:nvSpPr>
          <p:cNvPr id="8" name="Text 5"/>
          <p:cNvSpPr txBox="1"/>
          <p:nvPr/>
        </p:nvSpPr>
        <p:spPr>
          <a:xfrm>
            <a:off x="658368" y="2807208"/>
            <a:ext cx="2194560" cy="411480"/>
          </a:xfrm>
          <a:prstGeom prst="rect">
            <a:avLst/>
          </a:prstGeom>
          <a:noFill/>
          <a:ln/>
        </p:spPr>
        <p:txBody>
          <a:bodyPr wrap="square" lIns="0" tIns="0" rIns="0" bIns="0" rtlCol="0" anchor="t"/>
          <a:lstStyle/>
          <a:p>
            <a:pPr indent="0" marL="0">
              <a:buNone/>
            </a:pPr>
            <a:r>
              <a:rPr lang="en-US" sz="1200" i="1" dirty="0">
                <a:solidFill>
                  <a:schemeClr val="accent6"/>
                </a:solidFill>
              </a:rPr>
              <a:t>A school principal turns the school into a shelter:</a:t>
            </a:r>
            <a:endParaRPr lang="en-US" sz="1200" dirty="0"/>
          </a:p>
        </p:txBody>
      </p:sp>
      <p:sp>
        <p:nvSpPr>
          <p:cNvPr id="9" name="Text 6"/>
          <p:cNvSpPr txBox="1"/>
          <p:nvPr/>
        </p:nvSpPr>
        <p:spPr>
          <a:xfrm>
            <a:off x="658368" y="3246120"/>
            <a:ext cx="2240280" cy="1188720"/>
          </a:xfrm>
          <a:prstGeom prst="rect">
            <a:avLst/>
          </a:prstGeom>
          <a:noFill/>
          <a:ln/>
        </p:spPr>
        <p:txBody>
          <a:bodyPr wrap="square" lIns="0" tIns="0" rIns="0" bIns="0" rtlCol="0" anchor="t"/>
          <a:lstStyle/>
          <a:p>
            <a:pPr marL="177800" indent="-177800">
              <a:spcAft>
                <a:spcPts val="200"/>
              </a:spcAft>
              <a:buSzPct val="100000"/>
              <a:buChar char="•"/>
            </a:pPr>
            <a:r>
              <a:rPr lang="en-US" sz="1300" dirty="0">
                <a:solidFill>
                  <a:schemeClr val="tx1"/>
                </a:solidFill>
              </a:rPr>
              <a:t>Open the building</a:t>
            </a:r>
            <a:endParaRPr lang="en-US" sz="1300" dirty="0"/>
          </a:p>
          <a:p>
            <a:pPr marL="177800" indent="-177800">
              <a:spcAft>
                <a:spcPts val="200"/>
              </a:spcAft>
              <a:buSzPct val="100000"/>
              <a:buChar char="•"/>
            </a:pPr>
            <a:r>
              <a:rPr lang="en-US" sz="1300" dirty="0">
                <a:solidFill>
                  <a:schemeClr val="tx1"/>
                </a:solidFill>
              </a:rPr>
              <a:t>Open the shelter</a:t>
            </a:r>
            <a:endParaRPr lang="en-US" sz="1300" dirty="0"/>
          </a:p>
          <a:p>
            <a:pPr marL="177800" indent="-177800">
              <a:spcAft>
                <a:spcPts val="200"/>
              </a:spcAft>
              <a:buSzPct val="100000"/>
              <a:buChar char="•"/>
            </a:pPr>
            <a:r>
              <a:rPr lang="en-US" sz="1300" dirty="0">
                <a:solidFill>
                  <a:schemeClr val="tx1"/>
                </a:solidFill>
              </a:rPr>
              <a:t>Display required signs</a:t>
            </a:r>
            <a:endParaRPr lang="en-US" sz="1300" dirty="0"/>
          </a:p>
        </p:txBody>
      </p:sp>
      <p:sp>
        <p:nvSpPr>
          <p:cNvPr id="10" name="Mass-casualty alarm card"/>
          <p:cNvSpPr/>
          <p:nvPr/>
        </p:nvSpPr>
        <p:spPr>
          <a:xfrm>
            <a:off x="3291840" y="1325880"/>
            <a:ext cx="2560320" cy="3200400"/>
          </a:xfrm>
          <a:prstGeom prst="roundRect">
            <a:avLst>
              <a:gd name="adj" fmla="val 3571"/>
            </a:avLst>
          </a:prstGeom>
          <a:solidFill>
            <a:schemeClr val="bg2"/>
          </a:solidFill>
          <a:ln/>
        </p:spPr>
      </p:sp>
      <p:pic>
        <p:nvPicPr>
          <p:cNvPr id="11" name="MED · HOSPITALS logo" descr="Siren MED · HOSPITALS">    </p:cNvPr>
          <p:cNvPicPr>
            <a:picLocks noChangeAspect="1"/>
          </p:cNvPicPr>
          <p:nvPr/>
        </p:nvPicPr>
        <p:blipFill>
          <a:blip r:embed="rId2"/>
          <a:stretch>
            <a:fillRect/>
          </a:stretch>
        </p:blipFill>
        <p:spPr>
          <a:xfrm>
            <a:off x="3493008" y="1463040"/>
            <a:ext cx="800100" cy="685800"/>
          </a:xfrm>
          <a:prstGeom prst="rect">
            <a:avLst/>
          </a:prstGeom>
        </p:spPr>
      </p:pic>
      <p:sp>
        <p:nvSpPr>
          <p:cNvPr id="12" name="Text 8"/>
          <p:cNvSpPr txBox="1"/>
          <p:nvPr/>
        </p:nvSpPr>
        <p:spPr>
          <a:xfrm>
            <a:off x="3493008" y="2240280"/>
            <a:ext cx="219456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MED · HOSPITALS</a:t>
            </a:r>
            <a:endParaRPr lang="en-US" sz="1000" dirty="0"/>
          </a:p>
        </p:txBody>
      </p:sp>
      <p:sp>
        <p:nvSpPr>
          <p:cNvPr id="13" name="Text 9"/>
          <p:cNvSpPr txBox="1"/>
          <p:nvPr/>
        </p:nvSpPr>
        <p:spPr>
          <a:xfrm>
            <a:off x="3493008" y="2468880"/>
            <a:ext cx="2194560" cy="320040"/>
          </a:xfrm>
          <a:prstGeom prst="rect">
            <a:avLst/>
          </a:prstGeom>
          <a:noFill/>
          <a:ln/>
        </p:spPr>
        <p:txBody>
          <a:bodyPr wrap="square" lIns="0" tIns="0" rIns="0" bIns="0" rtlCol="0" anchor="t"/>
          <a:lstStyle/>
          <a:p>
            <a:pPr indent="0" marL="0">
              <a:buNone/>
            </a:pPr>
            <a:r>
              <a:rPr lang="en-US" sz="1600" b="1" dirty="0">
                <a:solidFill>
                  <a:schemeClr val="tx1"/>
                </a:solidFill>
              </a:rPr>
              <a:t>Mass-casualty alarm</a:t>
            </a:r>
            <a:endParaRPr lang="en-US" sz="1600" dirty="0"/>
          </a:p>
        </p:txBody>
      </p:sp>
      <p:sp>
        <p:nvSpPr>
          <p:cNvPr id="14" name="Text 10"/>
          <p:cNvSpPr txBox="1"/>
          <p:nvPr/>
        </p:nvSpPr>
        <p:spPr>
          <a:xfrm>
            <a:off x="3493008" y="2807208"/>
            <a:ext cx="2194560" cy="411480"/>
          </a:xfrm>
          <a:prstGeom prst="rect">
            <a:avLst/>
          </a:prstGeom>
          <a:noFill/>
          <a:ln/>
        </p:spPr>
        <p:txBody>
          <a:bodyPr wrap="square" lIns="0" tIns="0" rIns="0" bIns="0" rtlCol="0" anchor="t"/>
          <a:lstStyle/>
          <a:p>
            <a:pPr indent="0" marL="0">
              <a:buNone/>
            </a:pPr>
            <a:r>
              <a:rPr lang="en-US" sz="1200" i="1" dirty="0">
                <a:solidFill>
                  <a:schemeClr val="accent6"/>
                </a:solidFill>
              </a:rPr>
              <a:t>Emergency Department staff move to posts:</a:t>
            </a:r>
            <a:endParaRPr lang="en-US" sz="1200" dirty="0"/>
          </a:p>
        </p:txBody>
      </p:sp>
      <p:sp>
        <p:nvSpPr>
          <p:cNvPr id="15" name="Text 11"/>
          <p:cNvSpPr txBox="1"/>
          <p:nvPr/>
        </p:nvSpPr>
        <p:spPr>
          <a:xfrm>
            <a:off x="3493008" y="3246120"/>
            <a:ext cx="2240280" cy="1188720"/>
          </a:xfrm>
          <a:prstGeom prst="rect">
            <a:avLst/>
          </a:prstGeom>
          <a:noFill/>
          <a:ln/>
        </p:spPr>
        <p:txBody>
          <a:bodyPr wrap="square" lIns="0" tIns="0" rIns="0" bIns="0" rtlCol="0" anchor="t"/>
          <a:lstStyle/>
          <a:p>
            <a:pPr marL="177800" indent="-177800">
              <a:spcAft>
                <a:spcPts val="200"/>
              </a:spcAft>
              <a:buSzPct val="100000"/>
              <a:buChar char="•"/>
            </a:pPr>
            <a:r>
              <a:rPr lang="en-US" sz="1300" dirty="0">
                <a:solidFill>
                  <a:schemeClr val="tx1"/>
                </a:solidFill>
              </a:rPr>
              <a:t>Anesthesiologist → ED</a:t>
            </a:r>
            <a:endParaRPr lang="en-US" sz="1300" dirty="0"/>
          </a:p>
          <a:p>
            <a:pPr marL="177800" indent="-177800">
              <a:spcAft>
                <a:spcPts val="200"/>
              </a:spcAft>
              <a:buSzPct val="100000"/>
              <a:buChar char="•"/>
            </a:pPr>
            <a:r>
              <a:rPr lang="en-US" sz="1300" dirty="0">
                <a:solidFill>
                  <a:schemeClr val="tx1"/>
                </a:solidFill>
              </a:rPr>
              <a:t>Surgeon → operating room</a:t>
            </a:r>
            <a:endParaRPr lang="en-US" sz="1300" dirty="0"/>
          </a:p>
          <a:p>
            <a:pPr marL="177800" indent="-177800">
              <a:spcAft>
                <a:spcPts val="200"/>
              </a:spcAft>
              <a:buSzPct val="100000"/>
              <a:buChar char="•"/>
            </a:pPr>
            <a:r>
              <a:rPr lang="en-US" sz="1300" dirty="0">
                <a:solidFill>
                  <a:schemeClr val="tx1"/>
                </a:solidFill>
              </a:rPr>
              <a:t>Nurses → triage</a:t>
            </a:r>
            <a:endParaRPr lang="en-US" sz="1300" dirty="0"/>
          </a:p>
          <a:p>
            <a:pPr marL="177800" indent="-177800">
              <a:spcAft>
                <a:spcPts val="200"/>
              </a:spcAft>
              <a:buSzPct val="100000"/>
              <a:buChar char="•"/>
            </a:pPr>
            <a:r>
              <a:rPr lang="en-US" sz="1300" dirty="0">
                <a:solidFill>
                  <a:schemeClr val="tx1"/>
                </a:solidFill>
              </a:rPr>
              <a:t>Radiology tech → imaging</a:t>
            </a:r>
            <a:endParaRPr lang="en-US" sz="1300" dirty="0"/>
          </a:p>
        </p:txBody>
      </p:sp>
      <p:sp>
        <p:nvSpPr>
          <p:cNvPr id="16" name="Mobilization alarm card"/>
          <p:cNvSpPr/>
          <p:nvPr/>
        </p:nvSpPr>
        <p:spPr>
          <a:xfrm>
            <a:off x="6126480" y="1325880"/>
            <a:ext cx="2560320" cy="3200400"/>
          </a:xfrm>
          <a:prstGeom prst="roundRect">
            <a:avLst>
              <a:gd name="adj" fmla="val 3571"/>
            </a:avLst>
          </a:prstGeom>
          <a:solidFill>
            <a:schemeClr val="bg2"/>
          </a:solidFill>
          <a:ln/>
        </p:spPr>
      </p:sp>
      <p:pic>
        <p:nvPicPr>
          <p:cNvPr id="17" name="MIL · ARMED FORCES logo" descr="Siren MIL · ARMED FORCES">    </p:cNvPr>
          <p:cNvPicPr>
            <a:picLocks noChangeAspect="1"/>
          </p:cNvPicPr>
          <p:nvPr/>
        </p:nvPicPr>
        <p:blipFill>
          <a:blip r:embed="rId3"/>
          <a:stretch>
            <a:fillRect/>
          </a:stretch>
        </p:blipFill>
        <p:spPr>
          <a:xfrm>
            <a:off x="6327648" y="1463040"/>
            <a:ext cx="850947" cy="685800"/>
          </a:xfrm>
          <a:prstGeom prst="rect">
            <a:avLst/>
          </a:prstGeom>
        </p:spPr>
      </p:pic>
      <p:sp>
        <p:nvSpPr>
          <p:cNvPr id="18" name="Text 13"/>
          <p:cNvSpPr txBox="1"/>
          <p:nvPr/>
        </p:nvSpPr>
        <p:spPr>
          <a:xfrm>
            <a:off x="6327648" y="2240280"/>
            <a:ext cx="2194560" cy="228600"/>
          </a:xfrm>
          <a:prstGeom prst="rect">
            <a:avLst/>
          </a:prstGeom>
          <a:noFill/>
          <a:ln/>
        </p:spPr>
        <p:txBody>
          <a:bodyPr wrap="square" lIns="0" tIns="0" rIns="0" bIns="0" rtlCol="0" anchor="t"/>
          <a:lstStyle/>
          <a:p>
            <a:pPr indent="0" marL="0">
              <a:buNone/>
            </a:pPr>
            <a:r>
              <a:rPr lang="en-US" sz="1000" b="1" spc="100" kern="0" dirty="0">
                <a:solidFill>
                  <a:schemeClr val="accent3"/>
                </a:solidFill>
              </a:rPr>
              <a:t>MIL · ARMED FORCES</a:t>
            </a:r>
            <a:endParaRPr lang="en-US" sz="1000" dirty="0"/>
          </a:p>
        </p:txBody>
      </p:sp>
      <p:sp>
        <p:nvSpPr>
          <p:cNvPr id="19" name="Text 14"/>
          <p:cNvSpPr txBox="1"/>
          <p:nvPr/>
        </p:nvSpPr>
        <p:spPr>
          <a:xfrm>
            <a:off x="6327648" y="2468880"/>
            <a:ext cx="2194560" cy="320040"/>
          </a:xfrm>
          <a:prstGeom prst="rect">
            <a:avLst/>
          </a:prstGeom>
          <a:noFill/>
          <a:ln/>
        </p:spPr>
        <p:txBody>
          <a:bodyPr wrap="square" lIns="0" tIns="0" rIns="0" bIns="0" rtlCol="0" anchor="t"/>
          <a:lstStyle/>
          <a:p>
            <a:pPr indent="0" marL="0">
              <a:buNone/>
            </a:pPr>
            <a:r>
              <a:rPr lang="en-US" sz="1600" b="1" dirty="0">
                <a:solidFill>
                  <a:schemeClr val="tx1"/>
                </a:solidFill>
              </a:rPr>
              <a:t>Mobilization alarm</a:t>
            </a:r>
            <a:endParaRPr lang="en-US" sz="1600" dirty="0"/>
          </a:p>
        </p:txBody>
      </p:sp>
      <p:sp>
        <p:nvSpPr>
          <p:cNvPr id="20" name="Text 15"/>
          <p:cNvSpPr txBox="1"/>
          <p:nvPr/>
        </p:nvSpPr>
        <p:spPr>
          <a:xfrm>
            <a:off x="6327648" y="2807208"/>
            <a:ext cx="2194560" cy="411480"/>
          </a:xfrm>
          <a:prstGeom prst="rect">
            <a:avLst/>
          </a:prstGeom>
          <a:noFill/>
          <a:ln/>
        </p:spPr>
        <p:txBody>
          <a:bodyPr wrap="square" lIns="0" tIns="0" rIns="0" bIns="0" rtlCol="0" anchor="t"/>
          <a:lstStyle/>
          <a:p>
            <a:pPr indent="0" marL="0">
              <a:buNone/>
            </a:pPr>
            <a:r>
              <a:rPr lang="en-US" sz="1200" i="1" dirty="0">
                <a:solidFill>
                  <a:schemeClr val="accent6"/>
                </a:solidFill>
              </a:rPr>
              <a:t>Replaces paper instructions for each soldier:</a:t>
            </a:r>
            <a:endParaRPr lang="en-US" sz="1200" dirty="0"/>
          </a:p>
        </p:txBody>
      </p:sp>
      <p:sp>
        <p:nvSpPr>
          <p:cNvPr id="21" name="Text 16"/>
          <p:cNvSpPr txBox="1"/>
          <p:nvPr/>
        </p:nvSpPr>
        <p:spPr>
          <a:xfrm>
            <a:off x="6327648" y="3246120"/>
            <a:ext cx="2240280" cy="1188720"/>
          </a:xfrm>
          <a:prstGeom prst="rect">
            <a:avLst/>
          </a:prstGeom>
          <a:noFill/>
          <a:ln/>
        </p:spPr>
        <p:txBody>
          <a:bodyPr wrap="square" lIns="0" tIns="0" rIns="0" bIns="0" rtlCol="0" anchor="t"/>
          <a:lstStyle/>
          <a:p>
            <a:pPr marL="177800" indent="-177800">
              <a:spcAft>
                <a:spcPts val="200"/>
              </a:spcAft>
              <a:buSzPct val="100000"/>
              <a:buChar char="•"/>
            </a:pPr>
            <a:r>
              <a:rPr lang="en-US" sz="1300" dirty="0">
                <a:solidFill>
                  <a:schemeClr val="tx1"/>
                </a:solidFill>
              </a:rPr>
              <a:t>Collect equipment and ammo at the store</a:t>
            </a:r>
            <a:endParaRPr lang="en-US" sz="1300" dirty="0"/>
          </a:p>
          <a:p>
            <a:pPr marL="177800" indent="-177800">
              <a:spcAft>
                <a:spcPts val="200"/>
              </a:spcAft>
              <a:buSzPct val="100000"/>
              <a:buChar char="•"/>
            </a:pPr>
            <a:r>
              <a:rPr lang="en-US" sz="1300" dirty="0">
                <a:solidFill>
                  <a:schemeClr val="tx1"/>
                </a:solidFill>
              </a:rPr>
              <a:t>Take up guard position at the bunker</a:t>
            </a:r>
            <a:endParaRPr lang="en-US" sz="1300" dirty="0"/>
          </a:p>
        </p:txBody>
      </p:sp>
      <p:sp>
        <p:nvSpPr>
          <p:cNvPr id="25" name="Slide Number Placeholder 0"/>
          <p:cNvSpPr>
            <a:spLocks noGrp="1"/>
          </p:cNvSpPr>
          <p:nvPr>
            <p:ph type="sldNum" sz="quarter" idx="4294967295"/>
          </p:nvPr>
        </p:nvSpPr>
        <p:spPr>
          <a:xfrm>
            <a:off x="8138160" y="472744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wave ring 1"/>
          <p:cNvSpPr/>
          <p:nvPr/>
        </p:nvSpPr>
        <p:spPr>
          <a:xfrm>
            <a:off x="502920" y="914400"/>
            <a:ext cx="3200400" cy="3200400"/>
          </a:xfrm>
          <a:prstGeom prst="ellipse">
            <a:avLst/>
          </a:prstGeom>
          <a:ln w="15875">
            <a:solidFill>
              <a:srgbClr val="D7262E">
                <a:alpha val="30000"/>
              </a:srgbClr>
            </a:solidFill>
            <a:prstDash val="solid"/>
          </a:ln>
        </p:spPr>
      </p:sp>
      <p:sp>
        <p:nvSpPr>
          <p:cNvPr id="3" name="wave ring 2"/>
          <p:cNvSpPr/>
          <p:nvPr/>
        </p:nvSpPr>
        <p:spPr>
          <a:xfrm>
            <a:off x="-45720" y="365760"/>
            <a:ext cx="4297680" cy="4297680"/>
          </a:xfrm>
          <a:prstGeom prst="ellipse">
            <a:avLst/>
          </a:prstGeom>
          <a:ln w="15875">
            <a:solidFill>
              <a:srgbClr val="D7262E">
                <a:alpha val="24000"/>
              </a:srgbClr>
            </a:solidFill>
            <a:prstDash val="solid"/>
          </a:ln>
        </p:spPr>
      </p:sp>
      <p:sp>
        <p:nvSpPr>
          <p:cNvPr id="4" name="wave ring 3"/>
          <p:cNvSpPr/>
          <p:nvPr/>
        </p:nvSpPr>
        <p:spPr>
          <a:xfrm>
            <a:off x="-594360" y="-182880"/>
            <a:ext cx="5394960" cy="5394960"/>
          </a:xfrm>
          <a:prstGeom prst="ellipse">
            <a:avLst/>
          </a:prstGeom>
          <a:ln w="15875">
            <a:solidFill>
              <a:srgbClr val="D7262E">
                <a:alpha val="18000"/>
              </a:srgbClr>
            </a:solidFill>
            <a:prstDash val="solid"/>
          </a:ln>
        </p:spPr>
      </p:sp>
      <p:pic>
        <p:nvPicPr>
          <p:cNvPr id="5" name="Siren logo" descr="Siren logo">    </p:cNvPr>
          <p:cNvPicPr>
            <a:picLocks noChangeAspect="1"/>
          </p:cNvPicPr>
          <p:nvPr/>
        </p:nvPicPr>
        <p:blipFill>
          <a:blip r:embed="rId1"/>
          <a:stretch>
            <a:fillRect/>
          </a:stretch>
        </p:blipFill>
        <p:spPr>
          <a:xfrm>
            <a:off x="914400" y="1417320"/>
            <a:ext cx="2377440" cy="2197935"/>
          </a:xfrm>
          <a:prstGeom prst="rect">
            <a:avLst/>
          </a:prstGeom>
        </p:spPr>
      </p:pic>
      <p:sp>
        <p:nvSpPr>
          <p:cNvPr id="6" name="Text 0"/>
          <p:cNvSpPr/>
          <p:nvPr>
            <p:ph idx="100" type="title" hasCustomPrompt="1"/>
          </p:nvPr>
        </p:nvSpPr>
        <p:spPr>
          <a:xfrm>
            <a:off x="4023360" y="548640"/>
            <a:ext cx="4754880" cy="548640"/>
          </a:xfrm>
          <a:prstGeom prst="rect">
            <a:avLst/>
          </a:prstGeom>
          <a:noFill/>
          <a:ln/>
        </p:spPr>
        <p:txBody>
          <a:bodyPr wrap="square" lIns="0" tIns="0" rIns="0" bIns="0" rtlCol="0" anchor="ctr"/>
          <a:lstStyle/>
          <a:p>
            <a:pPr algn="l" indent="0" marL="0">
              <a:buNone/>
            </a:pPr>
            <a:r>
              <a:rPr lang="en-US" sz="2400" b="1" dirty="0">
                <a:solidFill>
                  <a:schemeClr val="bg1"/>
                </a:solidFill>
                <a:latin typeface="Arial" pitchFamily="34" charset="0"/>
                <a:ea typeface="Arial" pitchFamily="34" charset="-122"/>
                <a:cs typeface="Arial" pitchFamily="34" charset="-120"/>
              </a:rPr>
              <a:t>Siren — From Alarm to Action</a:t>
            </a:r>
            <a:endParaRPr lang="en-US" sz="2400" dirty="0"/>
          </a:p>
        </p:txBody>
      </p:sp>
      <p:sp>
        <p:nvSpPr>
          <p:cNvPr id="7" name="Text 4"/>
          <p:cNvSpPr txBox="1"/>
          <p:nvPr/>
        </p:nvSpPr>
        <p:spPr>
          <a:xfrm>
            <a:off x="4023360" y="1188720"/>
            <a:ext cx="4572000" cy="548640"/>
          </a:xfrm>
          <a:prstGeom prst="rect">
            <a:avLst/>
          </a:prstGeom>
          <a:noFill/>
          <a:ln/>
        </p:spPr>
        <p:txBody>
          <a:bodyPr wrap="square" lIns="0" tIns="0" rIns="0" bIns="0" rtlCol="0" anchor="t"/>
          <a:lstStyle/>
          <a:p>
            <a:pPr indent="0" marL="0">
              <a:buNone/>
            </a:pPr>
            <a:r>
              <a:rPr lang="en-US" sz="1600" dirty="0">
                <a:solidFill>
                  <a:schemeClr val="bg2"/>
                </a:solidFill>
              </a:rPr>
              <a:t>When the alarm comes, there is no time to think. Siren tells people:</a:t>
            </a:r>
            <a:endParaRPr lang="en-US" sz="1600" dirty="0"/>
          </a:p>
        </p:txBody>
      </p:sp>
      <p:sp>
        <p:nvSpPr>
          <p:cNvPr id="8" name="Text 5"/>
          <p:cNvSpPr txBox="1"/>
          <p:nvPr/>
        </p:nvSpPr>
        <p:spPr>
          <a:xfrm>
            <a:off x="4023360" y="1828800"/>
            <a:ext cx="4663440" cy="54864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WHERE TO GO.</a:t>
            </a:r>
            <a:endParaRPr lang="en-US" sz="3200" dirty="0"/>
          </a:p>
        </p:txBody>
      </p:sp>
      <p:sp>
        <p:nvSpPr>
          <p:cNvPr id="9" name="Text 6"/>
          <p:cNvSpPr txBox="1"/>
          <p:nvPr/>
        </p:nvSpPr>
        <p:spPr>
          <a:xfrm>
            <a:off x="4023360" y="2377440"/>
            <a:ext cx="4663440" cy="548640"/>
          </a:xfrm>
          <a:prstGeom prst="rect">
            <a:avLst/>
          </a:prstGeom>
          <a:noFill/>
          <a:ln/>
        </p:spPr>
        <p:txBody>
          <a:bodyPr wrap="square" lIns="0" tIns="0" rIns="0" bIns="0" rtlCol="0" anchor="t"/>
          <a:lstStyle/>
          <a:p>
            <a:pPr indent="0" marL="0">
              <a:buNone/>
            </a:pPr>
            <a:r>
              <a:rPr lang="en-US" sz="3200" b="1" dirty="0">
                <a:solidFill>
                  <a:schemeClr val="accent1"/>
                </a:solidFill>
                <a:latin typeface="Arial" pitchFamily="34" charset="0"/>
                <a:ea typeface="Arial" pitchFamily="34" charset="-122"/>
                <a:cs typeface="Arial" pitchFamily="34" charset="-120"/>
              </a:rPr>
              <a:t>WHAT TO DO.</a:t>
            </a:r>
            <a:endParaRPr lang="en-US" sz="3200" dirty="0"/>
          </a:p>
        </p:txBody>
      </p:sp>
      <p:pic>
        <p:nvPicPr>
          <p:cNvPr id="10" name="Offline-ready icon" descr="Offline-ready">    </p:cNvPr>
          <p:cNvPicPr>
            <a:picLocks noChangeAspect="1"/>
          </p:cNvPicPr>
          <p:nvPr/>
        </p:nvPicPr>
        <p:blipFill>
          <a:blip r:embed="rId2"/>
          <a:stretch>
            <a:fillRect/>
          </a:stretch>
        </p:blipFill>
        <p:spPr>
          <a:xfrm>
            <a:off x="4023360" y="3246120"/>
            <a:ext cx="219456" cy="219456"/>
          </a:xfrm>
          <a:prstGeom prst="rect">
            <a:avLst/>
          </a:prstGeom>
        </p:spPr>
      </p:pic>
      <p:sp>
        <p:nvSpPr>
          <p:cNvPr id="11" name="Text 7"/>
          <p:cNvSpPr txBox="1"/>
          <p:nvPr/>
        </p:nvSpPr>
        <p:spPr>
          <a:xfrm>
            <a:off x="4389120" y="3200400"/>
            <a:ext cx="2743200" cy="310896"/>
          </a:xfrm>
          <a:prstGeom prst="rect">
            <a:avLst/>
          </a:prstGeom>
          <a:noFill/>
          <a:ln/>
        </p:spPr>
        <p:txBody>
          <a:bodyPr wrap="square" lIns="0" tIns="0" rIns="0" bIns="0" rtlCol="0" anchor="ctr"/>
          <a:lstStyle/>
          <a:p>
            <a:pPr indent="0" marL="0">
              <a:buNone/>
            </a:pPr>
            <a:r>
              <a:rPr lang="en-US" sz="1500" dirty="0">
                <a:solidFill>
                  <a:schemeClr val="bg1"/>
                </a:solidFill>
              </a:rPr>
              <a:t>Offline-ready</a:t>
            </a:r>
            <a:endParaRPr lang="en-US" sz="1500" dirty="0"/>
          </a:p>
        </p:txBody>
      </p:sp>
      <p:pic>
        <p:nvPicPr>
          <p:cNvPr id="12" name="Medium-independent icon" descr="Medium-independent">    </p:cNvPr>
          <p:cNvPicPr>
            <a:picLocks noChangeAspect="1"/>
          </p:cNvPicPr>
          <p:nvPr/>
        </p:nvPicPr>
        <p:blipFill>
          <a:blip r:embed="rId3"/>
          <a:stretch>
            <a:fillRect/>
          </a:stretch>
        </p:blipFill>
        <p:spPr>
          <a:xfrm>
            <a:off x="4023360" y="3630168"/>
            <a:ext cx="219456" cy="219456"/>
          </a:xfrm>
          <a:prstGeom prst="rect">
            <a:avLst/>
          </a:prstGeom>
        </p:spPr>
      </p:pic>
      <p:sp>
        <p:nvSpPr>
          <p:cNvPr id="13" name="Text 8"/>
          <p:cNvSpPr txBox="1"/>
          <p:nvPr/>
        </p:nvSpPr>
        <p:spPr>
          <a:xfrm>
            <a:off x="4389120" y="3584448"/>
            <a:ext cx="2743200" cy="310896"/>
          </a:xfrm>
          <a:prstGeom prst="rect">
            <a:avLst/>
          </a:prstGeom>
          <a:noFill/>
          <a:ln/>
        </p:spPr>
        <p:txBody>
          <a:bodyPr wrap="square" lIns="0" tIns="0" rIns="0" bIns="0" rtlCol="0" anchor="ctr"/>
          <a:lstStyle/>
          <a:p>
            <a:pPr indent="0" marL="0">
              <a:buNone/>
            </a:pPr>
            <a:r>
              <a:rPr lang="en-US" sz="1500" dirty="0">
                <a:solidFill>
                  <a:schemeClr val="bg1"/>
                </a:solidFill>
              </a:rPr>
              <a:t>Medium-independent</a:t>
            </a:r>
            <a:endParaRPr lang="en-US" sz="1500" dirty="0"/>
          </a:p>
        </p:txBody>
      </p:sp>
      <p:pic>
        <p:nvPicPr>
          <p:cNvPr id="14" name="Signed alarms icon" descr="Signed alarms">    </p:cNvPr>
          <p:cNvPicPr>
            <a:picLocks noChangeAspect="1"/>
          </p:cNvPicPr>
          <p:nvPr/>
        </p:nvPicPr>
        <p:blipFill>
          <a:blip r:embed="rId4"/>
          <a:stretch>
            <a:fillRect/>
          </a:stretch>
        </p:blipFill>
        <p:spPr>
          <a:xfrm>
            <a:off x="4023360" y="4014216"/>
            <a:ext cx="219456" cy="219456"/>
          </a:xfrm>
          <a:prstGeom prst="rect">
            <a:avLst/>
          </a:prstGeom>
        </p:spPr>
      </p:pic>
      <p:sp>
        <p:nvSpPr>
          <p:cNvPr id="15" name="Text 9"/>
          <p:cNvSpPr txBox="1"/>
          <p:nvPr/>
        </p:nvSpPr>
        <p:spPr>
          <a:xfrm>
            <a:off x="4389120" y="3968496"/>
            <a:ext cx="2743200" cy="310896"/>
          </a:xfrm>
          <a:prstGeom prst="rect">
            <a:avLst/>
          </a:prstGeom>
          <a:noFill/>
          <a:ln/>
        </p:spPr>
        <p:txBody>
          <a:bodyPr wrap="square" lIns="0" tIns="0" rIns="0" bIns="0" rtlCol="0" anchor="ctr"/>
          <a:lstStyle/>
          <a:p>
            <a:pPr indent="0" marL="0">
              <a:buNone/>
            </a:pPr>
            <a:r>
              <a:rPr lang="en-US" sz="1500" dirty="0">
                <a:solidFill>
                  <a:schemeClr val="bg1"/>
                </a:solidFill>
              </a:rPr>
              <a:t>Signed alarms</a:t>
            </a:r>
            <a:endParaRPr lang="en-US" sz="1500" dirty="0"/>
          </a:p>
        </p:txBody>
      </p:sp>
      <p:sp>
        <p:nvSpPr>
          <p:cNvPr id="16" name="Text 10"/>
          <p:cNvSpPr txBox="1"/>
          <p:nvPr/>
        </p:nvSpPr>
        <p:spPr>
          <a:xfrm>
            <a:off x="4023360" y="4434840"/>
            <a:ext cx="4663440" cy="320040"/>
          </a:xfrm>
          <a:prstGeom prst="rect">
            <a:avLst/>
          </a:prstGeom>
          <a:noFill/>
          <a:ln/>
        </p:spPr>
        <p:txBody>
          <a:bodyPr wrap="square" lIns="0" tIns="0" rIns="0" bIns="0" rtlCol="0" anchor="t"/>
          <a:lstStyle/>
          <a:p>
            <a:pPr indent="0" marL="0">
              <a:buNone/>
            </a:pPr>
            <a:r>
              <a:rPr lang="en-US" sz="1400" i="1" dirty="0">
                <a:solidFill>
                  <a:schemeClr val="bg2"/>
                </a:solidFill>
              </a:rPr>
              <a:t>Thank you — questions?</a:t>
            </a:r>
            <a:endParaRPr lang="en-US" sz="1400" dirty="0"/>
          </a:p>
        </p:txBody>
      </p:sp>
    </p:spTree>
  </p:cSld>
  <p:clrMapOvr>
    <a:masterClrMapping/>
  </p:clrMapOvr>
</p:sld>
</file>

<file path=ppt/theme/theme1.xml><?xml version="1.0" encoding="utf-8"?>
<a:theme xmlns:a="http://schemas.openxmlformats.org/drawingml/2006/main" name="Siren">
  <a:themeElements>
    <a:clrScheme name="Siren">
      <a:dk1>
        <a:srgbClr val="1B2230"/>
      </a:dk1>
      <a:lt1>
        <a:srgbClr val="FFFFFF"/>
      </a:lt1>
      <a:dk2>
        <a:srgbClr val="0F1724"/>
      </a:dk2>
      <a:lt2>
        <a:srgbClr val="F2F4F7"/>
      </a:lt2>
      <a:accent1>
        <a:srgbClr val="D7262E"/>
      </a:accent1>
      <a:accent2>
        <a:srgbClr val="1F6FD1"/>
      </a:accent2>
      <a:accent3>
        <a:srgbClr val="6B7A2E"/>
      </a:accent3>
      <a:accent4>
        <a:srgbClr val="2E9E5B"/>
      </a:accent4>
      <a:accent5>
        <a:srgbClr val="E8A317"/>
      </a:accent5>
      <a:accent6>
        <a:srgbClr val="5B6575"/>
      </a:accent6>
      <a:hlink>
        <a:srgbClr val="1F6FD1"/>
      </a:hlink>
      <a:folHlink>
        <a:srgbClr val="6B7A2E"/>
      </a:folHlink>
    </a:clrScheme>
    <a:fontScheme name="Sire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Siren — Task Dispatching System During Emergencies</dc:title>
  <dc:subject>PptxGenJS Presentation</dc:subject>
  <dc:creator>Siren team</dc:creator>
  <cp:lastModifiedBy>Siren team</cp:lastModifiedBy>
  <cp:revision>1</cp:revision>
  <dcterms:created xsi:type="dcterms:W3CDTF">2026-10-03T16:02:32Z</dcterms:created>
  <dcterms:modified xsi:type="dcterms:W3CDTF">2026-10-03T16:02:32Z</dcterms:modified>
</cp:coreProperties>
</file>