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3" r:id="rId4"/>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77aeb46271d10d73_1_35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h77aeb46271d10d73_1_35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l"/>
              <a:t>Hi, we are the Siren team. Siren — in Polish 'Wyjec' — is a task dispatching system for emergencies. One sentence to remember: when the alarm sounds, Siren tells every person where to go and what to do. In the next few minutes: the problem, how Siren works, why it keeps working when networks fail, and where it can be used.</a:t>
            </a:r>
            <a:endParaRPr/>
          </a:p>
        </p:txBody>
      </p:sp>
      <p:sp>
        <p:nvSpPr>
          <p:cNvPr id="65" name="Google Shape;65;h77aeb46271d10d73_1_35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77aeb46271d10d73_1_36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h77aeb46271d10d73_1_36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l"/>
              <a:t>Think about the first minutes of an emergency. The plans exist — but they are in binders nobody opens under stress. Phone trees break the moment networks are overloaded. And whoever is in charge has no idea who actually received the order. The old rule is simple: everyone must know where to go and what to do. Siren brings that rule into the digital age.</a:t>
            </a:r>
            <a:endParaRPr/>
          </a:p>
        </p:txBody>
      </p:sp>
      <p:sp>
        <p:nvSpPr>
          <p:cNvPr id="77" name="Google Shape;77;h77aeb46271d10d73_1_36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77aeb46271d10d73_1_38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h77aeb46271d10d73_1_38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l"/>
              <a:t>Siren is a flexible system for distributing tasks in emergencies. On a normal day it is simply a pocket library: every emergency procedure in one app. But the moment an alarm is raised, the app transforms. It stops being a library and becomes an interactive to-do list — only the tasks this person must do, in order. Here: a school principal during an air raid alarm, ticking off tasks as they go.</a:t>
            </a:r>
            <a:endParaRPr/>
          </a:p>
        </p:txBody>
      </p:sp>
      <p:sp>
        <p:nvSpPr>
          <p:cNvPr id="89" name="Google Shape;89;h77aeb46271d10d73_1_38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77aeb46271d10d73_1_43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h77aeb46271d10d73_1_43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l"/>
              <a:t>The model is deliberately simple. An alarm triggers a scenario — a response plan prepared in advance. The scenario contains task groups. Each task group is assigned to a specific person at a specific location. So nobody receives a generic broadcast: each person gets exactly their own tasks, at the place where they need to act.</a:t>
            </a:r>
            <a:endParaRPr/>
          </a:p>
        </p:txBody>
      </p:sp>
      <p:sp>
        <p:nvSpPr>
          <p:cNvPr id="106" name="Google Shape;106;h77aeb46271d10d73_1_43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h77aeb46271d10d73_1_49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h77aeb46271d10d73_1_49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l"/>
              <a:t>Siren is ready before anything happens. Scenarios — together with the cryptographic keys needed for alarms — are distributed to devices periodically and stored offline. So when the alarm comes, the plan is already on the phone. Nobody searches for a procedure: zero seconds lost.</a:t>
            </a:r>
            <a:endParaRPr/>
          </a:p>
        </p:txBody>
      </p:sp>
      <p:sp>
        <p:nvSpPr>
          <p:cNvPr id="138" name="Google Shape;138;h77aeb46271d10d73_1_49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77aeb46271d10d73_1_51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h77aeb46271d10d73_1_51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l"/>
              <a:t>The second pillar: Siren does not rely on one communication channel. The alarm itself is a small signed message. Every device that receives a valid alarm repeats it to devices in reach — over radio, Bluetooth, pager networks, mesh networks or the Internet, and the medium may change between hops. The central server is optional for delivery: an alarm can reach people before it reaches the server, or with no server at all.</a:t>
            </a:r>
            <a:endParaRPr/>
          </a:p>
        </p:txBody>
      </p:sp>
      <p:sp>
        <p:nvSpPr>
          <p:cNvPr id="160" name="Google Shape;160;h77aeb46271d10d73_1_51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h77aeb46271d10d73_1_57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h77aeb46271d10d73_1_57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l"/>
              <a:t>If anyone can forward an alarm, how do we stop fake ones? Siren uses two separate mechanisms. The server-to-app channel uses individual, per-device credentials — like pre-shared keys in a VPN — for scenario updates, new keys and status reports. Alarms use asymmetric cryptography: only authorized controllers hold the private key to raise or cancel an alarm; every device holds the public key and verifies each message before accepting it. Timestamps and identifiers are signed too, as the basis for replay protection. The principle: an alarm is trusted because of its signature — not because of the server or the channel it came through.</a:t>
            </a:r>
            <a:endParaRPr/>
          </a:p>
        </p:txBody>
      </p:sp>
      <p:sp>
        <p:nvSpPr>
          <p:cNvPr id="215" name="Google Shape;215;h77aeb46271d10d73_1_57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h77aeb46271d10d73_1_5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h77aeb46271d10d73_1_59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l"/>
              <a:t>For the people in charge, Siren closes the loop. During an active alarm, devices report back — whenever an online path is available — who received the alarm, where people are, and how far each task has progressed. The administrator sees it all on a live map: green is done, amber is in progress, red has not replied. Location sharing is limited to what the response needs, with access and retention defined by the deploying organization.</a:t>
            </a:r>
            <a:endParaRPr/>
          </a:p>
        </p:txBody>
      </p:sp>
      <p:sp>
        <p:nvSpPr>
          <p:cNvPr id="238" name="Google Shape;238;h77aeb46271d10d73_1_59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h77aeb46271d10d73_1_63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h77aeb46271d10d73_1_63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l"/>
              <a:t>The same engine serves three domains. Civil: during an air raid alarm, a school principal is told to go to the school, open the building and the shelter, and put up the required signs. Medical: a mass-casualty alarm sends the anesthesiologist to the ED, the surgeon to the operating room, nurses to triage and radiology to imaging. Military: on mobilization, each soldier gets digital orders instead of paper — collect equipment and ammunition, then take a guard position at the designated bunker. The scenario changes; the coordination principle stays the same.</a:t>
            </a:r>
            <a:endParaRPr/>
          </a:p>
        </p:txBody>
      </p:sp>
      <p:sp>
        <p:nvSpPr>
          <p:cNvPr id="257" name="Google Shape;257;h77aeb46271d10d73_1_63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h77aeb46271d10d73_1_66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h77aeb46271d10d73_1_66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l"/>
              <a:t>To sum up: when the alarm comes, there is no time to think. Siren tells people where to go and what to do. It is ready offline, it does not depend on any single communication channel, and every alarm is signed, so it can be trusted wherever it came from. Siren — from alarm to action. Thank you, we are happy to take your questions.</a:t>
            </a:r>
            <a:endParaRPr/>
          </a:p>
        </p:txBody>
      </p:sp>
      <p:sp>
        <p:nvSpPr>
          <p:cNvPr id="283" name="Google Shape;283;h77aeb46271d10d73_1_66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chemeClr val="dk2"/>
        </a:solidFill>
      </p:bgPr>
    </p:bg>
    <p:spTree>
      <p:nvGrpSpPr>
        <p:cNvPr id="52" name="Shape 52"/>
        <p:cNvGrpSpPr/>
        <p:nvPr/>
      </p:nvGrpSpPr>
      <p:grpSpPr>
        <a:xfrm>
          <a:off x="0" y="0"/>
          <a:ext cx="0" cy="0"/>
          <a:chOff x="0" y="0"/>
          <a:chExt cx="0" cy="0"/>
        </a:xfrm>
      </p:grpSpPr>
      <p:sp>
        <p:nvSpPr>
          <p:cNvPr id="53" name="Google Shape;53;p14"/>
          <p:cNvSpPr txBox="1"/>
          <p:nvPr>
            <p:ph type="title"/>
          </p:nvPr>
        </p:nvSpPr>
        <p:spPr>
          <a:xfrm>
            <a:off x="4023360" y="1143000"/>
            <a:ext cx="4663500" cy="11886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Clr>
                <a:schemeClr val="lt1"/>
              </a:buClr>
              <a:buSzPts val="3000"/>
              <a:buFont typeface="Arial"/>
              <a:buNone/>
              <a:defRPr b="1" i="0" sz="30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54" name="Shape 54"/>
        <p:cNvGrpSpPr/>
        <p:nvPr/>
      </p:nvGrpSpPr>
      <p:grpSpPr>
        <a:xfrm>
          <a:off x="0" y="0"/>
          <a:ext cx="0" cy="0"/>
          <a:chOff x="0" y="0"/>
          <a:chExt cx="0" cy="0"/>
        </a:xfrm>
      </p:grpSpPr>
      <p:sp>
        <p:nvSpPr>
          <p:cNvPr id="55" name="Google Shape;55;p15"/>
          <p:cNvSpPr txBox="1"/>
          <p:nvPr>
            <p:ph type="title"/>
          </p:nvPr>
        </p:nvSpPr>
        <p:spPr>
          <a:xfrm>
            <a:off x="457200" y="274320"/>
            <a:ext cx="8229600" cy="5943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Clr>
                <a:schemeClr val="dk1"/>
              </a:buClr>
              <a:buSzPts val="2800"/>
              <a:buFont typeface="Arial"/>
              <a:buNone/>
              <a:defRPr b="1" i="0" sz="28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descr="logo0.png" id="56" name="Google Shape;56;p15"/>
          <p:cNvPicPr preferRelativeResize="0"/>
          <p:nvPr/>
        </p:nvPicPr>
        <p:blipFill rotWithShape="1">
          <a:blip r:embed="rId2">
            <a:alphaModFix/>
          </a:blip>
          <a:srcRect b="0" l="0" r="0" t="0"/>
          <a:stretch/>
        </p:blipFill>
        <p:spPr>
          <a:xfrm>
            <a:off x="457200" y="4727448"/>
            <a:ext cx="246889" cy="228600"/>
          </a:xfrm>
          <a:prstGeom prst="rect">
            <a:avLst/>
          </a:prstGeom>
          <a:noFill/>
          <a:ln>
            <a:noFill/>
          </a:ln>
        </p:spPr>
      </p:pic>
      <p:sp>
        <p:nvSpPr>
          <p:cNvPr id="57" name="Google Shape;57;p15"/>
          <p:cNvSpPr/>
          <p:nvPr/>
        </p:nvSpPr>
        <p:spPr>
          <a:xfrm>
            <a:off x="758952" y="4727448"/>
            <a:ext cx="137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000"/>
              <a:buFont typeface="Arial"/>
              <a:buNone/>
            </a:pPr>
            <a:r>
              <a:rPr b="1" i="0" lang="pl" sz="1000" u="none" cap="none" strike="noStrike">
                <a:solidFill>
                  <a:schemeClr val="accent6"/>
                </a:solidFill>
                <a:latin typeface="Arial"/>
                <a:ea typeface="Arial"/>
                <a:cs typeface="Arial"/>
                <a:sym typeface="Arial"/>
              </a:rPr>
              <a:t>SIREN</a:t>
            </a:r>
            <a:endParaRPr b="0" i="0" sz="1000" u="none" cap="none" strike="noStrike">
              <a:solidFill>
                <a:schemeClr val="dk1"/>
              </a:solidFill>
              <a:latin typeface="Calibri"/>
              <a:ea typeface="Calibri"/>
              <a:cs typeface="Calibri"/>
              <a:sym typeface="Calibri"/>
            </a:endParaRPr>
          </a:p>
        </p:txBody>
      </p:sp>
      <p:sp>
        <p:nvSpPr>
          <p:cNvPr id="58" name="Google Shape;58;p15"/>
          <p:cNvSpPr txBox="1"/>
          <p:nvPr>
            <p:ph idx="12" type="sldNum"/>
          </p:nvPr>
        </p:nvSpPr>
        <p:spPr>
          <a:xfrm>
            <a:off x="8138160" y="4727448"/>
            <a:ext cx="548700" cy="2286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6"/>
                </a:solidFill>
                <a:latin typeface="Calibri"/>
                <a:ea typeface="Calibri"/>
                <a:cs typeface="Calibri"/>
                <a:sym typeface="Calibri"/>
              </a:defRPr>
            </a:lvl1pPr>
            <a:lvl2pPr indent="0" lvl="1" marL="0" marR="0" algn="r">
              <a:spcBef>
                <a:spcPts val="0"/>
              </a:spcBef>
              <a:buNone/>
              <a:defRPr b="0" i="0" sz="1000" u="none" cap="none" strike="noStrike">
                <a:solidFill>
                  <a:schemeClr val="accent6"/>
                </a:solidFill>
                <a:latin typeface="Calibri"/>
                <a:ea typeface="Calibri"/>
                <a:cs typeface="Calibri"/>
                <a:sym typeface="Calibri"/>
              </a:defRPr>
            </a:lvl2pPr>
            <a:lvl3pPr indent="0" lvl="2" marL="0" marR="0" algn="r">
              <a:spcBef>
                <a:spcPts val="0"/>
              </a:spcBef>
              <a:buNone/>
              <a:defRPr b="0" i="0" sz="1000" u="none" cap="none" strike="noStrike">
                <a:solidFill>
                  <a:schemeClr val="accent6"/>
                </a:solidFill>
                <a:latin typeface="Calibri"/>
                <a:ea typeface="Calibri"/>
                <a:cs typeface="Calibri"/>
                <a:sym typeface="Calibri"/>
              </a:defRPr>
            </a:lvl3pPr>
            <a:lvl4pPr indent="0" lvl="3" marL="0" marR="0" algn="r">
              <a:spcBef>
                <a:spcPts val="0"/>
              </a:spcBef>
              <a:buNone/>
              <a:defRPr b="0" i="0" sz="1000" u="none" cap="none" strike="noStrike">
                <a:solidFill>
                  <a:schemeClr val="accent6"/>
                </a:solidFill>
                <a:latin typeface="Calibri"/>
                <a:ea typeface="Calibri"/>
                <a:cs typeface="Calibri"/>
                <a:sym typeface="Calibri"/>
              </a:defRPr>
            </a:lvl4pPr>
            <a:lvl5pPr indent="0" lvl="4" marL="0" marR="0" algn="r">
              <a:spcBef>
                <a:spcPts val="0"/>
              </a:spcBef>
              <a:buNone/>
              <a:defRPr b="0" i="0" sz="1000" u="none" cap="none" strike="noStrike">
                <a:solidFill>
                  <a:schemeClr val="accent6"/>
                </a:solidFill>
                <a:latin typeface="Calibri"/>
                <a:ea typeface="Calibri"/>
                <a:cs typeface="Calibri"/>
                <a:sym typeface="Calibri"/>
              </a:defRPr>
            </a:lvl5pPr>
            <a:lvl6pPr indent="0" lvl="5" marL="0" marR="0" algn="r">
              <a:spcBef>
                <a:spcPts val="0"/>
              </a:spcBef>
              <a:buNone/>
              <a:defRPr b="0" i="0" sz="1000" u="none" cap="none" strike="noStrike">
                <a:solidFill>
                  <a:schemeClr val="accent6"/>
                </a:solidFill>
                <a:latin typeface="Calibri"/>
                <a:ea typeface="Calibri"/>
                <a:cs typeface="Calibri"/>
                <a:sym typeface="Calibri"/>
              </a:defRPr>
            </a:lvl6pPr>
            <a:lvl7pPr indent="0" lvl="6" marL="0" marR="0" algn="r">
              <a:spcBef>
                <a:spcPts val="0"/>
              </a:spcBef>
              <a:buNone/>
              <a:defRPr b="0" i="0" sz="1000" u="none" cap="none" strike="noStrike">
                <a:solidFill>
                  <a:schemeClr val="accent6"/>
                </a:solidFill>
                <a:latin typeface="Calibri"/>
                <a:ea typeface="Calibri"/>
                <a:cs typeface="Calibri"/>
                <a:sym typeface="Calibri"/>
              </a:defRPr>
            </a:lvl7pPr>
            <a:lvl8pPr indent="0" lvl="7" marL="0" marR="0" algn="r">
              <a:spcBef>
                <a:spcPts val="0"/>
              </a:spcBef>
              <a:buNone/>
              <a:defRPr b="0" i="0" sz="1000" u="none" cap="none" strike="noStrike">
                <a:solidFill>
                  <a:schemeClr val="accent6"/>
                </a:solidFill>
                <a:latin typeface="Calibri"/>
                <a:ea typeface="Calibri"/>
                <a:cs typeface="Calibri"/>
                <a:sym typeface="Calibri"/>
              </a:defRPr>
            </a:lvl8pPr>
            <a:lvl9pPr indent="0" lvl="8" marL="0" marR="0" algn="r">
              <a:spcBef>
                <a:spcPts val="0"/>
              </a:spcBef>
              <a:buNone/>
              <a:defRPr b="0" i="0" sz="10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bg>
      <p:bgPr>
        <a:solidFill>
          <a:schemeClr val="dk2"/>
        </a:solidFill>
      </p:bgPr>
    </p:bg>
    <p:spTree>
      <p:nvGrpSpPr>
        <p:cNvPr id="59" name="Shape 59"/>
        <p:cNvGrpSpPr/>
        <p:nvPr/>
      </p:nvGrpSpPr>
      <p:grpSpPr>
        <a:xfrm>
          <a:off x="0" y="0"/>
          <a:ext cx="0" cy="0"/>
          <a:chOff x="0" y="0"/>
          <a:chExt cx="0" cy="0"/>
        </a:xfrm>
      </p:grpSpPr>
      <p:sp>
        <p:nvSpPr>
          <p:cNvPr id="60" name="Google Shape;60;p16"/>
          <p:cNvSpPr txBox="1"/>
          <p:nvPr>
            <p:ph type="title"/>
          </p:nvPr>
        </p:nvSpPr>
        <p:spPr>
          <a:xfrm>
            <a:off x="4023360" y="548640"/>
            <a:ext cx="4755000" cy="548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Clr>
                <a:schemeClr val="lt1"/>
              </a:buClr>
              <a:buSzPts val="2400"/>
              <a:buFont typeface="Arial"/>
              <a:buNone/>
              <a:defRPr b="1" i="0" sz="24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1" name="Shape 6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138160" y="4727448"/>
            <a:ext cx="548700" cy="2286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6"/>
                </a:solidFill>
                <a:latin typeface="Calibri"/>
                <a:ea typeface="Calibri"/>
                <a:cs typeface="Calibri"/>
                <a:sym typeface="Calibri"/>
              </a:defRPr>
            </a:lvl1pPr>
            <a:lvl2pPr indent="0" lvl="1" marL="0" marR="0" algn="r">
              <a:spcBef>
                <a:spcPts val="0"/>
              </a:spcBef>
              <a:buNone/>
              <a:defRPr b="0" i="0" sz="1000" u="none" cap="none" strike="noStrike">
                <a:solidFill>
                  <a:schemeClr val="accent6"/>
                </a:solidFill>
                <a:latin typeface="Calibri"/>
                <a:ea typeface="Calibri"/>
                <a:cs typeface="Calibri"/>
                <a:sym typeface="Calibri"/>
              </a:defRPr>
            </a:lvl2pPr>
            <a:lvl3pPr indent="0" lvl="2" marL="0" marR="0" algn="r">
              <a:spcBef>
                <a:spcPts val="0"/>
              </a:spcBef>
              <a:buNone/>
              <a:defRPr b="0" i="0" sz="1000" u="none" cap="none" strike="noStrike">
                <a:solidFill>
                  <a:schemeClr val="accent6"/>
                </a:solidFill>
                <a:latin typeface="Calibri"/>
                <a:ea typeface="Calibri"/>
                <a:cs typeface="Calibri"/>
                <a:sym typeface="Calibri"/>
              </a:defRPr>
            </a:lvl3pPr>
            <a:lvl4pPr indent="0" lvl="3" marL="0" marR="0" algn="r">
              <a:spcBef>
                <a:spcPts val="0"/>
              </a:spcBef>
              <a:buNone/>
              <a:defRPr b="0" i="0" sz="1000" u="none" cap="none" strike="noStrike">
                <a:solidFill>
                  <a:schemeClr val="accent6"/>
                </a:solidFill>
                <a:latin typeface="Calibri"/>
                <a:ea typeface="Calibri"/>
                <a:cs typeface="Calibri"/>
                <a:sym typeface="Calibri"/>
              </a:defRPr>
            </a:lvl4pPr>
            <a:lvl5pPr indent="0" lvl="4" marL="0" marR="0" algn="r">
              <a:spcBef>
                <a:spcPts val="0"/>
              </a:spcBef>
              <a:buNone/>
              <a:defRPr b="0" i="0" sz="1000" u="none" cap="none" strike="noStrike">
                <a:solidFill>
                  <a:schemeClr val="accent6"/>
                </a:solidFill>
                <a:latin typeface="Calibri"/>
                <a:ea typeface="Calibri"/>
                <a:cs typeface="Calibri"/>
                <a:sym typeface="Calibri"/>
              </a:defRPr>
            </a:lvl5pPr>
            <a:lvl6pPr indent="0" lvl="5" marL="0" marR="0" algn="r">
              <a:spcBef>
                <a:spcPts val="0"/>
              </a:spcBef>
              <a:buNone/>
              <a:defRPr b="0" i="0" sz="1000" u="none" cap="none" strike="noStrike">
                <a:solidFill>
                  <a:schemeClr val="accent6"/>
                </a:solidFill>
                <a:latin typeface="Calibri"/>
                <a:ea typeface="Calibri"/>
                <a:cs typeface="Calibri"/>
                <a:sym typeface="Calibri"/>
              </a:defRPr>
            </a:lvl6pPr>
            <a:lvl7pPr indent="0" lvl="6" marL="0" marR="0" algn="r">
              <a:spcBef>
                <a:spcPts val="0"/>
              </a:spcBef>
              <a:buNone/>
              <a:defRPr b="0" i="0" sz="1000" u="none" cap="none" strike="noStrike">
                <a:solidFill>
                  <a:schemeClr val="accent6"/>
                </a:solidFill>
                <a:latin typeface="Calibri"/>
                <a:ea typeface="Calibri"/>
                <a:cs typeface="Calibri"/>
                <a:sym typeface="Calibri"/>
              </a:defRPr>
            </a:lvl7pPr>
            <a:lvl8pPr indent="0" lvl="7" marL="0" marR="0" algn="r">
              <a:spcBef>
                <a:spcPts val="0"/>
              </a:spcBef>
              <a:buNone/>
              <a:defRPr b="0" i="0" sz="1000" u="none" cap="none" strike="noStrike">
                <a:solidFill>
                  <a:schemeClr val="accent6"/>
                </a:solidFill>
                <a:latin typeface="Calibri"/>
                <a:ea typeface="Calibri"/>
                <a:cs typeface="Calibri"/>
                <a:sym typeface="Calibri"/>
              </a:defRPr>
            </a:lvl8pPr>
            <a:lvl9pPr indent="0" lvl="8" marL="0" marR="0" algn="r">
              <a:spcBef>
                <a:spcPts val="0"/>
              </a:spcBef>
              <a:buNone/>
              <a:defRPr b="0" i="0" sz="10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3.png"/><Relationship Id="rId4" Type="http://schemas.openxmlformats.org/officeDocument/2006/relationships/image" Target="../media/image3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8.png"/><Relationship Id="rId4" Type="http://schemas.openxmlformats.org/officeDocument/2006/relationships/image" Target="../media/image30.png"/><Relationship Id="rId5" Type="http://schemas.openxmlformats.org/officeDocument/2006/relationships/image" Target="../media/image7.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5.png"/><Relationship Id="rId10" Type="http://schemas.openxmlformats.org/officeDocument/2006/relationships/image" Target="../media/image14.png"/><Relationship Id="rId9" Type="http://schemas.openxmlformats.org/officeDocument/2006/relationships/image" Target="../media/image17.png"/><Relationship Id="rId5" Type="http://schemas.openxmlformats.org/officeDocument/2006/relationships/image" Target="../media/image36.png"/><Relationship Id="rId6" Type="http://schemas.openxmlformats.org/officeDocument/2006/relationships/image" Target="../media/image32.png"/><Relationship Id="rId7" Type="http://schemas.openxmlformats.org/officeDocument/2006/relationships/image" Target="../media/image9.png"/><Relationship Id="rId8"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31.png"/><Relationship Id="rId6"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27.png"/><Relationship Id="rId5"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35.png"/><Relationship Id="rId6"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8"/>
          <p:cNvSpPr/>
          <p:nvPr/>
        </p:nvSpPr>
        <p:spPr>
          <a:xfrm>
            <a:off x="502920" y="914400"/>
            <a:ext cx="3200400" cy="3200400"/>
          </a:xfrm>
          <a:prstGeom prst="ellipse">
            <a:avLst/>
          </a:prstGeom>
          <a:noFill/>
          <a:ln cap="flat" cmpd="sng" w="15875">
            <a:solidFill>
              <a:srgbClr val="D7262E">
                <a:alpha val="3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8"/>
          <p:cNvSpPr/>
          <p:nvPr/>
        </p:nvSpPr>
        <p:spPr>
          <a:xfrm>
            <a:off x="-45720" y="365760"/>
            <a:ext cx="4297800" cy="4297800"/>
          </a:xfrm>
          <a:prstGeom prst="ellipse">
            <a:avLst/>
          </a:prstGeom>
          <a:noFill/>
          <a:ln cap="flat" cmpd="sng" w="15875">
            <a:solidFill>
              <a:srgbClr val="D7262E">
                <a:alpha val="2392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8"/>
          <p:cNvSpPr/>
          <p:nvPr/>
        </p:nvSpPr>
        <p:spPr>
          <a:xfrm>
            <a:off x="-594360" y="-182880"/>
            <a:ext cx="5394900" cy="5394900"/>
          </a:xfrm>
          <a:prstGeom prst="ellipse">
            <a:avLst/>
          </a:prstGeom>
          <a:noFill/>
          <a:ln cap="flat" cmpd="sng" w="15875">
            <a:solidFill>
              <a:srgbClr val="D7262E">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iren logo" id="70" name="Google Shape;70;p18"/>
          <p:cNvPicPr preferRelativeResize="0"/>
          <p:nvPr/>
        </p:nvPicPr>
        <p:blipFill rotWithShape="1">
          <a:blip r:embed="rId3">
            <a:alphaModFix/>
          </a:blip>
          <a:srcRect b="0" l="0" r="0" t="0"/>
          <a:stretch/>
        </p:blipFill>
        <p:spPr>
          <a:xfrm>
            <a:off x="914400" y="1417320"/>
            <a:ext cx="2377440" cy="2197935"/>
          </a:xfrm>
          <a:prstGeom prst="rect">
            <a:avLst/>
          </a:prstGeom>
          <a:noFill/>
          <a:ln>
            <a:noFill/>
          </a:ln>
        </p:spPr>
      </p:pic>
      <p:sp>
        <p:nvSpPr>
          <p:cNvPr id="71" name="Google Shape;71;p18"/>
          <p:cNvSpPr txBox="1"/>
          <p:nvPr>
            <p:ph type="title"/>
          </p:nvPr>
        </p:nvSpPr>
        <p:spPr>
          <a:xfrm>
            <a:off x="4023360" y="1143000"/>
            <a:ext cx="4663500" cy="11886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000"/>
              <a:buFont typeface="Arial"/>
              <a:buNone/>
            </a:pPr>
            <a:r>
              <a:rPr b="1" lang="pl" sz="3000">
                <a:solidFill>
                  <a:schemeClr val="lt1"/>
                </a:solidFill>
                <a:latin typeface="Arial"/>
                <a:ea typeface="Arial"/>
                <a:cs typeface="Arial"/>
                <a:sym typeface="Arial"/>
              </a:rPr>
              <a:t>Task Dispatching System During Emergencies</a:t>
            </a:r>
            <a:endParaRPr sz="3000"/>
          </a:p>
        </p:txBody>
      </p:sp>
      <p:sp>
        <p:nvSpPr>
          <p:cNvPr id="72" name="Google Shape;72;p18"/>
          <p:cNvSpPr txBox="1"/>
          <p:nvPr/>
        </p:nvSpPr>
        <p:spPr>
          <a:xfrm>
            <a:off x="4023360" y="2514600"/>
            <a:ext cx="46635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Arial"/>
              <a:buNone/>
            </a:pPr>
            <a:r>
              <a:rPr b="1" i="0" lang="pl" sz="1800" u="none" cap="none" strike="noStrike">
                <a:solidFill>
                  <a:schemeClr val="lt1"/>
                </a:solidFill>
                <a:latin typeface="Arial"/>
                <a:ea typeface="Arial"/>
                <a:cs typeface="Arial"/>
                <a:sym typeface="Arial"/>
              </a:rPr>
              <a:t>WHERE TO GO.  </a:t>
            </a:r>
            <a:r>
              <a:rPr b="1" i="0" lang="pl" sz="1800" u="none" cap="none" strike="noStrike">
                <a:solidFill>
                  <a:schemeClr val="accent1"/>
                </a:solidFill>
                <a:latin typeface="Arial"/>
                <a:ea typeface="Arial"/>
                <a:cs typeface="Arial"/>
                <a:sym typeface="Arial"/>
              </a:rPr>
              <a:t>WHAT TO DO.</a:t>
            </a:r>
            <a:endParaRPr b="0" i="0" sz="1800" u="none" cap="none" strike="noStrike">
              <a:solidFill>
                <a:schemeClr val="dk1"/>
              </a:solidFill>
              <a:latin typeface="Calibri"/>
              <a:ea typeface="Calibri"/>
              <a:cs typeface="Calibri"/>
              <a:sym typeface="Calibri"/>
            </a:endParaRPr>
          </a:p>
        </p:txBody>
      </p:sp>
      <p:sp>
        <p:nvSpPr>
          <p:cNvPr id="73" name="Google Shape;73;p18"/>
          <p:cNvSpPr txBox="1"/>
          <p:nvPr/>
        </p:nvSpPr>
        <p:spPr>
          <a:xfrm>
            <a:off x="4023360" y="3063240"/>
            <a:ext cx="43890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500"/>
              <a:buFont typeface="Calibri"/>
              <a:buNone/>
            </a:pPr>
            <a:r>
              <a:rPr b="0" i="0" lang="pl" sz="1500" u="none" cap="none" strike="noStrike">
                <a:solidFill>
                  <a:schemeClr val="lt2"/>
                </a:solidFill>
                <a:latin typeface="Calibri"/>
                <a:ea typeface="Calibri"/>
                <a:cs typeface="Calibri"/>
                <a:sym typeface="Calibri"/>
              </a:rPr>
              <a:t>Predefined scenarios that turn an alarm into coordinated action — for civil administration, medical services and the military.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9"/>
          <p:cNvSpPr txBox="1"/>
          <p:nvPr>
            <p:ph type="title"/>
          </p:nvPr>
        </p:nvSpPr>
        <p:spPr>
          <a:xfrm>
            <a:off x="457200" y="274320"/>
            <a:ext cx="8229600" cy="59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Arial"/>
              <a:buNone/>
            </a:pPr>
            <a:r>
              <a:rPr b="1" lang="pl" sz="2800">
                <a:solidFill>
                  <a:schemeClr val="dk1"/>
                </a:solidFill>
                <a:latin typeface="Arial"/>
                <a:ea typeface="Arial"/>
                <a:cs typeface="Arial"/>
                <a:sym typeface="Arial"/>
              </a:rPr>
              <a:t>In an Emergency, There Is No Time to Plan</a:t>
            </a:r>
            <a:endParaRPr sz="2800"/>
          </a:p>
        </p:txBody>
      </p:sp>
      <p:sp>
        <p:nvSpPr>
          <p:cNvPr id="80" name="Google Shape;80;p19"/>
          <p:cNvSpPr/>
          <p:nvPr/>
        </p:nvSpPr>
        <p:spPr>
          <a:xfrm>
            <a:off x="457331" y="1188725"/>
            <a:ext cx="8229600" cy="3246000"/>
          </a:xfrm>
          <a:prstGeom prst="roundRect">
            <a:avLst>
              <a:gd fmla="val 338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9"/>
          <p:cNvSpPr txBox="1"/>
          <p:nvPr/>
        </p:nvSpPr>
        <p:spPr>
          <a:xfrm>
            <a:off x="772650" y="1503963"/>
            <a:ext cx="7404900" cy="59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pl" sz="2000" u="none" cap="none" strike="noStrike">
                <a:solidFill>
                  <a:schemeClr val="lt1"/>
                </a:solidFill>
                <a:latin typeface="Calibri"/>
                <a:ea typeface="Calibri"/>
                <a:cs typeface="Calibri"/>
                <a:sym typeface="Calibri"/>
              </a:rPr>
              <a:t>When the alarm is raised, everyone should know:</a:t>
            </a:r>
            <a:endParaRPr b="0" i="0" sz="2000" u="none" cap="none" strike="noStrike">
              <a:solidFill>
                <a:schemeClr val="dk1"/>
              </a:solidFill>
              <a:latin typeface="Calibri"/>
              <a:ea typeface="Calibri"/>
              <a:cs typeface="Calibri"/>
              <a:sym typeface="Calibri"/>
            </a:endParaRPr>
          </a:p>
        </p:txBody>
      </p:sp>
      <p:sp>
        <p:nvSpPr>
          <p:cNvPr id="82" name="Google Shape;82;p19"/>
          <p:cNvSpPr txBox="1"/>
          <p:nvPr/>
        </p:nvSpPr>
        <p:spPr>
          <a:xfrm>
            <a:off x="772655" y="2098285"/>
            <a:ext cx="3291900" cy="50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800"/>
              <a:buFont typeface="Arial"/>
              <a:buNone/>
            </a:pPr>
            <a:r>
              <a:rPr b="1" i="0" lang="pl" sz="2800" u="none" cap="none" strike="noStrike">
                <a:solidFill>
                  <a:schemeClr val="lt1"/>
                </a:solidFill>
                <a:latin typeface="Arial"/>
                <a:ea typeface="Arial"/>
                <a:cs typeface="Arial"/>
                <a:sym typeface="Arial"/>
              </a:rPr>
              <a:t>WHERE TO GO.</a:t>
            </a:r>
            <a:endParaRPr b="0" i="0" sz="2800" u="none" cap="none" strike="noStrike">
              <a:solidFill>
                <a:schemeClr val="dk1"/>
              </a:solidFill>
              <a:latin typeface="Calibri"/>
              <a:ea typeface="Calibri"/>
              <a:cs typeface="Calibri"/>
              <a:sym typeface="Calibri"/>
            </a:endParaRPr>
          </a:p>
        </p:txBody>
      </p:sp>
      <p:sp>
        <p:nvSpPr>
          <p:cNvPr id="83" name="Google Shape;83;p19"/>
          <p:cNvSpPr txBox="1"/>
          <p:nvPr/>
        </p:nvSpPr>
        <p:spPr>
          <a:xfrm>
            <a:off x="772655" y="2812980"/>
            <a:ext cx="3291900" cy="50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800"/>
              <a:buFont typeface="Arial"/>
              <a:buNone/>
            </a:pPr>
            <a:r>
              <a:rPr b="1" i="0" lang="pl" sz="2800" u="none" cap="none" strike="noStrike">
                <a:solidFill>
                  <a:schemeClr val="accent1"/>
                </a:solidFill>
                <a:latin typeface="Arial"/>
                <a:ea typeface="Arial"/>
                <a:cs typeface="Arial"/>
                <a:sym typeface="Arial"/>
              </a:rPr>
              <a:t>WHAT TO DO.</a:t>
            </a:r>
            <a:endParaRPr b="0" i="0" sz="2800" u="none" cap="none" strike="noStrike">
              <a:solidFill>
                <a:schemeClr val="dk1"/>
              </a:solidFill>
              <a:latin typeface="Calibri"/>
              <a:ea typeface="Calibri"/>
              <a:cs typeface="Calibri"/>
              <a:sym typeface="Calibri"/>
            </a:endParaRPr>
          </a:p>
        </p:txBody>
      </p:sp>
      <p:sp>
        <p:nvSpPr>
          <p:cNvPr id="84" name="Google Shape;84;p19"/>
          <p:cNvSpPr txBox="1"/>
          <p:nvPr/>
        </p:nvSpPr>
        <p:spPr>
          <a:xfrm>
            <a:off x="772646" y="3527675"/>
            <a:ext cx="54435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400"/>
              <a:buFont typeface="Calibri"/>
              <a:buNone/>
            </a:pPr>
            <a:r>
              <a:rPr b="1" i="1" lang="pl" sz="2000" u="none" cap="none" strike="noStrike">
                <a:solidFill>
                  <a:schemeClr val="lt2"/>
                </a:solidFill>
                <a:latin typeface="Calibri"/>
                <a:ea typeface="Calibri"/>
                <a:cs typeface="Calibri"/>
                <a:sym typeface="Calibri"/>
              </a:rPr>
              <a:t>Siren</a:t>
            </a:r>
            <a:r>
              <a:rPr b="0" i="1" lang="pl" sz="2000" u="none" cap="none" strike="noStrike">
                <a:solidFill>
                  <a:schemeClr val="lt2"/>
                </a:solidFill>
                <a:latin typeface="Calibri"/>
                <a:ea typeface="Calibri"/>
                <a:cs typeface="Calibri"/>
                <a:sym typeface="Calibri"/>
              </a:rPr>
              <a:t> brings this principle into the digital age.</a:t>
            </a:r>
            <a:endParaRPr b="0" i="0" sz="2000" u="none" cap="none" strike="noStrike">
              <a:solidFill>
                <a:schemeClr val="dk1"/>
              </a:solidFill>
              <a:latin typeface="Calibri"/>
              <a:ea typeface="Calibri"/>
              <a:cs typeface="Calibri"/>
              <a:sym typeface="Calibri"/>
            </a:endParaRPr>
          </a:p>
        </p:txBody>
      </p:sp>
      <p:sp>
        <p:nvSpPr>
          <p:cNvPr id="85" name="Google Shape;85;p19"/>
          <p:cNvSpPr txBox="1"/>
          <p:nvPr>
            <p:ph idx="4294967295" type="sldNum"/>
          </p:nvPr>
        </p:nvSpPr>
        <p:spPr>
          <a:xfrm>
            <a:off x="8138160" y="4727448"/>
            <a:ext cx="5487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l"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0"/>
          <p:cNvSpPr txBox="1"/>
          <p:nvPr>
            <p:ph type="title"/>
          </p:nvPr>
        </p:nvSpPr>
        <p:spPr>
          <a:xfrm>
            <a:off x="457200" y="274320"/>
            <a:ext cx="8229600" cy="59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Arial"/>
              <a:buNone/>
            </a:pPr>
            <a:r>
              <a:rPr b="1" lang="pl" sz="2800">
                <a:solidFill>
                  <a:schemeClr val="dk1"/>
                </a:solidFill>
                <a:latin typeface="Arial"/>
                <a:ea typeface="Arial"/>
                <a:cs typeface="Arial"/>
                <a:sym typeface="Arial"/>
              </a:rPr>
              <a:t>From Instructions to Action</a:t>
            </a:r>
            <a:endParaRPr sz="2800"/>
          </a:p>
        </p:txBody>
      </p:sp>
      <p:sp>
        <p:nvSpPr>
          <p:cNvPr id="92" name="Google Shape;92;p20"/>
          <p:cNvSpPr txBox="1"/>
          <p:nvPr/>
        </p:nvSpPr>
        <p:spPr>
          <a:xfrm>
            <a:off x="2514605" y="1463040"/>
            <a:ext cx="18288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1" i="0" lang="pl" sz="1200" u="none" cap="none" strike="noStrike">
                <a:solidFill>
                  <a:schemeClr val="accent6"/>
                </a:solidFill>
                <a:latin typeface="Calibri"/>
                <a:ea typeface="Calibri"/>
                <a:cs typeface="Calibri"/>
                <a:sym typeface="Calibri"/>
              </a:rPr>
              <a:t>NORMALLY</a:t>
            </a:r>
            <a:endParaRPr b="0" i="0" sz="1200" u="none" cap="none" strike="noStrike">
              <a:solidFill>
                <a:schemeClr val="dk1"/>
              </a:solidFill>
              <a:latin typeface="Calibri"/>
              <a:ea typeface="Calibri"/>
              <a:cs typeface="Calibri"/>
              <a:sym typeface="Calibri"/>
            </a:endParaRPr>
          </a:p>
        </p:txBody>
      </p:sp>
      <p:sp>
        <p:nvSpPr>
          <p:cNvPr id="93" name="Google Shape;93;p20"/>
          <p:cNvSpPr txBox="1"/>
          <p:nvPr/>
        </p:nvSpPr>
        <p:spPr>
          <a:xfrm>
            <a:off x="2514605" y="1783080"/>
            <a:ext cx="18288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pl" sz="1800" u="none" cap="none" strike="noStrike">
                <a:solidFill>
                  <a:schemeClr val="dk1"/>
                </a:solidFill>
                <a:latin typeface="Calibri"/>
                <a:ea typeface="Calibri"/>
                <a:cs typeface="Calibri"/>
                <a:sym typeface="Calibri"/>
              </a:rPr>
              <a:t>A pocket library</a:t>
            </a:r>
            <a:endParaRPr b="0" i="0" sz="1800" u="none" cap="none" strike="noStrike">
              <a:solidFill>
                <a:schemeClr val="dk1"/>
              </a:solidFill>
              <a:latin typeface="Calibri"/>
              <a:ea typeface="Calibri"/>
              <a:cs typeface="Calibri"/>
              <a:sym typeface="Calibri"/>
            </a:endParaRPr>
          </a:p>
        </p:txBody>
      </p:sp>
      <p:sp>
        <p:nvSpPr>
          <p:cNvPr id="94" name="Google Shape;94;p20"/>
          <p:cNvSpPr txBox="1"/>
          <p:nvPr/>
        </p:nvSpPr>
        <p:spPr>
          <a:xfrm>
            <a:off x="2514605" y="2240280"/>
            <a:ext cx="17373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pl" sz="1400" u="none" cap="none" strike="noStrike">
                <a:solidFill>
                  <a:schemeClr val="accent6"/>
                </a:solidFill>
                <a:latin typeface="Calibri"/>
                <a:ea typeface="Calibri"/>
                <a:cs typeface="Calibri"/>
                <a:sym typeface="Calibri"/>
              </a:rPr>
              <a:t>Every emergency procedure in one app, always at hand,</a:t>
            </a:r>
            <a:endParaRPr b="0" i="0" sz="1400" u="none" cap="none" strike="noStrike">
              <a:solidFill>
                <a:schemeClr val="accent6"/>
              </a:solidFill>
              <a:latin typeface="Calibri"/>
              <a:ea typeface="Calibri"/>
              <a:cs typeface="Calibri"/>
              <a:sym typeface="Calibri"/>
            </a:endParaRPr>
          </a:p>
          <a:p>
            <a:pPr indent="0" lvl="0" marL="0" marR="0" rtl="0" algn="l">
              <a:spcBef>
                <a:spcPts val="0"/>
              </a:spcBef>
              <a:spcAft>
                <a:spcPts val="0"/>
              </a:spcAft>
              <a:buClr>
                <a:schemeClr val="accent6"/>
              </a:buClr>
              <a:buSzPts val="1400"/>
              <a:buFont typeface="Calibri"/>
              <a:buNone/>
            </a:pPr>
            <a:r>
              <a:rPr lang="pl">
                <a:solidFill>
                  <a:schemeClr val="accent6"/>
                </a:solidFill>
                <a:latin typeface="Calibri"/>
                <a:ea typeface="Calibri"/>
                <a:cs typeface="Calibri"/>
                <a:sym typeface="Calibri"/>
              </a:rPr>
              <a:t>always updated</a:t>
            </a:r>
            <a:r>
              <a:rPr b="0" i="0" lang="pl" sz="1400" u="none" cap="none" strike="noStrike">
                <a:solidFill>
                  <a:schemeClr val="accent6"/>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95" name="Google Shape;95;p20"/>
          <p:cNvSpPr/>
          <p:nvPr/>
        </p:nvSpPr>
        <p:spPr>
          <a:xfrm>
            <a:off x="4160520" y="2606040"/>
            <a:ext cx="685800" cy="411600"/>
          </a:xfrm>
          <a:prstGeom prst="righ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larm" id="96" name="Google Shape;96;p20"/>
          <p:cNvPicPr preferRelativeResize="0"/>
          <p:nvPr/>
        </p:nvPicPr>
        <p:blipFill rotWithShape="1">
          <a:blip r:embed="rId3">
            <a:alphaModFix/>
          </a:blip>
          <a:srcRect b="0" l="0" r="0" t="0"/>
          <a:stretch/>
        </p:blipFill>
        <p:spPr>
          <a:xfrm>
            <a:off x="4343400" y="2103120"/>
            <a:ext cx="320040" cy="320040"/>
          </a:xfrm>
          <a:prstGeom prst="rect">
            <a:avLst/>
          </a:prstGeom>
          <a:noFill/>
          <a:ln>
            <a:noFill/>
          </a:ln>
        </p:spPr>
      </p:pic>
      <p:sp>
        <p:nvSpPr>
          <p:cNvPr id="97" name="Google Shape;97;p20"/>
          <p:cNvSpPr txBox="1"/>
          <p:nvPr/>
        </p:nvSpPr>
        <p:spPr>
          <a:xfrm>
            <a:off x="6877935" y="1463040"/>
            <a:ext cx="19203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1" i="0" lang="pl" sz="1200" u="none" cap="none" strike="noStrike">
                <a:solidFill>
                  <a:schemeClr val="accent1"/>
                </a:solidFill>
                <a:latin typeface="Calibri"/>
                <a:ea typeface="Calibri"/>
                <a:cs typeface="Calibri"/>
                <a:sym typeface="Calibri"/>
              </a:rPr>
              <a:t>ON ALARM</a:t>
            </a:r>
            <a:endParaRPr b="0" i="0" sz="1200" u="none" cap="none" strike="noStrike">
              <a:solidFill>
                <a:schemeClr val="dk1"/>
              </a:solidFill>
              <a:latin typeface="Calibri"/>
              <a:ea typeface="Calibri"/>
              <a:cs typeface="Calibri"/>
              <a:sym typeface="Calibri"/>
            </a:endParaRPr>
          </a:p>
        </p:txBody>
      </p:sp>
      <p:sp>
        <p:nvSpPr>
          <p:cNvPr id="98" name="Google Shape;98;p20"/>
          <p:cNvSpPr txBox="1"/>
          <p:nvPr/>
        </p:nvSpPr>
        <p:spPr>
          <a:xfrm>
            <a:off x="6877935" y="1783080"/>
            <a:ext cx="19203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pl" sz="1800" u="none" cap="none" strike="noStrike">
                <a:solidFill>
                  <a:schemeClr val="dk1"/>
                </a:solidFill>
                <a:latin typeface="Calibri"/>
                <a:ea typeface="Calibri"/>
                <a:cs typeface="Calibri"/>
                <a:sym typeface="Calibri"/>
              </a:rPr>
              <a:t>A live to-do list</a:t>
            </a:r>
            <a:endParaRPr b="0" i="0" sz="1800" u="none" cap="none" strike="noStrike">
              <a:solidFill>
                <a:schemeClr val="dk1"/>
              </a:solidFill>
              <a:latin typeface="Calibri"/>
              <a:ea typeface="Calibri"/>
              <a:cs typeface="Calibri"/>
              <a:sym typeface="Calibri"/>
            </a:endParaRPr>
          </a:p>
        </p:txBody>
      </p:sp>
      <p:sp>
        <p:nvSpPr>
          <p:cNvPr id="99" name="Google Shape;99;p20"/>
          <p:cNvSpPr txBox="1"/>
          <p:nvPr/>
        </p:nvSpPr>
        <p:spPr>
          <a:xfrm>
            <a:off x="6877935" y="2240280"/>
            <a:ext cx="19203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pl" sz="1400" u="none" cap="none" strike="noStrike">
                <a:solidFill>
                  <a:schemeClr val="accent6"/>
                </a:solidFill>
                <a:latin typeface="Calibri"/>
                <a:ea typeface="Calibri"/>
                <a:cs typeface="Calibri"/>
                <a:sym typeface="Calibri"/>
              </a:rPr>
              <a:t>The app switches to the person's own tasks — step by step, with progress reported back.</a:t>
            </a:r>
            <a:endParaRPr b="0" i="0" sz="1400" u="none" cap="none" strike="noStrike">
              <a:solidFill>
                <a:schemeClr val="dk1"/>
              </a:solidFill>
              <a:latin typeface="Calibri"/>
              <a:ea typeface="Calibri"/>
              <a:cs typeface="Calibri"/>
              <a:sym typeface="Calibri"/>
            </a:endParaRPr>
          </a:p>
        </p:txBody>
      </p:sp>
      <p:sp>
        <p:nvSpPr>
          <p:cNvPr id="100" name="Google Shape;100;p20"/>
          <p:cNvSpPr txBox="1"/>
          <p:nvPr>
            <p:ph idx="4294967295" type="sldNum"/>
          </p:nvPr>
        </p:nvSpPr>
        <p:spPr>
          <a:xfrm>
            <a:off x="8138160" y="4727448"/>
            <a:ext cx="5487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l"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pic>
        <p:nvPicPr>
          <p:cNvPr id="101" name="Google Shape;101;p20"/>
          <p:cNvPicPr preferRelativeResize="0"/>
          <p:nvPr/>
        </p:nvPicPr>
        <p:blipFill rotWithShape="1">
          <a:blip r:embed="rId4">
            <a:alphaModFix/>
          </a:blip>
          <a:srcRect b="0" l="54035" r="11132" t="0"/>
          <a:stretch/>
        </p:blipFill>
        <p:spPr>
          <a:xfrm>
            <a:off x="515000" y="951699"/>
            <a:ext cx="1883374" cy="3604700"/>
          </a:xfrm>
          <a:prstGeom prst="rect">
            <a:avLst/>
          </a:prstGeom>
          <a:noFill/>
          <a:ln>
            <a:noFill/>
          </a:ln>
        </p:spPr>
      </p:pic>
      <p:pic>
        <p:nvPicPr>
          <p:cNvPr id="102" name="Google Shape;102;p20"/>
          <p:cNvPicPr preferRelativeResize="0"/>
          <p:nvPr/>
        </p:nvPicPr>
        <p:blipFill rotWithShape="1">
          <a:blip r:embed="rId4">
            <a:alphaModFix/>
          </a:blip>
          <a:srcRect b="0" l="10956" r="53837" t="0"/>
          <a:stretch/>
        </p:blipFill>
        <p:spPr>
          <a:xfrm>
            <a:off x="4883176" y="970838"/>
            <a:ext cx="1883374" cy="35664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457200" y="274320"/>
            <a:ext cx="8229600" cy="59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Arial"/>
              <a:buNone/>
            </a:pPr>
            <a:r>
              <a:rPr b="1" lang="pl" sz="2800">
                <a:solidFill>
                  <a:schemeClr val="dk1"/>
                </a:solidFill>
                <a:latin typeface="Arial"/>
                <a:ea typeface="Arial"/>
                <a:cs typeface="Arial"/>
                <a:sym typeface="Arial"/>
              </a:rPr>
              <a:t>One Alarm. Clear Orders.</a:t>
            </a:r>
            <a:endParaRPr sz="2800"/>
          </a:p>
        </p:txBody>
      </p:sp>
      <p:sp>
        <p:nvSpPr>
          <p:cNvPr id="109" name="Google Shape;109;p21"/>
          <p:cNvSpPr/>
          <p:nvPr/>
        </p:nvSpPr>
        <p:spPr>
          <a:xfrm>
            <a:off x="457200" y="1188720"/>
            <a:ext cx="1783200" cy="2423100"/>
          </a:xfrm>
          <a:prstGeom prst="roundRect">
            <a:avLst>
              <a:gd fmla="val 512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1"/>
          <p:cNvSpPr/>
          <p:nvPr/>
        </p:nvSpPr>
        <p:spPr>
          <a:xfrm>
            <a:off x="685800" y="1417320"/>
            <a:ext cx="685800" cy="68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larm" id="111" name="Google Shape;111;p21"/>
          <p:cNvPicPr preferRelativeResize="0"/>
          <p:nvPr/>
        </p:nvPicPr>
        <p:blipFill rotWithShape="1">
          <a:blip r:embed="rId3">
            <a:alphaModFix/>
          </a:blip>
          <a:srcRect b="0" l="0" r="0" t="0"/>
          <a:stretch/>
        </p:blipFill>
        <p:spPr>
          <a:xfrm>
            <a:off x="857250" y="1588770"/>
            <a:ext cx="342900" cy="342900"/>
          </a:xfrm>
          <a:prstGeom prst="rect">
            <a:avLst/>
          </a:prstGeom>
          <a:noFill/>
          <a:ln>
            <a:noFill/>
          </a:ln>
        </p:spPr>
      </p:pic>
      <p:sp>
        <p:nvSpPr>
          <p:cNvPr id="112" name="Google Shape;112;p21"/>
          <p:cNvSpPr txBox="1"/>
          <p:nvPr/>
        </p:nvSpPr>
        <p:spPr>
          <a:xfrm>
            <a:off x="685800" y="2286000"/>
            <a:ext cx="1463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pl" sz="1800" u="none" cap="none" strike="noStrike">
                <a:solidFill>
                  <a:schemeClr val="dk1"/>
                </a:solidFill>
                <a:latin typeface="Calibri"/>
                <a:ea typeface="Calibri"/>
                <a:cs typeface="Calibri"/>
                <a:sym typeface="Calibri"/>
              </a:rPr>
              <a:t>Alarm</a:t>
            </a:r>
            <a:endParaRPr b="0" i="0" sz="1800" u="none" cap="none" strike="noStrike">
              <a:solidFill>
                <a:schemeClr val="dk1"/>
              </a:solidFill>
              <a:latin typeface="Calibri"/>
              <a:ea typeface="Calibri"/>
              <a:cs typeface="Calibri"/>
              <a:sym typeface="Calibri"/>
            </a:endParaRPr>
          </a:p>
        </p:txBody>
      </p:sp>
      <p:sp>
        <p:nvSpPr>
          <p:cNvPr id="113" name="Google Shape;113;p21"/>
          <p:cNvSpPr txBox="1"/>
          <p:nvPr/>
        </p:nvSpPr>
        <p:spPr>
          <a:xfrm>
            <a:off x="685800" y="2697475"/>
            <a:ext cx="1293600" cy="86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pl" sz="1400" u="none" cap="none" strike="noStrike">
                <a:solidFill>
                  <a:schemeClr val="accent6"/>
                </a:solidFill>
                <a:latin typeface="Calibri"/>
                <a:ea typeface="Calibri"/>
                <a:cs typeface="Calibri"/>
                <a:sym typeface="Calibri"/>
              </a:rPr>
              <a:t>Starts the emergency response.</a:t>
            </a:r>
            <a:endParaRPr b="0" i="0" sz="1400" u="none" cap="none" strike="noStrike">
              <a:solidFill>
                <a:schemeClr val="dk1"/>
              </a:solidFill>
              <a:latin typeface="Calibri"/>
              <a:ea typeface="Calibri"/>
              <a:cs typeface="Calibri"/>
              <a:sym typeface="Calibri"/>
            </a:endParaRPr>
          </a:p>
        </p:txBody>
      </p:sp>
      <p:sp>
        <p:nvSpPr>
          <p:cNvPr id="114" name="Google Shape;114;p21"/>
          <p:cNvSpPr/>
          <p:nvPr/>
        </p:nvSpPr>
        <p:spPr>
          <a:xfrm>
            <a:off x="2322576" y="2240280"/>
            <a:ext cx="201300" cy="3291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1"/>
          <p:cNvSpPr/>
          <p:nvPr/>
        </p:nvSpPr>
        <p:spPr>
          <a:xfrm>
            <a:off x="2606040" y="1188720"/>
            <a:ext cx="1783200" cy="2423100"/>
          </a:xfrm>
          <a:prstGeom prst="roundRect">
            <a:avLst>
              <a:gd fmla="val 512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1"/>
          <p:cNvSpPr/>
          <p:nvPr/>
        </p:nvSpPr>
        <p:spPr>
          <a:xfrm>
            <a:off x="2834640" y="1417320"/>
            <a:ext cx="685800" cy="685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cenario" id="117" name="Google Shape;117;p21"/>
          <p:cNvPicPr preferRelativeResize="0"/>
          <p:nvPr/>
        </p:nvPicPr>
        <p:blipFill rotWithShape="1">
          <a:blip r:embed="rId4">
            <a:alphaModFix/>
          </a:blip>
          <a:srcRect b="0" l="0" r="0" t="0"/>
          <a:stretch/>
        </p:blipFill>
        <p:spPr>
          <a:xfrm>
            <a:off x="3006090" y="1588770"/>
            <a:ext cx="342900" cy="342900"/>
          </a:xfrm>
          <a:prstGeom prst="rect">
            <a:avLst/>
          </a:prstGeom>
          <a:noFill/>
          <a:ln>
            <a:noFill/>
          </a:ln>
        </p:spPr>
      </p:pic>
      <p:sp>
        <p:nvSpPr>
          <p:cNvPr id="118" name="Google Shape;118;p21"/>
          <p:cNvSpPr txBox="1"/>
          <p:nvPr/>
        </p:nvSpPr>
        <p:spPr>
          <a:xfrm>
            <a:off x="2834640" y="2286000"/>
            <a:ext cx="1463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pl" sz="1800" u="none" cap="none" strike="noStrike">
                <a:solidFill>
                  <a:schemeClr val="dk1"/>
                </a:solidFill>
                <a:latin typeface="Calibri"/>
                <a:ea typeface="Calibri"/>
                <a:cs typeface="Calibri"/>
                <a:sym typeface="Calibri"/>
              </a:rPr>
              <a:t>Scenario</a:t>
            </a:r>
            <a:endParaRPr b="0" i="0" sz="1800" u="none" cap="none" strike="noStrike">
              <a:solidFill>
                <a:schemeClr val="dk1"/>
              </a:solidFill>
              <a:latin typeface="Calibri"/>
              <a:ea typeface="Calibri"/>
              <a:cs typeface="Calibri"/>
              <a:sym typeface="Calibri"/>
            </a:endParaRPr>
          </a:p>
        </p:txBody>
      </p:sp>
      <p:sp>
        <p:nvSpPr>
          <p:cNvPr id="119" name="Google Shape;119;p21"/>
          <p:cNvSpPr txBox="1"/>
          <p:nvPr/>
        </p:nvSpPr>
        <p:spPr>
          <a:xfrm>
            <a:off x="2834640" y="2697480"/>
            <a:ext cx="1417200" cy="86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pl" sz="1400" u="none" cap="none" strike="noStrike">
                <a:solidFill>
                  <a:schemeClr val="accent6"/>
                </a:solidFill>
                <a:latin typeface="Calibri"/>
                <a:ea typeface="Calibri"/>
                <a:cs typeface="Calibri"/>
                <a:sym typeface="Calibri"/>
              </a:rPr>
              <a:t>Predefined response plan tied to that alarm.</a:t>
            </a:r>
            <a:endParaRPr b="0" i="0" sz="1400" u="none" cap="none" strike="noStrike">
              <a:solidFill>
                <a:schemeClr val="dk1"/>
              </a:solidFill>
              <a:latin typeface="Calibri"/>
              <a:ea typeface="Calibri"/>
              <a:cs typeface="Calibri"/>
              <a:sym typeface="Calibri"/>
            </a:endParaRPr>
          </a:p>
        </p:txBody>
      </p:sp>
      <p:sp>
        <p:nvSpPr>
          <p:cNvPr id="120" name="Google Shape;120;p21"/>
          <p:cNvSpPr/>
          <p:nvPr/>
        </p:nvSpPr>
        <p:spPr>
          <a:xfrm>
            <a:off x="4471416" y="2240280"/>
            <a:ext cx="201300" cy="3291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1"/>
          <p:cNvSpPr/>
          <p:nvPr/>
        </p:nvSpPr>
        <p:spPr>
          <a:xfrm>
            <a:off x="4754880" y="1188720"/>
            <a:ext cx="1783200" cy="2423100"/>
          </a:xfrm>
          <a:prstGeom prst="roundRect">
            <a:avLst>
              <a:gd fmla="val 512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1"/>
          <p:cNvSpPr/>
          <p:nvPr/>
        </p:nvSpPr>
        <p:spPr>
          <a:xfrm>
            <a:off x="4983480" y="1417320"/>
            <a:ext cx="685800" cy="685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ask Group" id="123" name="Google Shape;123;p21"/>
          <p:cNvPicPr preferRelativeResize="0"/>
          <p:nvPr/>
        </p:nvPicPr>
        <p:blipFill rotWithShape="1">
          <a:blip r:embed="rId5">
            <a:alphaModFix/>
          </a:blip>
          <a:srcRect b="0" l="0" r="0" t="0"/>
          <a:stretch/>
        </p:blipFill>
        <p:spPr>
          <a:xfrm>
            <a:off x="5154930" y="1588770"/>
            <a:ext cx="342900" cy="342900"/>
          </a:xfrm>
          <a:prstGeom prst="rect">
            <a:avLst/>
          </a:prstGeom>
          <a:noFill/>
          <a:ln>
            <a:noFill/>
          </a:ln>
        </p:spPr>
      </p:pic>
      <p:sp>
        <p:nvSpPr>
          <p:cNvPr id="124" name="Google Shape;124;p21"/>
          <p:cNvSpPr txBox="1"/>
          <p:nvPr/>
        </p:nvSpPr>
        <p:spPr>
          <a:xfrm>
            <a:off x="4983480" y="2286000"/>
            <a:ext cx="1463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pl" sz="1800" u="none" cap="none" strike="noStrike">
                <a:solidFill>
                  <a:schemeClr val="dk1"/>
                </a:solidFill>
                <a:latin typeface="Calibri"/>
                <a:ea typeface="Calibri"/>
                <a:cs typeface="Calibri"/>
                <a:sym typeface="Calibri"/>
              </a:rPr>
              <a:t>Task Group</a:t>
            </a:r>
            <a:endParaRPr b="0" i="0" sz="1800" u="none" cap="none" strike="noStrike">
              <a:solidFill>
                <a:schemeClr val="dk1"/>
              </a:solidFill>
              <a:latin typeface="Calibri"/>
              <a:ea typeface="Calibri"/>
              <a:cs typeface="Calibri"/>
              <a:sym typeface="Calibri"/>
            </a:endParaRPr>
          </a:p>
        </p:txBody>
      </p:sp>
      <p:sp>
        <p:nvSpPr>
          <p:cNvPr id="125" name="Google Shape;125;p21"/>
          <p:cNvSpPr txBox="1"/>
          <p:nvPr/>
        </p:nvSpPr>
        <p:spPr>
          <a:xfrm>
            <a:off x="4983480" y="2697480"/>
            <a:ext cx="1417200" cy="86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pl" sz="1400" u="none" cap="none" strike="noStrike">
                <a:solidFill>
                  <a:schemeClr val="accent6"/>
                </a:solidFill>
                <a:latin typeface="Calibri"/>
                <a:ea typeface="Calibri"/>
                <a:cs typeface="Calibri"/>
                <a:sym typeface="Calibri"/>
              </a:rPr>
              <a:t>A set of tasks to carry out at one location.</a:t>
            </a:r>
            <a:endParaRPr b="0" i="0" sz="1400" u="none" cap="none" strike="noStrike">
              <a:solidFill>
                <a:schemeClr val="dk1"/>
              </a:solidFill>
              <a:latin typeface="Calibri"/>
              <a:ea typeface="Calibri"/>
              <a:cs typeface="Calibri"/>
              <a:sym typeface="Calibri"/>
            </a:endParaRPr>
          </a:p>
        </p:txBody>
      </p:sp>
      <p:sp>
        <p:nvSpPr>
          <p:cNvPr id="126" name="Google Shape;126;p21"/>
          <p:cNvSpPr/>
          <p:nvPr/>
        </p:nvSpPr>
        <p:spPr>
          <a:xfrm>
            <a:off x="6620256" y="2240280"/>
            <a:ext cx="201300" cy="3291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1"/>
          <p:cNvSpPr/>
          <p:nvPr/>
        </p:nvSpPr>
        <p:spPr>
          <a:xfrm>
            <a:off x="6903720" y="1188720"/>
            <a:ext cx="1783200" cy="2423100"/>
          </a:xfrm>
          <a:prstGeom prst="roundRect">
            <a:avLst>
              <a:gd fmla="val 512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1"/>
          <p:cNvSpPr/>
          <p:nvPr/>
        </p:nvSpPr>
        <p:spPr>
          <a:xfrm>
            <a:off x="7132320" y="1417320"/>
            <a:ext cx="685800" cy="685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erson" id="129" name="Google Shape;129;p21"/>
          <p:cNvPicPr preferRelativeResize="0"/>
          <p:nvPr/>
        </p:nvPicPr>
        <p:blipFill rotWithShape="1">
          <a:blip r:embed="rId6">
            <a:alphaModFix/>
          </a:blip>
          <a:srcRect b="0" l="0" r="0" t="0"/>
          <a:stretch/>
        </p:blipFill>
        <p:spPr>
          <a:xfrm>
            <a:off x="7303770" y="1588770"/>
            <a:ext cx="342900" cy="342900"/>
          </a:xfrm>
          <a:prstGeom prst="rect">
            <a:avLst/>
          </a:prstGeom>
          <a:noFill/>
          <a:ln>
            <a:noFill/>
          </a:ln>
        </p:spPr>
      </p:pic>
      <p:sp>
        <p:nvSpPr>
          <p:cNvPr id="130" name="Google Shape;130;p21"/>
          <p:cNvSpPr txBox="1"/>
          <p:nvPr/>
        </p:nvSpPr>
        <p:spPr>
          <a:xfrm>
            <a:off x="7132320" y="2286000"/>
            <a:ext cx="1463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pl" sz="1800" u="none" cap="none" strike="noStrike">
                <a:solidFill>
                  <a:schemeClr val="dk1"/>
                </a:solidFill>
                <a:latin typeface="Calibri"/>
                <a:ea typeface="Calibri"/>
                <a:cs typeface="Calibri"/>
                <a:sym typeface="Calibri"/>
              </a:rPr>
              <a:t>Person</a:t>
            </a:r>
            <a:endParaRPr b="0" i="0" sz="1800" u="none" cap="none" strike="noStrike">
              <a:solidFill>
                <a:schemeClr val="dk1"/>
              </a:solidFill>
              <a:latin typeface="Calibri"/>
              <a:ea typeface="Calibri"/>
              <a:cs typeface="Calibri"/>
              <a:sym typeface="Calibri"/>
            </a:endParaRPr>
          </a:p>
        </p:txBody>
      </p:sp>
      <p:sp>
        <p:nvSpPr>
          <p:cNvPr id="131" name="Google Shape;131;p21"/>
          <p:cNvSpPr txBox="1"/>
          <p:nvPr/>
        </p:nvSpPr>
        <p:spPr>
          <a:xfrm>
            <a:off x="7132320" y="2697480"/>
            <a:ext cx="1417200" cy="86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pl" sz="1400" u="none" cap="none" strike="noStrike">
                <a:solidFill>
                  <a:schemeClr val="accent6"/>
                </a:solidFill>
                <a:latin typeface="Calibri"/>
                <a:ea typeface="Calibri"/>
                <a:cs typeface="Calibri"/>
                <a:sym typeface="Calibri"/>
              </a:rPr>
              <a:t>Gets exactly their tasks — where they need to act.</a:t>
            </a:r>
            <a:endParaRPr b="0" i="0" sz="1400" u="none" cap="none" strike="noStrike">
              <a:solidFill>
                <a:schemeClr val="dk1"/>
              </a:solidFill>
              <a:latin typeface="Calibri"/>
              <a:ea typeface="Calibri"/>
              <a:cs typeface="Calibri"/>
              <a:sym typeface="Calibri"/>
            </a:endParaRPr>
          </a:p>
        </p:txBody>
      </p:sp>
      <p:sp>
        <p:nvSpPr>
          <p:cNvPr id="132" name="Google Shape;132;p21"/>
          <p:cNvSpPr/>
          <p:nvPr/>
        </p:nvSpPr>
        <p:spPr>
          <a:xfrm>
            <a:off x="457200" y="3840480"/>
            <a:ext cx="8229600" cy="640200"/>
          </a:xfrm>
          <a:prstGeom prst="roundRect">
            <a:avLst>
              <a:gd fmla="val 11429" name="adj"/>
            </a:avLst>
          </a:prstGeom>
          <a:solidFill>
            <a:schemeClr val="accent1">
              <a:alpha val="102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1"/>
          <p:cNvSpPr txBox="1"/>
          <p:nvPr/>
        </p:nvSpPr>
        <p:spPr>
          <a:xfrm>
            <a:off x="685800" y="3840480"/>
            <a:ext cx="7772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600"/>
              <a:buFont typeface="Calibri"/>
              <a:buNone/>
            </a:pPr>
            <a:r>
              <a:rPr b="1" i="0" lang="pl" sz="1600" u="none" cap="none" strike="noStrike">
                <a:solidFill>
                  <a:schemeClr val="accent1"/>
                </a:solidFill>
                <a:latin typeface="Calibri"/>
                <a:ea typeface="Calibri"/>
                <a:cs typeface="Calibri"/>
                <a:sym typeface="Calibri"/>
              </a:rPr>
              <a:t>Result: </a:t>
            </a:r>
            <a:r>
              <a:rPr b="0" i="0" lang="pl" sz="1600" u="none" cap="none" strike="noStrike">
                <a:solidFill>
                  <a:schemeClr val="dk1"/>
                </a:solidFill>
                <a:latin typeface="Calibri"/>
                <a:ea typeface="Calibri"/>
                <a:cs typeface="Calibri"/>
                <a:sym typeface="Calibri"/>
              </a:rPr>
              <a:t>every person gets their own tasks, at the place where they need to act.</a:t>
            </a:r>
            <a:endParaRPr b="0" i="0" sz="1600" u="none" cap="none" strike="noStrike">
              <a:solidFill>
                <a:schemeClr val="dk1"/>
              </a:solidFill>
              <a:latin typeface="Calibri"/>
              <a:ea typeface="Calibri"/>
              <a:cs typeface="Calibri"/>
              <a:sym typeface="Calibri"/>
            </a:endParaRPr>
          </a:p>
        </p:txBody>
      </p:sp>
      <p:sp>
        <p:nvSpPr>
          <p:cNvPr id="134" name="Google Shape;134;p21"/>
          <p:cNvSpPr txBox="1"/>
          <p:nvPr>
            <p:ph idx="4294967295" type="sldNum"/>
          </p:nvPr>
        </p:nvSpPr>
        <p:spPr>
          <a:xfrm>
            <a:off x="8138160" y="4727448"/>
            <a:ext cx="5487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l"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457200" y="274320"/>
            <a:ext cx="8229600" cy="59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Arial"/>
              <a:buNone/>
            </a:pPr>
            <a:r>
              <a:rPr b="1" lang="pl" sz="2800">
                <a:solidFill>
                  <a:schemeClr val="dk1"/>
                </a:solidFill>
                <a:latin typeface="Arial"/>
                <a:ea typeface="Arial"/>
                <a:cs typeface="Arial"/>
                <a:sym typeface="Arial"/>
              </a:rPr>
              <a:t>Always Ready — Even Offline</a:t>
            </a:r>
            <a:endParaRPr sz="2800"/>
          </a:p>
        </p:txBody>
      </p:sp>
      <p:sp>
        <p:nvSpPr>
          <p:cNvPr id="141" name="Google Shape;141;p22"/>
          <p:cNvSpPr/>
          <p:nvPr/>
        </p:nvSpPr>
        <p:spPr>
          <a:xfrm>
            <a:off x="457200" y="1188720"/>
            <a:ext cx="3108900" cy="3291900"/>
          </a:xfrm>
          <a:prstGeom prst="roundRect">
            <a:avLst>
              <a:gd fmla="val 352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2"/>
          <p:cNvSpPr txBox="1"/>
          <p:nvPr/>
        </p:nvSpPr>
        <p:spPr>
          <a:xfrm>
            <a:off x="777240" y="1600200"/>
            <a:ext cx="2560200" cy="128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9600"/>
              <a:buFont typeface="Arial"/>
              <a:buNone/>
            </a:pPr>
            <a:r>
              <a:rPr b="1" i="0" lang="pl" sz="9600" u="none" cap="none" strike="noStrike">
                <a:solidFill>
                  <a:schemeClr val="accent1"/>
                </a:solidFill>
                <a:latin typeface="Arial"/>
                <a:ea typeface="Arial"/>
                <a:cs typeface="Arial"/>
                <a:sym typeface="Arial"/>
              </a:rPr>
              <a:t>0</a:t>
            </a:r>
            <a:endParaRPr b="0" i="0" sz="9600" u="none" cap="none" strike="noStrike">
              <a:solidFill>
                <a:schemeClr val="dk1"/>
              </a:solidFill>
              <a:latin typeface="Calibri"/>
              <a:ea typeface="Calibri"/>
              <a:cs typeface="Calibri"/>
              <a:sym typeface="Calibri"/>
            </a:endParaRPr>
          </a:p>
        </p:txBody>
      </p:sp>
      <p:sp>
        <p:nvSpPr>
          <p:cNvPr id="143" name="Google Shape;143;p22"/>
          <p:cNvSpPr txBox="1"/>
          <p:nvPr/>
        </p:nvSpPr>
        <p:spPr>
          <a:xfrm>
            <a:off x="777240" y="2971800"/>
            <a:ext cx="24690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Calibri"/>
              <a:buNone/>
            </a:pPr>
            <a:r>
              <a:rPr b="1" i="0" lang="pl" sz="1700" u="none" cap="none" strike="noStrike">
                <a:solidFill>
                  <a:schemeClr val="lt1"/>
                </a:solidFill>
                <a:latin typeface="Calibri"/>
                <a:ea typeface="Calibri"/>
                <a:cs typeface="Calibri"/>
                <a:sym typeface="Calibri"/>
              </a:rPr>
              <a:t>seconds spent searching for the right procedure.</a:t>
            </a:r>
            <a:endParaRPr b="1" i="0" sz="1700" u="none" cap="none" strike="noStrike">
              <a:solidFill>
                <a:schemeClr val="lt1"/>
              </a:solidFill>
              <a:latin typeface="Calibri"/>
              <a:ea typeface="Calibri"/>
              <a:cs typeface="Calibri"/>
              <a:sym typeface="Calibri"/>
            </a:endParaRPr>
          </a:p>
          <a:p>
            <a:pPr indent="0" lvl="0" marL="0" marR="0" rtl="0" algn="l">
              <a:spcBef>
                <a:spcPts val="0"/>
              </a:spcBef>
              <a:spcAft>
                <a:spcPts val="0"/>
              </a:spcAft>
              <a:buClr>
                <a:schemeClr val="lt1"/>
              </a:buClr>
              <a:buSzPts val="1700"/>
              <a:buFont typeface="Calibri"/>
              <a:buNone/>
            </a:pPr>
            <a:r>
              <a:rPr b="1" lang="pl" sz="1700">
                <a:solidFill>
                  <a:schemeClr val="lt1"/>
                </a:solidFill>
                <a:latin typeface="Calibri"/>
                <a:ea typeface="Calibri"/>
                <a:cs typeface="Calibri"/>
                <a:sym typeface="Calibri"/>
              </a:rPr>
              <a:t>Just click the notification.</a:t>
            </a:r>
            <a:endParaRPr b="1" sz="1700">
              <a:solidFill>
                <a:schemeClr val="lt1"/>
              </a:solidFill>
              <a:latin typeface="Calibri"/>
              <a:ea typeface="Calibri"/>
              <a:cs typeface="Calibri"/>
              <a:sym typeface="Calibri"/>
            </a:endParaRPr>
          </a:p>
        </p:txBody>
      </p:sp>
      <p:sp>
        <p:nvSpPr>
          <p:cNvPr id="144" name="Google Shape;144;p22"/>
          <p:cNvSpPr/>
          <p:nvPr/>
        </p:nvSpPr>
        <p:spPr>
          <a:xfrm>
            <a:off x="3931920" y="1234440"/>
            <a:ext cx="548700" cy="548700"/>
          </a:xfrm>
          <a:prstGeom prst="ellipse">
            <a:avLst/>
          </a:prstGeom>
          <a:solidFill>
            <a:schemeClr val="accent1">
              <a:alpha val="121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istributed in advance" id="145" name="Google Shape;145;p22"/>
          <p:cNvPicPr preferRelativeResize="0"/>
          <p:nvPr/>
        </p:nvPicPr>
        <p:blipFill rotWithShape="1">
          <a:blip r:embed="rId3">
            <a:alphaModFix/>
          </a:blip>
          <a:srcRect b="0" l="0" r="0" t="0"/>
          <a:stretch/>
        </p:blipFill>
        <p:spPr>
          <a:xfrm>
            <a:off x="4069080" y="1371600"/>
            <a:ext cx="274320" cy="274320"/>
          </a:xfrm>
          <a:prstGeom prst="rect">
            <a:avLst/>
          </a:prstGeom>
          <a:noFill/>
          <a:ln>
            <a:noFill/>
          </a:ln>
        </p:spPr>
      </p:pic>
      <p:sp>
        <p:nvSpPr>
          <p:cNvPr id="146" name="Google Shape;146;p22"/>
          <p:cNvSpPr txBox="1"/>
          <p:nvPr/>
        </p:nvSpPr>
        <p:spPr>
          <a:xfrm>
            <a:off x="4663440" y="1216152"/>
            <a:ext cx="40233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pl" sz="1700" u="none" cap="none" strike="noStrike">
                <a:solidFill>
                  <a:schemeClr val="dk1"/>
                </a:solidFill>
                <a:latin typeface="Calibri"/>
                <a:ea typeface="Calibri"/>
                <a:cs typeface="Calibri"/>
                <a:sym typeface="Calibri"/>
              </a:rPr>
              <a:t>Distributed in advance</a:t>
            </a:r>
            <a:endParaRPr b="0" i="0" sz="1700" u="none" cap="none" strike="noStrike">
              <a:solidFill>
                <a:schemeClr val="dk1"/>
              </a:solidFill>
              <a:latin typeface="Calibri"/>
              <a:ea typeface="Calibri"/>
              <a:cs typeface="Calibri"/>
              <a:sym typeface="Calibri"/>
            </a:endParaRPr>
          </a:p>
        </p:txBody>
      </p:sp>
      <p:sp>
        <p:nvSpPr>
          <p:cNvPr id="147" name="Google Shape;147;p22"/>
          <p:cNvSpPr txBox="1"/>
          <p:nvPr/>
        </p:nvSpPr>
        <p:spPr>
          <a:xfrm>
            <a:off x="4663440" y="1563624"/>
            <a:ext cx="40233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pl" sz="1400" u="none" cap="none" strike="noStrike">
                <a:solidFill>
                  <a:schemeClr val="accent6"/>
                </a:solidFill>
                <a:latin typeface="Calibri"/>
                <a:ea typeface="Calibri"/>
                <a:cs typeface="Calibri"/>
                <a:sym typeface="Calibri"/>
              </a:rPr>
              <a:t>Scenarios and alarm keys are pushed to every device periodically.</a:t>
            </a:r>
            <a:endParaRPr b="0" i="0" sz="1400" u="none" cap="none" strike="noStrike">
              <a:solidFill>
                <a:schemeClr val="dk1"/>
              </a:solidFill>
              <a:latin typeface="Calibri"/>
              <a:ea typeface="Calibri"/>
              <a:cs typeface="Calibri"/>
              <a:sym typeface="Calibri"/>
            </a:endParaRPr>
          </a:p>
        </p:txBody>
      </p:sp>
      <p:sp>
        <p:nvSpPr>
          <p:cNvPr id="148" name="Google Shape;148;p22"/>
          <p:cNvSpPr/>
          <p:nvPr/>
        </p:nvSpPr>
        <p:spPr>
          <a:xfrm>
            <a:off x="3931920" y="2331720"/>
            <a:ext cx="548700" cy="548700"/>
          </a:xfrm>
          <a:prstGeom prst="ellipse">
            <a:avLst/>
          </a:prstGeom>
          <a:solidFill>
            <a:schemeClr val="accent1">
              <a:alpha val="121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tored on the device" id="149" name="Google Shape;149;p22"/>
          <p:cNvPicPr preferRelativeResize="0"/>
          <p:nvPr/>
        </p:nvPicPr>
        <p:blipFill rotWithShape="1">
          <a:blip r:embed="rId4">
            <a:alphaModFix/>
          </a:blip>
          <a:srcRect b="0" l="0" r="0" t="0"/>
          <a:stretch/>
        </p:blipFill>
        <p:spPr>
          <a:xfrm>
            <a:off x="4069080" y="2468880"/>
            <a:ext cx="274320" cy="274320"/>
          </a:xfrm>
          <a:prstGeom prst="rect">
            <a:avLst/>
          </a:prstGeom>
          <a:noFill/>
          <a:ln>
            <a:noFill/>
          </a:ln>
        </p:spPr>
      </p:pic>
      <p:sp>
        <p:nvSpPr>
          <p:cNvPr id="150" name="Google Shape;150;p22"/>
          <p:cNvSpPr txBox="1"/>
          <p:nvPr/>
        </p:nvSpPr>
        <p:spPr>
          <a:xfrm>
            <a:off x="4663440" y="2313432"/>
            <a:ext cx="40233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pl" sz="1700" u="none" cap="none" strike="noStrike">
                <a:solidFill>
                  <a:schemeClr val="dk1"/>
                </a:solidFill>
                <a:latin typeface="Calibri"/>
                <a:ea typeface="Calibri"/>
                <a:cs typeface="Calibri"/>
                <a:sym typeface="Calibri"/>
              </a:rPr>
              <a:t>Stored offline on the device</a:t>
            </a:r>
            <a:endParaRPr b="0" i="0" sz="1700" u="none" cap="none" strike="noStrike">
              <a:solidFill>
                <a:schemeClr val="dk1"/>
              </a:solidFill>
              <a:latin typeface="Calibri"/>
              <a:ea typeface="Calibri"/>
              <a:cs typeface="Calibri"/>
              <a:sym typeface="Calibri"/>
            </a:endParaRPr>
          </a:p>
        </p:txBody>
      </p:sp>
      <p:sp>
        <p:nvSpPr>
          <p:cNvPr id="151" name="Google Shape;151;p22"/>
          <p:cNvSpPr txBox="1"/>
          <p:nvPr/>
        </p:nvSpPr>
        <p:spPr>
          <a:xfrm>
            <a:off x="4663440" y="2660904"/>
            <a:ext cx="40233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pl" sz="1400" u="none" cap="none" strike="noStrike">
                <a:solidFill>
                  <a:schemeClr val="accent6"/>
                </a:solidFill>
                <a:latin typeface="Calibri"/>
                <a:ea typeface="Calibri"/>
                <a:cs typeface="Calibri"/>
                <a:sym typeface="Calibri"/>
              </a:rPr>
              <a:t>Each phone keeps its scenarios offline — ready without a server.</a:t>
            </a:r>
            <a:endParaRPr b="0" i="0" sz="1400" u="none" cap="none" strike="noStrike">
              <a:solidFill>
                <a:schemeClr val="dk1"/>
              </a:solidFill>
              <a:latin typeface="Calibri"/>
              <a:ea typeface="Calibri"/>
              <a:cs typeface="Calibri"/>
              <a:sym typeface="Calibri"/>
            </a:endParaRPr>
          </a:p>
        </p:txBody>
      </p:sp>
      <p:sp>
        <p:nvSpPr>
          <p:cNvPr id="152" name="Google Shape;152;p22"/>
          <p:cNvSpPr/>
          <p:nvPr/>
        </p:nvSpPr>
        <p:spPr>
          <a:xfrm>
            <a:off x="3931920" y="3429000"/>
            <a:ext cx="548700" cy="548700"/>
          </a:xfrm>
          <a:prstGeom prst="ellipse">
            <a:avLst/>
          </a:prstGeom>
          <a:solidFill>
            <a:schemeClr val="accent1">
              <a:alpha val="121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nstant on alarm" id="153" name="Google Shape;153;p22"/>
          <p:cNvPicPr preferRelativeResize="0"/>
          <p:nvPr/>
        </p:nvPicPr>
        <p:blipFill rotWithShape="1">
          <a:blip r:embed="rId5">
            <a:alphaModFix/>
          </a:blip>
          <a:srcRect b="0" l="0" r="0" t="0"/>
          <a:stretch/>
        </p:blipFill>
        <p:spPr>
          <a:xfrm>
            <a:off x="4069080" y="3566160"/>
            <a:ext cx="274320" cy="274320"/>
          </a:xfrm>
          <a:prstGeom prst="rect">
            <a:avLst/>
          </a:prstGeom>
          <a:noFill/>
          <a:ln>
            <a:noFill/>
          </a:ln>
        </p:spPr>
      </p:pic>
      <p:sp>
        <p:nvSpPr>
          <p:cNvPr id="154" name="Google Shape;154;p22"/>
          <p:cNvSpPr txBox="1"/>
          <p:nvPr/>
        </p:nvSpPr>
        <p:spPr>
          <a:xfrm>
            <a:off x="4663440" y="3410712"/>
            <a:ext cx="40233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pl" sz="1700" u="none" cap="none" strike="noStrike">
                <a:solidFill>
                  <a:schemeClr val="dk1"/>
                </a:solidFill>
                <a:latin typeface="Calibri"/>
                <a:ea typeface="Calibri"/>
                <a:cs typeface="Calibri"/>
                <a:sym typeface="Calibri"/>
              </a:rPr>
              <a:t>Instant on alarm</a:t>
            </a:r>
            <a:endParaRPr b="0" i="0" sz="1700" u="none" cap="none" strike="noStrike">
              <a:solidFill>
                <a:schemeClr val="dk1"/>
              </a:solidFill>
              <a:latin typeface="Calibri"/>
              <a:ea typeface="Calibri"/>
              <a:cs typeface="Calibri"/>
              <a:sym typeface="Calibri"/>
            </a:endParaRPr>
          </a:p>
        </p:txBody>
      </p:sp>
      <p:sp>
        <p:nvSpPr>
          <p:cNvPr id="155" name="Google Shape;155;p22"/>
          <p:cNvSpPr txBox="1"/>
          <p:nvPr/>
        </p:nvSpPr>
        <p:spPr>
          <a:xfrm>
            <a:off x="4663440" y="3758184"/>
            <a:ext cx="40233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pl" sz="1400" u="none" cap="none" strike="noStrike">
                <a:solidFill>
                  <a:schemeClr val="accent6"/>
                </a:solidFill>
                <a:latin typeface="Calibri"/>
                <a:ea typeface="Calibri"/>
                <a:cs typeface="Calibri"/>
                <a:sym typeface="Calibri"/>
              </a:rPr>
              <a:t>Users never hunt for procedures when an emergency starts.</a:t>
            </a:r>
            <a:endParaRPr b="0" i="0" sz="1400" u="none" cap="none" strike="noStrike">
              <a:solidFill>
                <a:schemeClr val="dk1"/>
              </a:solidFill>
              <a:latin typeface="Calibri"/>
              <a:ea typeface="Calibri"/>
              <a:cs typeface="Calibri"/>
              <a:sym typeface="Calibri"/>
            </a:endParaRPr>
          </a:p>
        </p:txBody>
      </p:sp>
      <p:sp>
        <p:nvSpPr>
          <p:cNvPr id="156" name="Google Shape;156;p22"/>
          <p:cNvSpPr txBox="1"/>
          <p:nvPr>
            <p:ph idx="4294967295" type="sldNum"/>
          </p:nvPr>
        </p:nvSpPr>
        <p:spPr>
          <a:xfrm>
            <a:off x="8138160" y="4727448"/>
            <a:ext cx="5487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l"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3"/>
          <p:cNvSpPr txBox="1"/>
          <p:nvPr>
            <p:ph type="title"/>
          </p:nvPr>
        </p:nvSpPr>
        <p:spPr>
          <a:xfrm>
            <a:off x="457200" y="274320"/>
            <a:ext cx="8229600" cy="59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Arial"/>
              <a:buNone/>
            </a:pPr>
            <a:r>
              <a:rPr b="1" lang="pl" sz="2800">
                <a:solidFill>
                  <a:schemeClr val="dk1"/>
                </a:solidFill>
                <a:latin typeface="Arial"/>
                <a:ea typeface="Arial"/>
                <a:cs typeface="Arial"/>
                <a:sym typeface="Arial"/>
              </a:rPr>
              <a:t>Communication-Independent</a:t>
            </a:r>
            <a:endParaRPr sz="2800"/>
          </a:p>
        </p:txBody>
      </p:sp>
      <p:sp>
        <p:nvSpPr>
          <p:cNvPr id="163" name="Google Shape;163;p23"/>
          <p:cNvSpPr txBox="1"/>
          <p:nvPr/>
        </p:nvSpPr>
        <p:spPr>
          <a:xfrm>
            <a:off x="457200" y="1188720"/>
            <a:ext cx="3840600" cy="64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pl" sz="1700" u="none" cap="none" strike="noStrike">
                <a:solidFill>
                  <a:schemeClr val="dk1"/>
                </a:solidFill>
                <a:latin typeface="Calibri"/>
                <a:ea typeface="Calibri"/>
                <a:cs typeface="Calibri"/>
                <a:sym typeface="Calibri"/>
              </a:rPr>
              <a:t>The alarm does not depend on a single communication medium.</a:t>
            </a:r>
            <a:endParaRPr b="0" i="0" sz="1700" u="none" cap="none" strike="noStrike">
              <a:solidFill>
                <a:schemeClr val="dk1"/>
              </a:solidFill>
              <a:latin typeface="Calibri"/>
              <a:ea typeface="Calibri"/>
              <a:cs typeface="Calibri"/>
              <a:sym typeface="Calibri"/>
            </a:endParaRPr>
          </a:p>
        </p:txBody>
      </p:sp>
      <p:sp>
        <p:nvSpPr>
          <p:cNvPr id="164" name="Google Shape;164;p23"/>
          <p:cNvSpPr txBox="1"/>
          <p:nvPr/>
        </p:nvSpPr>
        <p:spPr>
          <a:xfrm>
            <a:off x="457200" y="1874520"/>
            <a:ext cx="38406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pl" sz="1400" u="none" cap="none" strike="noStrike">
                <a:solidFill>
                  <a:schemeClr val="accent6"/>
                </a:solidFill>
                <a:latin typeface="Calibri"/>
                <a:ea typeface="Calibri"/>
                <a:cs typeface="Calibri"/>
                <a:sym typeface="Calibri"/>
              </a:rPr>
              <a:t>Every device that receives a valid alarm forwards it to others in reach. The medium can change from hop to hop.</a:t>
            </a:r>
            <a:endParaRPr b="0" i="0" sz="1400" u="none" cap="none" strike="noStrike">
              <a:solidFill>
                <a:schemeClr val="dk1"/>
              </a:solidFill>
              <a:latin typeface="Calibri"/>
              <a:ea typeface="Calibri"/>
              <a:cs typeface="Calibri"/>
              <a:sym typeface="Calibri"/>
            </a:endParaRPr>
          </a:p>
        </p:txBody>
      </p:sp>
      <p:sp>
        <p:nvSpPr>
          <p:cNvPr id="165" name="Google Shape;165;p23"/>
          <p:cNvSpPr/>
          <p:nvPr/>
        </p:nvSpPr>
        <p:spPr>
          <a:xfrm>
            <a:off x="457200" y="2880360"/>
            <a:ext cx="1188600" cy="3840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Radio" id="166" name="Google Shape;166;p23"/>
          <p:cNvPicPr preferRelativeResize="0"/>
          <p:nvPr/>
        </p:nvPicPr>
        <p:blipFill rotWithShape="1">
          <a:blip r:embed="rId3">
            <a:alphaModFix/>
          </a:blip>
          <a:srcRect b="0" l="0" r="0" t="0"/>
          <a:stretch/>
        </p:blipFill>
        <p:spPr>
          <a:xfrm>
            <a:off x="576072" y="2971800"/>
            <a:ext cx="201168" cy="201168"/>
          </a:xfrm>
          <a:prstGeom prst="rect">
            <a:avLst/>
          </a:prstGeom>
          <a:noFill/>
          <a:ln>
            <a:noFill/>
          </a:ln>
        </p:spPr>
      </p:pic>
      <p:sp>
        <p:nvSpPr>
          <p:cNvPr id="167" name="Google Shape;167;p23"/>
          <p:cNvSpPr txBox="1"/>
          <p:nvPr/>
        </p:nvSpPr>
        <p:spPr>
          <a:xfrm>
            <a:off x="841248" y="2880360"/>
            <a:ext cx="7773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pl" sz="1200" u="none" cap="none" strike="noStrike">
                <a:solidFill>
                  <a:schemeClr val="dk1"/>
                </a:solidFill>
                <a:latin typeface="Calibri"/>
                <a:ea typeface="Calibri"/>
                <a:cs typeface="Calibri"/>
                <a:sym typeface="Calibri"/>
              </a:rPr>
              <a:t>Radio</a:t>
            </a:r>
            <a:endParaRPr b="0" i="0" sz="1200" u="none" cap="none" strike="noStrike">
              <a:solidFill>
                <a:schemeClr val="dk1"/>
              </a:solidFill>
              <a:latin typeface="Calibri"/>
              <a:ea typeface="Calibri"/>
              <a:cs typeface="Calibri"/>
              <a:sym typeface="Calibri"/>
            </a:endParaRPr>
          </a:p>
        </p:txBody>
      </p:sp>
      <p:sp>
        <p:nvSpPr>
          <p:cNvPr id="168" name="Google Shape;168;p23"/>
          <p:cNvSpPr/>
          <p:nvPr/>
        </p:nvSpPr>
        <p:spPr>
          <a:xfrm>
            <a:off x="1755648" y="2880360"/>
            <a:ext cx="1188600" cy="3840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Bluetooth" id="169" name="Google Shape;169;p23"/>
          <p:cNvPicPr preferRelativeResize="0"/>
          <p:nvPr/>
        </p:nvPicPr>
        <p:blipFill rotWithShape="1">
          <a:blip r:embed="rId4">
            <a:alphaModFix/>
          </a:blip>
          <a:srcRect b="0" l="0" r="0" t="0"/>
          <a:stretch/>
        </p:blipFill>
        <p:spPr>
          <a:xfrm>
            <a:off x="1874520" y="2971800"/>
            <a:ext cx="201168" cy="201168"/>
          </a:xfrm>
          <a:prstGeom prst="rect">
            <a:avLst/>
          </a:prstGeom>
          <a:noFill/>
          <a:ln>
            <a:noFill/>
          </a:ln>
        </p:spPr>
      </p:pic>
      <p:sp>
        <p:nvSpPr>
          <p:cNvPr id="170" name="Google Shape;170;p23"/>
          <p:cNvSpPr txBox="1"/>
          <p:nvPr/>
        </p:nvSpPr>
        <p:spPr>
          <a:xfrm>
            <a:off x="2139696" y="2880360"/>
            <a:ext cx="7773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pl" sz="1200" u="none" cap="none" strike="noStrike">
                <a:solidFill>
                  <a:schemeClr val="dk1"/>
                </a:solidFill>
                <a:latin typeface="Calibri"/>
                <a:ea typeface="Calibri"/>
                <a:cs typeface="Calibri"/>
                <a:sym typeface="Calibri"/>
              </a:rPr>
              <a:t>Bluetooth</a:t>
            </a:r>
            <a:endParaRPr b="0" i="0" sz="1200" u="none" cap="none" strike="noStrike">
              <a:solidFill>
                <a:schemeClr val="dk1"/>
              </a:solidFill>
              <a:latin typeface="Calibri"/>
              <a:ea typeface="Calibri"/>
              <a:cs typeface="Calibri"/>
              <a:sym typeface="Calibri"/>
            </a:endParaRPr>
          </a:p>
        </p:txBody>
      </p:sp>
      <p:sp>
        <p:nvSpPr>
          <p:cNvPr id="171" name="Google Shape;171;p23"/>
          <p:cNvSpPr/>
          <p:nvPr/>
        </p:nvSpPr>
        <p:spPr>
          <a:xfrm>
            <a:off x="3054096" y="2880360"/>
            <a:ext cx="1188600" cy="3840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ager" id="172" name="Google Shape;172;p23"/>
          <p:cNvPicPr preferRelativeResize="0"/>
          <p:nvPr/>
        </p:nvPicPr>
        <p:blipFill rotWithShape="1">
          <a:blip r:embed="rId5">
            <a:alphaModFix/>
          </a:blip>
          <a:srcRect b="0" l="0" r="0" t="0"/>
          <a:stretch/>
        </p:blipFill>
        <p:spPr>
          <a:xfrm>
            <a:off x="3172968" y="2971800"/>
            <a:ext cx="201168" cy="201168"/>
          </a:xfrm>
          <a:prstGeom prst="rect">
            <a:avLst/>
          </a:prstGeom>
          <a:noFill/>
          <a:ln>
            <a:noFill/>
          </a:ln>
        </p:spPr>
      </p:pic>
      <p:sp>
        <p:nvSpPr>
          <p:cNvPr id="173" name="Google Shape;173;p23"/>
          <p:cNvSpPr txBox="1"/>
          <p:nvPr/>
        </p:nvSpPr>
        <p:spPr>
          <a:xfrm>
            <a:off x="3438144" y="2880360"/>
            <a:ext cx="7773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pl" sz="1200" u="none" cap="none" strike="noStrike">
                <a:solidFill>
                  <a:schemeClr val="dk1"/>
                </a:solidFill>
                <a:latin typeface="Calibri"/>
                <a:ea typeface="Calibri"/>
                <a:cs typeface="Calibri"/>
                <a:sym typeface="Calibri"/>
              </a:rPr>
              <a:t>Pager</a:t>
            </a:r>
            <a:endParaRPr b="0" i="0" sz="1200" u="none" cap="none" strike="noStrike">
              <a:solidFill>
                <a:schemeClr val="dk1"/>
              </a:solidFill>
              <a:latin typeface="Calibri"/>
              <a:ea typeface="Calibri"/>
              <a:cs typeface="Calibri"/>
              <a:sym typeface="Calibri"/>
            </a:endParaRPr>
          </a:p>
        </p:txBody>
      </p:sp>
      <p:sp>
        <p:nvSpPr>
          <p:cNvPr id="174" name="Google Shape;174;p23"/>
          <p:cNvSpPr/>
          <p:nvPr/>
        </p:nvSpPr>
        <p:spPr>
          <a:xfrm>
            <a:off x="457200" y="3383280"/>
            <a:ext cx="1188600" cy="3840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esh" id="175" name="Google Shape;175;p23"/>
          <p:cNvPicPr preferRelativeResize="0"/>
          <p:nvPr/>
        </p:nvPicPr>
        <p:blipFill rotWithShape="1">
          <a:blip r:embed="rId6">
            <a:alphaModFix/>
          </a:blip>
          <a:srcRect b="0" l="0" r="0" t="0"/>
          <a:stretch/>
        </p:blipFill>
        <p:spPr>
          <a:xfrm>
            <a:off x="576072" y="3474720"/>
            <a:ext cx="201168" cy="201168"/>
          </a:xfrm>
          <a:prstGeom prst="rect">
            <a:avLst/>
          </a:prstGeom>
          <a:noFill/>
          <a:ln>
            <a:noFill/>
          </a:ln>
        </p:spPr>
      </p:pic>
      <p:sp>
        <p:nvSpPr>
          <p:cNvPr id="176" name="Google Shape;176;p23"/>
          <p:cNvSpPr txBox="1"/>
          <p:nvPr/>
        </p:nvSpPr>
        <p:spPr>
          <a:xfrm>
            <a:off x="841248" y="3383280"/>
            <a:ext cx="7773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pl" sz="1200" u="none" cap="none" strike="noStrike">
                <a:solidFill>
                  <a:schemeClr val="dk1"/>
                </a:solidFill>
                <a:latin typeface="Calibri"/>
                <a:ea typeface="Calibri"/>
                <a:cs typeface="Calibri"/>
                <a:sym typeface="Calibri"/>
              </a:rPr>
              <a:t>Mesh</a:t>
            </a:r>
            <a:endParaRPr b="0" i="0" sz="1200" u="none" cap="none" strike="noStrike">
              <a:solidFill>
                <a:schemeClr val="dk1"/>
              </a:solidFill>
              <a:latin typeface="Calibri"/>
              <a:ea typeface="Calibri"/>
              <a:cs typeface="Calibri"/>
              <a:sym typeface="Calibri"/>
            </a:endParaRPr>
          </a:p>
        </p:txBody>
      </p:sp>
      <p:sp>
        <p:nvSpPr>
          <p:cNvPr id="177" name="Google Shape;177;p23"/>
          <p:cNvSpPr/>
          <p:nvPr/>
        </p:nvSpPr>
        <p:spPr>
          <a:xfrm>
            <a:off x="1755648" y="3383280"/>
            <a:ext cx="1188600" cy="3840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nternet" id="178" name="Google Shape;178;p23"/>
          <p:cNvPicPr preferRelativeResize="0"/>
          <p:nvPr/>
        </p:nvPicPr>
        <p:blipFill rotWithShape="1">
          <a:blip r:embed="rId7">
            <a:alphaModFix/>
          </a:blip>
          <a:srcRect b="0" l="0" r="0" t="0"/>
          <a:stretch/>
        </p:blipFill>
        <p:spPr>
          <a:xfrm>
            <a:off x="1874520" y="3474720"/>
            <a:ext cx="201168" cy="201168"/>
          </a:xfrm>
          <a:prstGeom prst="rect">
            <a:avLst/>
          </a:prstGeom>
          <a:noFill/>
          <a:ln>
            <a:noFill/>
          </a:ln>
        </p:spPr>
      </p:pic>
      <p:sp>
        <p:nvSpPr>
          <p:cNvPr id="179" name="Google Shape;179;p23"/>
          <p:cNvSpPr txBox="1"/>
          <p:nvPr/>
        </p:nvSpPr>
        <p:spPr>
          <a:xfrm>
            <a:off x="2139696" y="3383280"/>
            <a:ext cx="7773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pl" sz="1200" u="none" cap="none" strike="noStrike">
                <a:solidFill>
                  <a:schemeClr val="dk1"/>
                </a:solidFill>
                <a:latin typeface="Calibri"/>
                <a:ea typeface="Calibri"/>
                <a:cs typeface="Calibri"/>
                <a:sym typeface="Calibri"/>
              </a:rPr>
              <a:t>Internet</a:t>
            </a:r>
            <a:endParaRPr b="0" i="0" sz="1200" u="none" cap="none" strike="noStrike">
              <a:solidFill>
                <a:schemeClr val="dk1"/>
              </a:solidFill>
              <a:latin typeface="Calibri"/>
              <a:ea typeface="Calibri"/>
              <a:cs typeface="Calibri"/>
              <a:sym typeface="Calibri"/>
            </a:endParaRPr>
          </a:p>
        </p:txBody>
      </p:sp>
      <p:sp>
        <p:nvSpPr>
          <p:cNvPr id="180" name="Google Shape;180;p23"/>
          <p:cNvSpPr txBox="1"/>
          <p:nvPr/>
        </p:nvSpPr>
        <p:spPr>
          <a:xfrm>
            <a:off x="457200" y="4023360"/>
            <a:ext cx="3840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1" lang="pl" sz="1400" u="none" cap="none" strike="noStrike">
                <a:solidFill>
                  <a:schemeClr val="accent1"/>
                </a:solidFill>
                <a:latin typeface="Calibri"/>
                <a:ea typeface="Calibri"/>
                <a:cs typeface="Calibri"/>
                <a:sym typeface="Calibri"/>
              </a:rPr>
              <a:t>Alarms can reach people before the server does — or without it.</a:t>
            </a:r>
            <a:endParaRPr b="0" i="0" sz="1400" u="none" cap="none" strike="noStrike">
              <a:solidFill>
                <a:schemeClr val="dk1"/>
              </a:solidFill>
              <a:latin typeface="Calibri"/>
              <a:ea typeface="Calibri"/>
              <a:cs typeface="Calibri"/>
              <a:sym typeface="Calibri"/>
            </a:endParaRPr>
          </a:p>
        </p:txBody>
      </p:sp>
      <p:sp>
        <p:nvSpPr>
          <p:cNvPr id="181" name="Google Shape;181;p23"/>
          <p:cNvSpPr/>
          <p:nvPr/>
        </p:nvSpPr>
        <p:spPr>
          <a:xfrm>
            <a:off x="4663440" y="1188720"/>
            <a:ext cx="4023300" cy="3291900"/>
          </a:xfrm>
          <a:prstGeom prst="roundRect">
            <a:avLst>
              <a:gd fmla="val 333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2" name="Google Shape;182;p23"/>
          <p:cNvCxnSpPr/>
          <p:nvPr/>
        </p:nvCxnSpPr>
        <p:spPr>
          <a:xfrm flipH="1" rot="10800000">
            <a:off x="5349240" y="1645920"/>
            <a:ext cx="1371600" cy="228600"/>
          </a:xfrm>
          <a:prstGeom prst="straightConnector1">
            <a:avLst/>
          </a:prstGeom>
          <a:noFill/>
          <a:ln cap="flat" cmpd="sng" w="22225">
            <a:solidFill>
              <a:srgbClr val="0F1724"/>
            </a:solidFill>
            <a:prstDash val="solid"/>
            <a:round/>
            <a:headEnd len="sm" w="sm" type="none"/>
            <a:tailEnd len="sm" w="sm" type="none"/>
          </a:ln>
        </p:spPr>
      </p:cxnSp>
      <p:sp>
        <p:nvSpPr>
          <p:cNvPr id="183" name="Google Shape;183;p23"/>
          <p:cNvSpPr txBox="1"/>
          <p:nvPr/>
        </p:nvSpPr>
        <p:spPr>
          <a:xfrm>
            <a:off x="5760720" y="1650492"/>
            <a:ext cx="548700" cy="219600"/>
          </a:xfrm>
          <a:prstGeom prst="rect">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pl" sz="1000" u="none" cap="none" strike="noStrike">
                <a:solidFill>
                  <a:schemeClr val="accent6"/>
                </a:solidFill>
                <a:latin typeface="Calibri"/>
                <a:ea typeface="Calibri"/>
                <a:cs typeface="Calibri"/>
                <a:sym typeface="Calibri"/>
              </a:rPr>
              <a:t>radio</a:t>
            </a:r>
            <a:endParaRPr b="0" i="0" sz="1000" u="none" cap="none" strike="noStrike">
              <a:solidFill>
                <a:schemeClr val="dk1"/>
              </a:solidFill>
              <a:latin typeface="Calibri"/>
              <a:ea typeface="Calibri"/>
              <a:cs typeface="Calibri"/>
              <a:sym typeface="Calibri"/>
            </a:endParaRPr>
          </a:p>
        </p:txBody>
      </p:sp>
      <p:cxnSp>
        <p:nvCxnSpPr>
          <p:cNvPr id="184" name="Google Shape;184;p23"/>
          <p:cNvCxnSpPr/>
          <p:nvPr/>
        </p:nvCxnSpPr>
        <p:spPr>
          <a:xfrm>
            <a:off x="5349240" y="1874520"/>
            <a:ext cx="822900" cy="1097400"/>
          </a:xfrm>
          <a:prstGeom prst="straightConnector1">
            <a:avLst/>
          </a:prstGeom>
          <a:noFill/>
          <a:ln cap="flat" cmpd="sng" w="22225">
            <a:solidFill>
              <a:srgbClr val="0F1724"/>
            </a:solidFill>
            <a:prstDash val="solid"/>
            <a:round/>
            <a:headEnd len="sm" w="sm" type="none"/>
            <a:tailEnd len="sm" w="sm" type="none"/>
          </a:ln>
        </p:spPr>
      </p:cxnSp>
      <p:sp>
        <p:nvSpPr>
          <p:cNvPr id="185" name="Google Shape;185;p23"/>
          <p:cNvSpPr txBox="1"/>
          <p:nvPr/>
        </p:nvSpPr>
        <p:spPr>
          <a:xfrm>
            <a:off x="5486400" y="2313432"/>
            <a:ext cx="548700" cy="219600"/>
          </a:xfrm>
          <a:prstGeom prst="rect">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pl" sz="1000" u="none" cap="none" strike="noStrike">
                <a:solidFill>
                  <a:schemeClr val="accent6"/>
                </a:solidFill>
                <a:latin typeface="Calibri"/>
                <a:ea typeface="Calibri"/>
                <a:cs typeface="Calibri"/>
                <a:sym typeface="Calibri"/>
              </a:rPr>
              <a:t>BT</a:t>
            </a:r>
            <a:endParaRPr b="0" i="0" sz="1000" u="none" cap="none" strike="noStrike">
              <a:solidFill>
                <a:schemeClr val="dk1"/>
              </a:solidFill>
              <a:latin typeface="Calibri"/>
              <a:ea typeface="Calibri"/>
              <a:cs typeface="Calibri"/>
              <a:sym typeface="Calibri"/>
            </a:endParaRPr>
          </a:p>
        </p:txBody>
      </p:sp>
      <p:cxnSp>
        <p:nvCxnSpPr>
          <p:cNvPr id="186" name="Google Shape;186;p23"/>
          <p:cNvCxnSpPr/>
          <p:nvPr/>
        </p:nvCxnSpPr>
        <p:spPr>
          <a:xfrm>
            <a:off x="6720840" y="1645920"/>
            <a:ext cx="1280100" cy="685800"/>
          </a:xfrm>
          <a:prstGeom prst="straightConnector1">
            <a:avLst/>
          </a:prstGeom>
          <a:noFill/>
          <a:ln cap="flat" cmpd="sng" w="22225">
            <a:solidFill>
              <a:srgbClr val="0F1724"/>
            </a:solidFill>
            <a:prstDash val="solid"/>
            <a:round/>
            <a:headEnd len="sm" w="sm" type="none"/>
            <a:tailEnd len="sm" w="sm" type="none"/>
          </a:ln>
        </p:spPr>
      </p:cxnSp>
      <p:sp>
        <p:nvSpPr>
          <p:cNvPr id="187" name="Google Shape;187;p23"/>
          <p:cNvSpPr txBox="1"/>
          <p:nvPr/>
        </p:nvSpPr>
        <p:spPr>
          <a:xfrm>
            <a:off x="7086600" y="1879092"/>
            <a:ext cx="548700" cy="219600"/>
          </a:xfrm>
          <a:prstGeom prst="rect">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pl" sz="1000" u="none" cap="none" strike="noStrike">
                <a:solidFill>
                  <a:schemeClr val="accent6"/>
                </a:solidFill>
                <a:latin typeface="Calibri"/>
                <a:ea typeface="Calibri"/>
                <a:cs typeface="Calibri"/>
                <a:sym typeface="Calibri"/>
              </a:rPr>
              <a:t>mesh</a:t>
            </a:r>
            <a:endParaRPr b="0" i="0" sz="1000" u="none" cap="none" strike="noStrike">
              <a:solidFill>
                <a:schemeClr val="dk1"/>
              </a:solidFill>
              <a:latin typeface="Calibri"/>
              <a:ea typeface="Calibri"/>
              <a:cs typeface="Calibri"/>
              <a:sym typeface="Calibri"/>
            </a:endParaRPr>
          </a:p>
        </p:txBody>
      </p:sp>
      <p:cxnSp>
        <p:nvCxnSpPr>
          <p:cNvPr id="188" name="Google Shape;188;p23"/>
          <p:cNvCxnSpPr/>
          <p:nvPr/>
        </p:nvCxnSpPr>
        <p:spPr>
          <a:xfrm flipH="1" rot="10800000">
            <a:off x="6172200" y="2331600"/>
            <a:ext cx="1828800" cy="640200"/>
          </a:xfrm>
          <a:prstGeom prst="straightConnector1">
            <a:avLst/>
          </a:prstGeom>
          <a:noFill/>
          <a:ln cap="flat" cmpd="sng" w="22225">
            <a:solidFill>
              <a:srgbClr val="0F1724"/>
            </a:solidFill>
            <a:prstDash val="solid"/>
            <a:round/>
            <a:headEnd len="sm" w="sm" type="none"/>
            <a:tailEnd len="sm" w="sm" type="none"/>
          </a:ln>
        </p:spPr>
      </p:cxnSp>
      <p:cxnSp>
        <p:nvCxnSpPr>
          <p:cNvPr id="189" name="Google Shape;189;p23"/>
          <p:cNvCxnSpPr/>
          <p:nvPr/>
        </p:nvCxnSpPr>
        <p:spPr>
          <a:xfrm flipH="1" rot="10800000">
            <a:off x="5349240" y="2971860"/>
            <a:ext cx="822900" cy="822900"/>
          </a:xfrm>
          <a:prstGeom prst="straightConnector1">
            <a:avLst/>
          </a:prstGeom>
          <a:noFill/>
          <a:ln cap="flat" cmpd="sng" w="22225">
            <a:solidFill>
              <a:srgbClr val="0F1724"/>
            </a:solidFill>
            <a:prstDash val="solid"/>
            <a:round/>
            <a:headEnd len="sm" w="sm" type="none"/>
            <a:tailEnd len="sm" w="sm" type="none"/>
          </a:ln>
        </p:spPr>
      </p:cxnSp>
      <p:sp>
        <p:nvSpPr>
          <p:cNvPr id="190" name="Google Shape;190;p23"/>
          <p:cNvSpPr txBox="1"/>
          <p:nvPr/>
        </p:nvSpPr>
        <p:spPr>
          <a:xfrm>
            <a:off x="5486400" y="3273552"/>
            <a:ext cx="548700" cy="219600"/>
          </a:xfrm>
          <a:prstGeom prst="rect">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pl" sz="1000" u="none" cap="none" strike="noStrike">
                <a:solidFill>
                  <a:schemeClr val="accent6"/>
                </a:solidFill>
                <a:latin typeface="Calibri"/>
                <a:ea typeface="Calibri"/>
                <a:cs typeface="Calibri"/>
                <a:sym typeface="Calibri"/>
              </a:rPr>
              <a:t>BT</a:t>
            </a:r>
            <a:endParaRPr b="0" i="0" sz="1000" u="none" cap="none" strike="noStrike">
              <a:solidFill>
                <a:schemeClr val="dk1"/>
              </a:solidFill>
              <a:latin typeface="Calibri"/>
              <a:ea typeface="Calibri"/>
              <a:cs typeface="Calibri"/>
              <a:sym typeface="Calibri"/>
            </a:endParaRPr>
          </a:p>
        </p:txBody>
      </p:sp>
      <p:cxnSp>
        <p:nvCxnSpPr>
          <p:cNvPr id="191" name="Google Shape;191;p23"/>
          <p:cNvCxnSpPr/>
          <p:nvPr/>
        </p:nvCxnSpPr>
        <p:spPr>
          <a:xfrm>
            <a:off x="6172200" y="2971800"/>
            <a:ext cx="1188600" cy="868800"/>
          </a:xfrm>
          <a:prstGeom prst="straightConnector1">
            <a:avLst/>
          </a:prstGeom>
          <a:noFill/>
          <a:ln cap="flat" cmpd="sng" w="22225">
            <a:solidFill>
              <a:srgbClr val="0F1724"/>
            </a:solidFill>
            <a:prstDash val="solid"/>
            <a:round/>
            <a:headEnd len="sm" w="sm" type="none"/>
            <a:tailEnd len="sm" w="sm" type="none"/>
          </a:ln>
        </p:spPr>
      </p:cxnSp>
      <p:sp>
        <p:nvSpPr>
          <p:cNvPr id="192" name="Google Shape;192;p23"/>
          <p:cNvSpPr txBox="1"/>
          <p:nvPr/>
        </p:nvSpPr>
        <p:spPr>
          <a:xfrm>
            <a:off x="6492240" y="3296412"/>
            <a:ext cx="548700" cy="219600"/>
          </a:xfrm>
          <a:prstGeom prst="rect">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pl" sz="1000" u="none" cap="none" strike="noStrike">
                <a:solidFill>
                  <a:schemeClr val="accent6"/>
                </a:solidFill>
                <a:latin typeface="Calibri"/>
                <a:ea typeface="Calibri"/>
                <a:cs typeface="Calibri"/>
                <a:sym typeface="Calibri"/>
              </a:rPr>
              <a:t>pager</a:t>
            </a:r>
            <a:endParaRPr b="0" i="0" sz="1000" u="none" cap="none" strike="noStrike">
              <a:solidFill>
                <a:schemeClr val="dk1"/>
              </a:solidFill>
              <a:latin typeface="Calibri"/>
              <a:ea typeface="Calibri"/>
              <a:cs typeface="Calibri"/>
              <a:sym typeface="Calibri"/>
            </a:endParaRPr>
          </a:p>
        </p:txBody>
      </p:sp>
      <p:cxnSp>
        <p:nvCxnSpPr>
          <p:cNvPr id="193" name="Google Shape;193;p23"/>
          <p:cNvCxnSpPr/>
          <p:nvPr/>
        </p:nvCxnSpPr>
        <p:spPr>
          <a:xfrm flipH="1" rot="10800000">
            <a:off x="7360920" y="2331780"/>
            <a:ext cx="640200" cy="1508700"/>
          </a:xfrm>
          <a:prstGeom prst="straightConnector1">
            <a:avLst/>
          </a:prstGeom>
          <a:noFill/>
          <a:ln cap="flat" cmpd="sng" w="22225">
            <a:solidFill>
              <a:srgbClr val="0F1724"/>
            </a:solidFill>
            <a:prstDash val="solid"/>
            <a:round/>
            <a:headEnd len="sm" w="sm" type="none"/>
            <a:tailEnd len="sm" w="sm" type="none"/>
          </a:ln>
        </p:spPr>
      </p:cxnSp>
      <p:cxnSp>
        <p:nvCxnSpPr>
          <p:cNvPr id="194" name="Google Shape;194;p23"/>
          <p:cNvCxnSpPr/>
          <p:nvPr/>
        </p:nvCxnSpPr>
        <p:spPr>
          <a:xfrm>
            <a:off x="8001000" y="2331720"/>
            <a:ext cx="228600" cy="1097400"/>
          </a:xfrm>
          <a:prstGeom prst="straightConnector1">
            <a:avLst/>
          </a:prstGeom>
          <a:noFill/>
          <a:ln cap="flat" cmpd="sng" w="19050">
            <a:solidFill>
              <a:srgbClr val="5B6575"/>
            </a:solidFill>
            <a:prstDash val="dash"/>
            <a:round/>
            <a:headEnd len="sm" w="sm" type="none"/>
            <a:tailEnd len="sm" w="sm" type="none"/>
          </a:ln>
        </p:spPr>
      </p:cxnSp>
      <p:sp>
        <p:nvSpPr>
          <p:cNvPr id="195" name="Google Shape;195;p23"/>
          <p:cNvSpPr/>
          <p:nvPr/>
        </p:nvSpPr>
        <p:spPr>
          <a:xfrm>
            <a:off x="6473952" y="1399032"/>
            <a:ext cx="493800" cy="493800"/>
          </a:xfrm>
          <a:prstGeom prst="ellipse">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evice" id="196" name="Google Shape;196;p23"/>
          <p:cNvPicPr preferRelativeResize="0"/>
          <p:nvPr/>
        </p:nvPicPr>
        <p:blipFill rotWithShape="1">
          <a:blip r:embed="rId8">
            <a:alphaModFix/>
          </a:blip>
          <a:srcRect b="0" l="0" r="0" t="0"/>
          <a:stretch/>
        </p:blipFill>
        <p:spPr>
          <a:xfrm>
            <a:off x="6611112" y="1536192"/>
            <a:ext cx="219456" cy="219456"/>
          </a:xfrm>
          <a:prstGeom prst="rect">
            <a:avLst/>
          </a:prstGeom>
          <a:noFill/>
          <a:ln>
            <a:noFill/>
          </a:ln>
        </p:spPr>
      </p:pic>
      <p:sp>
        <p:nvSpPr>
          <p:cNvPr id="197" name="Google Shape;197;p23"/>
          <p:cNvSpPr/>
          <p:nvPr/>
        </p:nvSpPr>
        <p:spPr>
          <a:xfrm>
            <a:off x="5925312" y="2724912"/>
            <a:ext cx="493800" cy="493800"/>
          </a:xfrm>
          <a:prstGeom prst="ellipse">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evice" id="198" name="Google Shape;198;p23"/>
          <p:cNvPicPr preferRelativeResize="0"/>
          <p:nvPr/>
        </p:nvPicPr>
        <p:blipFill rotWithShape="1">
          <a:blip r:embed="rId8">
            <a:alphaModFix/>
          </a:blip>
          <a:srcRect b="0" l="0" r="0" t="0"/>
          <a:stretch/>
        </p:blipFill>
        <p:spPr>
          <a:xfrm>
            <a:off x="6062472" y="2862072"/>
            <a:ext cx="219456" cy="219456"/>
          </a:xfrm>
          <a:prstGeom prst="rect">
            <a:avLst/>
          </a:prstGeom>
          <a:noFill/>
          <a:ln>
            <a:noFill/>
          </a:ln>
        </p:spPr>
      </p:pic>
      <p:sp>
        <p:nvSpPr>
          <p:cNvPr id="199" name="Google Shape;199;p23"/>
          <p:cNvSpPr/>
          <p:nvPr/>
        </p:nvSpPr>
        <p:spPr>
          <a:xfrm>
            <a:off x="7754112" y="2084832"/>
            <a:ext cx="493800" cy="493800"/>
          </a:xfrm>
          <a:prstGeom prst="ellipse">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evice" id="200" name="Google Shape;200;p23"/>
          <p:cNvPicPr preferRelativeResize="0"/>
          <p:nvPr/>
        </p:nvPicPr>
        <p:blipFill rotWithShape="1">
          <a:blip r:embed="rId8">
            <a:alphaModFix/>
          </a:blip>
          <a:srcRect b="0" l="0" r="0" t="0"/>
          <a:stretch/>
        </p:blipFill>
        <p:spPr>
          <a:xfrm>
            <a:off x="7891272" y="2221992"/>
            <a:ext cx="219456" cy="219456"/>
          </a:xfrm>
          <a:prstGeom prst="rect">
            <a:avLst/>
          </a:prstGeom>
          <a:noFill/>
          <a:ln>
            <a:noFill/>
          </a:ln>
        </p:spPr>
      </p:pic>
      <p:sp>
        <p:nvSpPr>
          <p:cNvPr id="201" name="Google Shape;201;p23"/>
          <p:cNvSpPr/>
          <p:nvPr/>
        </p:nvSpPr>
        <p:spPr>
          <a:xfrm>
            <a:off x="7114032" y="3593592"/>
            <a:ext cx="493800" cy="493800"/>
          </a:xfrm>
          <a:prstGeom prst="ellipse">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evice" id="202" name="Google Shape;202;p23"/>
          <p:cNvPicPr preferRelativeResize="0"/>
          <p:nvPr/>
        </p:nvPicPr>
        <p:blipFill rotWithShape="1">
          <a:blip r:embed="rId8">
            <a:alphaModFix/>
          </a:blip>
          <a:srcRect b="0" l="0" r="0" t="0"/>
          <a:stretch/>
        </p:blipFill>
        <p:spPr>
          <a:xfrm>
            <a:off x="7251192" y="3730752"/>
            <a:ext cx="219456" cy="219456"/>
          </a:xfrm>
          <a:prstGeom prst="rect">
            <a:avLst/>
          </a:prstGeom>
          <a:noFill/>
          <a:ln>
            <a:noFill/>
          </a:ln>
        </p:spPr>
      </p:pic>
      <p:sp>
        <p:nvSpPr>
          <p:cNvPr id="203" name="Google Shape;203;p23"/>
          <p:cNvSpPr/>
          <p:nvPr/>
        </p:nvSpPr>
        <p:spPr>
          <a:xfrm>
            <a:off x="5102352" y="3547872"/>
            <a:ext cx="493800" cy="493800"/>
          </a:xfrm>
          <a:prstGeom prst="ellipse">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evice" id="204" name="Google Shape;204;p23"/>
          <p:cNvPicPr preferRelativeResize="0"/>
          <p:nvPr/>
        </p:nvPicPr>
        <p:blipFill rotWithShape="1">
          <a:blip r:embed="rId8">
            <a:alphaModFix/>
          </a:blip>
          <a:srcRect b="0" l="0" r="0" t="0"/>
          <a:stretch/>
        </p:blipFill>
        <p:spPr>
          <a:xfrm>
            <a:off x="5239512" y="3685032"/>
            <a:ext cx="219456" cy="219456"/>
          </a:xfrm>
          <a:prstGeom prst="rect">
            <a:avLst/>
          </a:prstGeom>
          <a:noFill/>
          <a:ln>
            <a:noFill/>
          </a:ln>
        </p:spPr>
      </p:pic>
      <p:sp>
        <p:nvSpPr>
          <p:cNvPr id="205" name="Google Shape;205;p23"/>
          <p:cNvSpPr/>
          <p:nvPr/>
        </p:nvSpPr>
        <p:spPr>
          <a:xfrm>
            <a:off x="5029200" y="1554480"/>
            <a:ext cx="640200" cy="640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uthorized person" id="206" name="Google Shape;206;p23"/>
          <p:cNvPicPr preferRelativeResize="0"/>
          <p:nvPr/>
        </p:nvPicPr>
        <p:blipFill rotWithShape="1">
          <a:blip r:embed="rId9">
            <a:alphaModFix/>
          </a:blip>
          <a:srcRect b="0" l="0" r="0" t="0"/>
          <a:stretch/>
        </p:blipFill>
        <p:spPr>
          <a:xfrm>
            <a:off x="5189220" y="1714500"/>
            <a:ext cx="320040" cy="320040"/>
          </a:xfrm>
          <a:prstGeom prst="rect">
            <a:avLst/>
          </a:prstGeom>
          <a:noFill/>
          <a:ln>
            <a:noFill/>
          </a:ln>
        </p:spPr>
      </p:pic>
      <p:sp>
        <p:nvSpPr>
          <p:cNvPr id="207" name="Google Shape;207;p23"/>
          <p:cNvSpPr txBox="1"/>
          <p:nvPr/>
        </p:nvSpPr>
        <p:spPr>
          <a:xfrm>
            <a:off x="4709160" y="1243584"/>
            <a:ext cx="128010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1"/>
              </a:buClr>
              <a:buSzPts val="1000"/>
              <a:buFont typeface="Calibri"/>
              <a:buNone/>
            </a:pPr>
            <a:r>
              <a:rPr b="1" i="0" lang="pl" sz="1000" u="none" cap="none" strike="noStrike">
                <a:solidFill>
                  <a:schemeClr val="accent1"/>
                </a:solidFill>
                <a:latin typeface="Calibri"/>
                <a:ea typeface="Calibri"/>
                <a:cs typeface="Calibri"/>
                <a:sym typeface="Calibri"/>
              </a:rPr>
              <a:t>Authorized person</a:t>
            </a:r>
            <a:endParaRPr b="0" i="0" sz="1000" u="none" cap="none" strike="noStrike">
              <a:solidFill>
                <a:schemeClr val="dk1"/>
              </a:solidFill>
              <a:latin typeface="Calibri"/>
              <a:ea typeface="Calibri"/>
              <a:cs typeface="Calibri"/>
              <a:sym typeface="Calibri"/>
            </a:endParaRPr>
          </a:p>
        </p:txBody>
      </p:sp>
      <p:sp>
        <p:nvSpPr>
          <p:cNvPr id="208" name="Google Shape;208;p23"/>
          <p:cNvSpPr/>
          <p:nvPr/>
        </p:nvSpPr>
        <p:spPr>
          <a:xfrm>
            <a:off x="8001000" y="3200400"/>
            <a:ext cx="457200" cy="457200"/>
          </a:xfrm>
          <a:prstGeom prst="ellipse">
            <a:avLst/>
          </a:prstGeom>
          <a:solidFill>
            <a:schemeClr val="lt1"/>
          </a:solidFill>
          <a:ln cap="flat" cmpd="sng" w="15875">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rver" id="209" name="Google Shape;209;p23"/>
          <p:cNvPicPr preferRelativeResize="0"/>
          <p:nvPr/>
        </p:nvPicPr>
        <p:blipFill rotWithShape="1">
          <a:blip r:embed="rId10">
            <a:alphaModFix/>
          </a:blip>
          <a:srcRect b="0" l="0" r="0" t="0"/>
          <a:stretch/>
        </p:blipFill>
        <p:spPr>
          <a:xfrm>
            <a:off x="8129016" y="3328416"/>
            <a:ext cx="201168" cy="201168"/>
          </a:xfrm>
          <a:prstGeom prst="rect">
            <a:avLst/>
          </a:prstGeom>
          <a:noFill/>
          <a:ln>
            <a:noFill/>
          </a:ln>
        </p:spPr>
      </p:pic>
      <p:sp>
        <p:nvSpPr>
          <p:cNvPr id="210" name="Google Shape;210;p23"/>
          <p:cNvSpPr txBox="1"/>
          <p:nvPr/>
        </p:nvSpPr>
        <p:spPr>
          <a:xfrm>
            <a:off x="7726680" y="3703320"/>
            <a:ext cx="914400" cy="365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000"/>
              <a:buFont typeface="Calibri"/>
              <a:buNone/>
            </a:pPr>
            <a:r>
              <a:rPr b="0" i="0" lang="pl" sz="1000" u="none" cap="none" strike="noStrike">
                <a:solidFill>
                  <a:schemeClr val="accent6"/>
                </a:solidFill>
                <a:latin typeface="Calibri"/>
                <a:ea typeface="Calibri"/>
                <a:cs typeface="Calibri"/>
                <a:sym typeface="Calibri"/>
              </a:rPr>
              <a:t>Server (optional)</a:t>
            </a:r>
            <a:endParaRPr b="0" i="0" sz="1000" u="none" cap="none" strike="noStrike">
              <a:solidFill>
                <a:schemeClr val="dk1"/>
              </a:solidFill>
              <a:latin typeface="Calibri"/>
              <a:ea typeface="Calibri"/>
              <a:cs typeface="Calibri"/>
              <a:sym typeface="Calibri"/>
            </a:endParaRPr>
          </a:p>
        </p:txBody>
      </p:sp>
      <p:sp>
        <p:nvSpPr>
          <p:cNvPr id="211" name="Google Shape;211;p23"/>
          <p:cNvSpPr txBox="1"/>
          <p:nvPr>
            <p:ph idx="4294967295" type="sldNum"/>
          </p:nvPr>
        </p:nvSpPr>
        <p:spPr>
          <a:xfrm>
            <a:off x="8138160" y="4727448"/>
            <a:ext cx="5487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l"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4"/>
          <p:cNvSpPr txBox="1"/>
          <p:nvPr>
            <p:ph type="title"/>
          </p:nvPr>
        </p:nvSpPr>
        <p:spPr>
          <a:xfrm>
            <a:off x="457200" y="274320"/>
            <a:ext cx="8229600" cy="59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Arial"/>
              <a:buNone/>
            </a:pPr>
            <a:r>
              <a:rPr b="1" lang="pl" sz="2800">
                <a:solidFill>
                  <a:schemeClr val="dk1"/>
                </a:solidFill>
                <a:latin typeface="Arial"/>
                <a:ea typeface="Arial"/>
                <a:cs typeface="Arial"/>
                <a:sym typeface="Arial"/>
              </a:rPr>
              <a:t>Every Alarm Is Signed and Verified</a:t>
            </a:r>
            <a:endParaRPr sz="2800"/>
          </a:p>
        </p:txBody>
      </p:sp>
      <p:sp>
        <p:nvSpPr>
          <p:cNvPr id="218" name="Google Shape;218;p24"/>
          <p:cNvSpPr/>
          <p:nvPr/>
        </p:nvSpPr>
        <p:spPr>
          <a:xfrm>
            <a:off x="457200" y="1143000"/>
            <a:ext cx="4023300" cy="2514600"/>
          </a:xfrm>
          <a:prstGeom prst="roundRect">
            <a:avLst>
              <a:gd fmla="val 363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4"/>
          <p:cNvSpPr/>
          <p:nvPr/>
        </p:nvSpPr>
        <p:spPr>
          <a:xfrm>
            <a:off x="685800" y="1325880"/>
            <a:ext cx="548700" cy="5487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rver ↔ App channel" id="220" name="Google Shape;220;p24"/>
          <p:cNvPicPr preferRelativeResize="0"/>
          <p:nvPr/>
        </p:nvPicPr>
        <p:blipFill rotWithShape="1">
          <a:blip r:embed="rId3">
            <a:alphaModFix/>
          </a:blip>
          <a:srcRect b="0" l="0" r="0" t="0"/>
          <a:stretch/>
        </p:blipFill>
        <p:spPr>
          <a:xfrm>
            <a:off x="822960" y="1463040"/>
            <a:ext cx="274320" cy="274320"/>
          </a:xfrm>
          <a:prstGeom prst="rect">
            <a:avLst/>
          </a:prstGeom>
          <a:noFill/>
          <a:ln>
            <a:noFill/>
          </a:ln>
        </p:spPr>
      </p:pic>
      <p:sp>
        <p:nvSpPr>
          <p:cNvPr id="221" name="Google Shape;221;p24"/>
          <p:cNvSpPr txBox="1"/>
          <p:nvPr/>
        </p:nvSpPr>
        <p:spPr>
          <a:xfrm>
            <a:off x="1371600" y="1307592"/>
            <a:ext cx="29718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pl" sz="1700" u="none" cap="none" strike="noStrike">
                <a:solidFill>
                  <a:schemeClr val="dk1"/>
                </a:solidFill>
                <a:latin typeface="Calibri"/>
                <a:ea typeface="Calibri"/>
                <a:cs typeface="Calibri"/>
                <a:sym typeface="Calibri"/>
              </a:rPr>
              <a:t>Server ↔ App channel</a:t>
            </a:r>
            <a:endParaRPr b="0" i="0" sz="1700" u="none" cap="none" strike="noStrike">
              <a:solidFill>
                <a:schemeClr val="dk1"/>
              </a:solidFill>
              <a:latin typeface="Calibri"/>
              <a:ea typeface="Calibri"/>
              <a:cs typeface="Calibri"/>
              <a:sym typeface="Calibri"/>
            </a:endParaRPr>
          </a:p>
        </p:txBody>
      </p:sp>
      <p:sp>
        <p:nvSpPr>
          <p:cNvPr id="222" name="Google Shape;222;p24"/>
          <p:cNvSpPr txBox="1"/>
          <p:nvPr/>
        </p:nvSpPr>
        <p:spPr>
          <a:xfrm>
            <a:off x="1371600" y="1627632"/>
            <a:ext cx="29718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1" lang="pl" sz="1200" u="none" cap="none" strike="noStrike">
                <a:solidFill>
                  <a:schemeClr val="accent6"/>
                </a:solidFill>
                <a:latin typeface="Calibri"/>
                <a:ea typeface="Calibri"/>
                <a:cs typeface="Calibri"/>
                <a:sym typeface="Calibri"/>
              </a:rPr>
              <a:t>Per-device symmetric credentials, like VPN pre-shared keys</a:t>
            </a:r>
            <a:endParaRPr b="0" i="0" sz="1200" u="none" cap="none" strike="noStrike">
              <a:solidFill>
                <a:schemeClr val="dk1"/>
              </a:solidFill>
              <a:latin typeface="Calibri"/>
              <a:ea typeface="Calibri"/>
              <a:cs typeface="Calibri"/>
              <a:sym typeface="Calibri"/>
            </a:endParaRPr>
          </a:p>
        </p:txBody>
      </p:sp>
      <p:sp>
        <p:nvSpPr>
          <p:cNvPr id="223" name="Google Shape;223;p24"/>
          <p:cNvSpPr txBox="1"/>
          <p:nvPr/>
        </p:nvSpPr>
        <p:spPr>
          <a:xfrm>
            <a:off x="731520" y="2148840"/>
            <a:ext cx="3566100" cy="14172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400"/>
              <a:buFont typeface="Calibri"/>
              <a:buChar char="•"/>
            </a:pPr>
            <a:r>
              <a:rPr b="0" i="0" lang="pl" sz="1400" u="none" cap="none" strike="noStrike">
                <a:solidFill>
                  <a:schemeClr val="dk1"/>
                </a:solidFill>
                <a:latin typeface="Calibri"/>
                <a:ea typeface="Calibri"/>
                <a:cs typeface="Calibri"/>
                <a:sym typeface="Calibri"/>
              </a:rPr>
              <a:t>Scenario download and updates</a:t>
            </a:r>
            <a:endParaRPr b="0" i="0" sz="1400" u="none" cap="none" strike="noStrike">
              <a:solidFill>
                <a:schemeClr val="dk1"/>
              </a:solidFill>
              <a:latin typeface="Calibri"/>
              <a:ea typeface="Calibri"/>
              <a:cs typeface="Calibri"/>
              <a:sym typeface="Calibri"/>
            </a:endParaRPr>
          </a:p>
          <a:p>
            <a:pPr indent="-177800" lvl="0" marL="177800" marR="0" rtl="0" algn="l">
              <a:spcBef>
                <a:spcPts val="400"/>
              </a:spcBef>
              <a:spcAft>
                <a:spcPts val="0"/>
              </a:spcAft>
              <a:buClr>
                <a:schemeClr val="dk1"/>
              </a:buClr>
              <a:buSzPts val="1400"/>
              <a:buFont typeface="Calibri"/>
              <a:buChar char="•"/>
            </a:pPr>
            <a:r>
              <a:rPr b="0" i="0" lang="pl" sz="1400" u="none" cap="none" strike="noStrike">
                <a:solidFill>
                  <a:schemeClr val="dk1"/>
                </a:solidFill>
                <a:latin typeface="Calibri"/>
                <a:ea typeface="Calibri"/>
                <a:cs typeface="Calibri"/>
                <a:sym typeface="Calibri"/>
              </a:rPr>
              <a:t>Delivery of new alarm keys</a:t>
            </a:r>
            <a:endParaRPr b="0" i="0" sz="1400" u="none" cap="none" strike="noStrike">
              <a:solidFill>
                <a:schemeClr val="dk1"/>
              </a:solidFill>
              <a:latin typeface="Calibri"/>
              <a:ea typeface="Calibri"/>
              <a:cs typeface="Calibri"/>
              <a:sym typeface="Calibri"/>
            </a:endParaRPr>
          </a:p>
          <a:p>
            <a:pPr indent="-177800" lvl="0" marL="177800" marR="0" rtl="0" algn="l">
              <a:spcBef>
                <a:spcPts val="400"/>
              </a:spcBef>
              <a:spcAft>
                <a:spcPts val="0"/>
              </a:spcAft>
              <a:buClr>
                <a:schemeClr val="dk1"/>
              </a:buClr>
              <a:buSzPts val="1400"/>
              <a:buFont typeface="Calibri"/>
              <a:buChar char="•"/>
            </a:pPr>
            <a:r>
              <a:rPr b="0" i="0" lang="pl" sz="1400" u="none" cap="none" strike="noStrike">
                <a:solidFill>
                  <a:schemeClr val="dk1"/>
                </a:solidFill>
                <a:latin typeface="Calibri"/>
                <a:ea typeface="Calibri"/>
                <a:cs typeface="Calibri"/>
                <a:sym typeface="Calibri"/>
              </a:rPr>
              <a:t>Status reports (online only)</a:t>
            </a:r>
            <a:endParaRPr b="0" i="0" sz="1400" u="none" cap="none" strike="noStrike">
              <a:solidFill>
                <a:schemeClr val="dk1"/>
              </a:solidFill>
              <a:latin typeface="Calibri"/>
              <a:ea typeface="Calibri"/>
              <a:cs typeface="Calibri"/>
              <a:sym typeface="Calibri"/>
            </a:endParaRPr>
          </a:p>
        </p:txBody>
      </p:sp>
      <p:sp>
        <p:nvSpPr>
          <p:cNvPr id="224" name="Google Shape;224;p24"/>
          <p:cNvSpPr/>
          <p:nvPr/>
        </p:nvSpPr>
        <p:spPr>
          <a:xfrm>
            <a:off x="4663440" y="1143000"/>
            <a:ext cx="4023300" cy="2514600"/>
          </a:xfrm>
          <a:prstGeom prst="roundRect">
            <a:avLst>
              <a:gd fmla="val 363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p:nvPr/>
        </p:nvSpPr>
        <p:spPr>
          <a:xfrm>
            <a:off x="4892040" y="1325880"/>
            <a:ext cx="548700" cy="548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larm cryptography" id="226" name="Google Shape;226;p24"/>
          <p:cNvPicPr preferRelativeResize="0"/>
          <p:nvPr/>
        </p:nvPicPr>
        <p:blipFill rotWithShape="1">
          <a:blip r:embed="rId4">
            <a:alphaModFix/>
          </a:blip>
          <a:srcRect b="0" l="0" r="0" t="0"/>
          <a:stretch/>
        </p:blipFill>
        <p:spPr>
          <a:xfrm>
            <a:off x="5029200" y="1463040"/>
            <a:ext cx="274320" cy="274320"/>
          </a:xfrm>
          <a:prstGeom prst="rect">
            <a:avLst/>
          </a:prstGeom>
          <a:noFill/>
          <a:ln>
            <a:noFill/>
          </a:ln>
        </p:spPr>
      </p:pic>
      <p:sp>
        <p:nvSpPr>
          <p:cNvPr id="227" name="Google Shape;227;p24"/>
          <p:cNvSpPr txBox="1"/>
          <p:nvPr/>
        </p:nvSpPr>
        <p:spPr>
          <a:xfrm>
            <a:off x="5577840" y="1307592"/>
            <a:ext cx="29718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pl" sz="1700" u="none" cap="none" strike="noStrike">
                <a:solidFill>
                  <a:schemeClr val="dk1"/>
                </a:solidFill>
                <a:latin typeface="Calibri"/>
                <a:ea typeface="Calibri"/>
                <a:cs typeface="Calibri"/>
                <a:sym typeface="Calibri"/>
              </a:rPr>
              <a:t>Alarm cryptography</a:t>
            </a:r>
            <a:endParaRPr b="0" i="0" sz="1700" u="none" cap="none" strike="noStrike">
              <a:solidFill>
                <a:schemeClr val="dk1"/>
              </a:solidFill>
              <a:latin typeface="Calibri"/>
              <a:ea typeface="Calibri"/>
              <a:cs typeface="Calibri"/>
              <a:sym typeface="Calibri"/>
            </a:endParaRPr>
          </a:p>
        </p:txBody>
      </p:sp>
      <p:sp>
        <p:nvSpPr>
          <p:cNvPr id="228" name="Google Shape;228;p24"/>
          <p:cNvSpPr txBox="1"/>
          <p:nvPr/>
        </p:nvSpPr>
        <p:spPr>
          <a:xfrm>
            <a:off x="5577840" y="1627632"/>
            <a:ext cx="29718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1" lang="pl" sz="1200" u="none" cap="none" strike="noStrike">
                <a:solidFill>
                  <a:schemeClr val="accent6"/>
                </a:solidFill>
                <a:latin typeface="Calibri"/>
                <a:ea typeface="Calibri"/>
                <a:cs typeface="Calibri"/>
                <a:sym typeface="Calibri"/>
              </a:rPr>
              <a:t>Asymmetric signatures, independent of the server</a:t>
            </a:r>
            <a:endParaRPr b="0" i="0" sz="1200" u="none" cap="none" strike="noStrike">
              <a:solidFill>
                <a:schemeClr val="dk1"/>
              </a:solidFill>
              <a:latin typeface="Calibri"/>
              <a:ea typeface="Calibri"/>
              <a:cs typeface="Calibri"/>
              <a:sym typeface="Calibri"/>
            </a:endParaRPr>
          </a:p>
        </p:txBody>
      </p:sp>
      <p:sp>
        <p:nvSpPr>
          <p:cNvPr id="229" name="Google Shape;229;p24"/>
          <p:cNvSpPr txBox="1"/>
          <p:nvPr/>
        </p:nvSpPr>
        <p:spPr>
          <a:xfrm>
            <a:off x="4937760" y="2148840"/>
            <a:ext cx="3566100" cy="14172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400"/>
              <a:buFont typeface="Calibri"/>
              <a:buChar char="•"/>
            </a:pPr>
            <a:r>
              <a:rPr b="0" i="0" lang="pl" sz="1400" u="none" cap="none" strike="noStrike">
                <a:solidFill>
                  <a:schemeClr val="dk1"/>
                </a:solidFill>
                <a:latin typeface="Calibri"/>
                <a:ea typeface="Calibri"/>
                <a:cs typeface="Calibri"/>
                <a:sym typeface="Calibri"/>
              </a:rPr>
              <a:t>Private key only for authorized controllers</a:t>
            </a:r>
            <a:endParaRPr b="0" i="0" sz="1400" u="none" cap="none" strike="noStrike">
              <a:solidFill>
                <a:schemeClr val="dk1"/>
              </a:solidFill>
              <a:latin typeface="Calibri"/>
              <a:ea typeface="Calibri"/>
              <a:cs typeface="Calibri"/>
              <a:sym typeface="Calibri"/>
            </a:endParaRPr>
          </a:p>
          <a:p>
            <a:pPr indent="-177800" lvl="0" marL="177800" marR="0" rtl="0" algn="l">
              <a:spcBef>
                <a:spcPts val="400"/>
              </a:spcBef>
              <a:spcAft>
                <a:spcPts val="0"/>
              </a:spcAft>
              <a:buClr>
                <a:schemeClr val="dk1"/>
              </a:buClr>
              <a:buSzPts val="1400"/>
              <a:buFont typeface="Calibri"/>
              <a:buChar char="•"/>
            </a:pPr>
            <a:r>
              <a:rPr b="0" i="0" lang="pl" sz="1400" u="none" cap="none" strike="noStrike">
                <a:solidFill>
                  <a:schemeClr val="dk1"/>
                </a:solidFill>
                <a:latin typeface="Calibri"/>
                <a:ea typeface="Calibri"/>
                <a:cs typeface="Calibri"/>
                <a:sym typeface="Calibri"/>
              </a:rPr>
              <a:t>Public key on every receiving device</a:t>
            </a:r>
            <a:endParaRPr b="0" i="0" sz="1400" u="none" cap="none" strike="noStrike">
              <a:solidFill>
                <a:schemeClr val="dk1"/>
              </a:solidFill>
              <a:latin typeface="Calibri"/>
              <a:ea typeface="Calibri"/>
              <a:cs typeface="Calibri"/>
              <a:sym typeface="Calibri"/>
            </a:endParaRPr>
          </a:p>
          <a:p>
            <a:pPr indent="-177800" lvl="0" marL="177800" marR="0" rtl="0" algn="l">
              <a:spcBef>
                <a:spcPts val="400"/>
              </a:spcBef>
              <a:spcAft>
                <a:spcPts val="0"/>
              </a:spcAft>
              <a:buClr>
                <a:schemeClr val="dk1"/>
              </a:buClr>
              <a:buSzPts val="1400"/>
              <a:buFont typeface="Calibri"/>
              <a:buChar char="•"/>
            </a:pPr>
            <a:r>
              <a:rPr b="0" i="0" lang="pl" sz="1400" u="none" cap="none" strike="noStrike">
                <a:solidFill>
                  <a:schemeClr val="dk1"/>
                </a:solidFill>
                <a:latin typeface="Calibri"/>
                <a:ea typeface="Calibri"/>
                <a:cs typeface="Calibri"/>
                <a:sym typeface="Calibri"/>
              </a:rPr>
              <a:t>Checked on every device before accepting</a:t>
            </a:r>
            <a:endParaRPr b="0" i="0" sz="1400" u="none" cap="none" strike="noStrike">
              <a:solidFill>
                <a:schemeClr val="dk1"/>
              </a:solidFill>
              <a:latin typeface="Calibri"/>
              <a:ea typeface="Calibri"/>
              <a:cs typeface="Calibri"/>
              <a:sym typeface="Calibri"/>
            </a:endParaRPr>
          </a:p>
          <a:p>
            <a:pPr indent="-177800" lvl="0" marL="177800" marR="0" rtl="0" algn="l">
              <a:spcBef>
                <a:spcPts val="400"/>
              </a:spcBef>
              <a:spcAft>
                <a:spcPts val="0"/>
              </a:spcAft>
              <a:buClr>
                <a:schemeClr val="dk1"/>
              </a:buClr>
              <a:buSzPts val="1400"/>
              <a:buFont typeface="Calibri"/>
              <a:buChar char="•"/>
            </a:pPr>
            <a:r>
              <a:rPr b="0" i="0" lang="pl" sz="1400" u="none" cap="none" strike="noStrike">
                <a:solidFill>
                  <a:schemeClr val="dk1"/>
                </a:solidFill>
                <a:latin typeface="Calibri"/>
                <a:ea typeface="Calibri"/>
                <a:cs typeface="Calibri"/>
                <a:sym typeface="Calibri"/>
              </a:rPr>
              <a:t>Timestamp and ID mark each event</a:t>
            </a:r>
            <a:endParaRPr b="0" i="0" sz="1400" u="none" cap="none" strike="noStrike">
              <a:solidFill>
                <a:schemeClr val="dk1"/>
              </a:solidFill>
              <a:latin typeface="Calibri"/>
              <a:ea typeface="Calibri"/>
              <a:cs typeface="Calibri"/>
              <a:sym typeface="Calibri"/>
            </a:endParaRPr>
          </a:p>
        </p:txBody>
      </p:sp>
      <p:sp>
        <p:nvSpPr>
          <p:cNvPr id="230" name="Google Shape;230;p24"/>
          <p:cNvSpPr/>
          <p:nvPr/>
        </p:nvSpPr>
        <p:spPr>
          <a:xfrm>
            <a:off x="457200" y="3840480"/>
            <a:ext cx="8229600" cy="685800"/>
          </a:xfrm>
          <a:prstGeom prst="roundRect">
            <a:avLst>
              <a:gd fmla="val 10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4"/>
          <p:cNvSpPr/>
          <p:nvPr/>
        </p:nvSpPr>
        <p:spPr>
          <a:xfrm>
            <a:off x="658368" y="3959352"/>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curity principle" id="232" name="Google Shape;232;p24"/>
          <p:cNvPicPr preferRelativeResize="0"/>
          <p:nvPr/>
        </p:nvPicPr>
        <p:blipFill rotWithShape="1">
          <a:blip r:embed="rId5">
            <a:alphaModFix/>
          </a:blip>
          <a:srcRect b="0" l="0" r="0" t="0"/>
          <a:stretch/>
        </p:blipFill>
        <p:spPr>
          <a:xfrm>
            <a:off x="772668" y="4073652"/>
            <a:ext cx="228600" cy="228600"/>
          </a:xfrm>
          <a:prstGeom prst="rect">
            <a:avLst/>
          </a:prstGeom>
          <a:noFill/>
          <a:ln>
            <a:noFill/>
          </a:ln>
        </p:spPr>
      </p:pic>
      <p:sp>
        <p:nvSpPr>
          <p:cNvPr id="233" name="Google Shape;233;p24"/>
          <p:cNvSpPr txBox="1"/>
          <p:nvPr/>
        </p:nvSpPr>
        <p:spPr>
          <a:xfrm>
            <a:off x="1280160" y="3840480"/>
            <a:ext cx="72237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1" i="0" lang="pl" sz="1600" u="none" cap="none" strike="noStrike">
                <a:solidFill>
                  <a:schemeClr val="lt1"/>
                </a:solidFill>
                <a:latin typeface="Calibri"/>
                <a:ea typeface="Calibri"/>
                <a:cs typeface="Calibri"/>
                <a:sym typeface="Calibri"/>
              </a:rPr>
              <a:t>Alarm authenticity never depends on the server or the delivery medium.</a:t>
            </a:r>
            <a:endParaRPr b="0" i="0" sz="1600" u="none" cap="none" strike="noStrike">
              <a:solidFill>
                <a:schemeClr val="dk1"/>
              </a:solidFill>
              <a:latin typeface="Calibri"/>
              <a:ea typeface="Calibri"/>
              <a:cs typeface="Calibri"/>
              <a:sym typeface="Calibri"/>
            </a:endParaRPr>
          </a:p>
        </p:txBody>
      </p:sp>
      <p:sp>
        <p:nvSpPr>
          <p:cNvPr id="234" name="Google Shape;234;p24"/>
          <p:cNvSpPr txBox="1"/>
          <p:nvPr>
            <p:ph idx="4294967295" type="sldNum"/>
          </p:nvPr>
        </p:nvSpPr>
        <p:spPr>
          <a:xfrm>
            <a:off x="8138160" y="4727448"/>
            <a:ext cx="5487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l"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5"/>
          <p:cNvSpPr txBox="1"/>
          <p:nvPr>
            <p:ph type="title"/>
          </p:nvPr>
        </p:nvSpPr>
        <p:spPr>
          <a:xfrm>
            <a:off x="457200" y="274320"/>
            <a:ext cx="8229600" cy="59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Arial"/>
              <a:buNone/>
            </a:pPr>
            <a:r>
              <a:rPr b="1" lang="pl" sz="2800">
                <a:solidFill>
                  <a:schemeClr val="dk1"/>
                </a:solidFill>
                <a:latin typeface="Arial"/>
                <a:ea typeface="Arial"/>
                <a:cs typeface="Arial"/>
                <a:sym typeface="Arial"/>
              </a:rPr>
              <a:t>Know What Is Happening</a:t>
            </a:r>
            <a:endParaRPr sz="2800"/>
          </a:p>
        </p:txBody>
      </p:sp>
      <p:sp>
        <p:nvSpPr>
          <p:cNvPr id="241" name="Google Shape;241;p25"/>
          <p:cNvSpPr txBox="1"/>
          <p:nvPr/>
        </p:nvSpPr>
        <p:spPr>
          <a:xfrm>
            <a:off x="457200" y="1188725"/>
            <a:ext cx="36822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pl" sz="1600" u="none" cap="none" strike="noStrike">
                <a:solidFill>
                  <a:schemeClr val="dk1"/>
                </a:solidFill>
                <a:latin typeface="Calibri"/>
                <a:ea typeface="Calibri"/>
                <a:cs typeface="Calibri"/>
                <a:sym typeface="Calibri"/>
              </a:rPr>
              <a:t>During an active alarm, the coordinator using </a:t>
            </a:r>
            <a:r>
              <a:rPr lang="pl" sz="1600">
                <a:solidFill>
                  <a:schemeClr val="dk1"/>
                </a:solidFill>
                <a:latin typeface="Calibri"/>
                <a:ea typeface="Calibri"/>
                <a:cs typeface="Calibri"/>
                <a:sym typeface="Calibri"/>
              </a:rPr>
              <a:t>web panel</a:t>
            </a:r>
            <a:r>
              <a:rPr b="0" i="0" lang="pl" sz="1600" u="none" cap="none" strike="noStrike">
                <a:solidFill>
                  <a:schemeClr val="dk1"/>
                </a:solidFill>
                <a:latin typeface="Calibri"/>
                <a:ea typeface="Calibri"/>
                <a:cs typeface="Calibri"/>
                <a:sym typeface="Calibri"/>
              </a:rPr>
              <a:t>, </a:t>
            </a:r>
            <a:r>
              <a:rPr lang="pl" sz="1600">
                <a:solidFill>
                  <a:schemeClr val="dk1"/>
                </a:solidFill>
                <a:latin typeface="Calibri"/>
                <a:ea typeface="Calibri"/>
                <a:cs typeface="Calibri"/>
                <a:sym typeface="Calibri"/>
              </a:rPr>
              <a:t>can see</a:t>
            </a:r>
            <a:r>
              <a:rPr b="0" i="0" lang="pl" sz="1600" u="none" cap="none" strike="noStrike">
                <a:solidFill>
                  <a:schemeClr val="dk1"/>
                </a:solidFill>
                <a:latin typeface="Calibri"/>
                <a:ea typeface="Calibri"/>
                <a:cs typeface="Calibri"/>
                <a:sym typeface="Calibri"/>
              </a:rPr>
              <a:t> on a live map:</a:t>
            </a:r>
            <a:endParaRPr b="0" i="0" sz="1600" u="none" cap="none" strike="noStrike">
              <a:solidFill>
                <a:schemeClr val="dk1"/>
              </a:solidFill>
              <a:latin typeface="Calibri"/>
              <a:ea typeface="Calibri"/>
              <a:cs typeface="Calibri"/>
              <a:sym typeface="Calibri"/>
            </a:endParaRPr>
          </a:p>
        </p:txBody>
      </p:sp>
      <p:sp>
        <p:nvSpPr>
          <p:cNvPr id="242" name="Google Shape;242;p25"/>
          <p:cNvSpPr/>
          <p:nvPr/>
        </p:nvSpPr>
        <p:spPr>
          <a:xfrm>
            <a:off x="457200" y="1874520"/>
            <a:ext cx="457200" cy="457200"/>
          </a:xfrm>
          <a:prstGeom prst="ellipse">
            <a:avLst/>
          </a:prstGeom>
          <a:solidFill>
            <a:schemeClr val="accent1">
              <a:alpha val="121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ho received the alarm" id="243" name="Google Shape;243;p25"/>
          <p:cNvPicPr preferRelativeResize="0"/>
          <p:nvPr/>
        </p:nvPicPr>
        <p:blipFill rotWithShape="1">
          <a:blip r:embed="rId3">
            <a:alphaModFix/>
          </a:blip>
          <a:srcRect b="0" l="0" r="0" t="0"/>
          <a:stretch/>
        </p:blipFill>
        <p:spPr>
          <a:xfrm>
            <a:off x="571500" y="1988820"/>
            <a:ext cx="228600" cy="228600"/>
          </a:xfrm>
          <a:prstGeom prst="rect">
            <a:avLst/>
          </a:prstGeom>
          <a:noFill/>
          <a:ln>
            <a:noFill/>
          </a:ln>
        </p:spPr>
      </p:pic>
      <p:sp>
        <p:nvSpPr>
          <p:cNvPr id="244" name="Google Shape;244;p25"/>
          <p:cNvSpPr txBox="1"/>
          <p:nvPr/>
        </p:nvSpPr>
        <p:spPr>
          <a:xfrm>
            <a:off x="1097280" y="1874520"/>
            <a:ext cx="2926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pl" sz="1600" u="none" cap="none" strike="noStrike">
                <a:solidFill>
                  <a:schemeClr val="dk1"/>
                </a:solidFill>
                <a:latin typeface="Calibri"/>
                <a:ea typeface="Calibri"/>
                <a:cs typeface="Calibri"/>
                <a:sym typeface="Calibri"/>
              </a:rPr>
              <a:t>Who received the alarm</a:t>
            </a:r>
            <a:endParaRPr b="0" i="0" sz="1600" u="none" cap="none" strike="noStrike">
              <a:solidFill>
                <a:schemeClr val="dk1"/>
              </a:solidFill>
              <a:latin typeface="Calibri"/>
              <a:ea typeface="Calibri"/>
              <a:cs typeface="Calibri"/>
              <a:sym typeface="Calibri"/>
            </a:endParaRPr>
          </a:p>
        </p:txBody>
      </p:sp>
      <p:sp>
        <p:nvSpPr>
          <p:cNvPr id="245" name="Google Shape;245;p25"/>
          <p:cNvSpPr/>
          <p:nvPr/>
        </p:nvSpPr>
        <p:spPr>
          <a:xfrm>
            <a:off x="457200" y="2514600"/>
            <a:ext cx="457200" cy="457200"/>
          </a:xfrm>
          <a:prstGeom prst="ellipse">
            <a:avLst/>
          </a:prstGeom>
          <a:solidFill>
            <a:schemeClr val="accent1">
              <a:alpha val="121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here people are" id="246" name="Google Shape;246;p25"/>
          <p:cNvPicPr preferRelativeResize="0"/>
          <p:nvPr/>
        </p:nvPicPr>
        <p:blipFill rotWithShape="1">
          <a:blip r:embed="rId4">
            <a:alphaModFix/>
          </a:blip>
          <a:srcRect b="0" l="0" r="0" t="0"/>
          <a:stretch/>
        </p:blipFill>
        <p:spPr>
          <a:xfrm>
            <a:off x="571500" y="2628900"/>
            <a:ext cx="228600" cy="228600"/>
          </a:xfrm>
          <a:prstGeom prst="rect">
            <a:avLst/>
          </a:prstGeom>
          <a:noFill/>
          <a:ln>
            <a:noFill/>
          </a:ln>
        </p:spPr>
      </p:pic>
      <p:sp>
        <p:nvSpPr>
          <p:cNvPr id="247" name="Google Shape;247;p25"/>
          <p:cNvSpPr txBox="1"/>
          <p:nvPr/>
        </p:nvSpPr>
        <p:spPr>
          <a:xfrm>
            <a:off x="1097280" y="2514600"/>
            <a:ext cx="2926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pl" sz="1600" u="none" cap="none" strike="noStrike">
                <a:solidFill>
                  <a:schemeClr val="dk1"/>
                </a:solidFill>
                <a:latin typeface="Calibri"/>
                <a:ea typeface="Calibri"/>
                <a:cs typeface="Calibri"/>
                <a:sym typeface="Calibri"/>
              </a:rPr>
              <a:t>Where people are</a:t>
            </a:r>
            <a:endParaRPr b="0" i="0" sz="1600" u="none" cap="none" strike="noStrike">
              <a:solidFill>
                <a:schemeClr val="dk1"/>
              </a:solidFill>
              <a:latin typeface="Calibri"/>
              <a:ea typeface="Calibri"/>
              <a:cs typeface="Calibri"/>
              <a:sym typeface="Calibri"/>
            </a:endParaRPr>
          </a:p>
        </p:txBody>
      </p:sp>
      <p:sp>
        <p:nvSpPr>
          <p:cNvPr id="248" name="Google Shape;248;p25"/>
          <p:cNvSpPr/>
          <p:nvPr/>
        </p:nvSpPr>
        <p:spPr>
          <a:xfrm>
            <a:off x="457200" y="3154680"/>
            <a:ext cx="457200" cy="457200"/>
          </a:xfrm>
          <a:prstGeom prst="ellipse">
            <a:avLst/>
          </a:prstGeom>
          <a:solidFill>
            <a:schemeClr val="accent1">
              <a:alpha val="121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w far each task has got" id="249" name="Google Shape;249;p25"/>
          <p:cNvPicPr preferRelativeResize="0"/>
          <p:nvPr/>
        </p:nvPicPr>
        <p:blipFill rotWithShape="1">
          <a:blip r:embed="rId5">
            <a:alphaModFix/>
          </a:blip>
          <a:srcRect b="0" l="0" r="0" t="0"/>
          <a:stretch/>
        </p:blipFill>
        <p:spPr>
          <a:xfrm>
            <a:off x="571500" y="3268980"/>
            <a:ext cx="228600" cy="228600"/>
          </a:xfrm>
          <a:prstGeom prst="rect">
            <a:avLst/>
          </a:prstGeom>
          <a:noFill/>
          <a:ln>
            <a:noFill/>
          </a:ln>
        </p:spPr>
      </p:pic>
      <p:sp>
        <p:nvSpPr>
          <p:cNvPr id="250" name="Google Shape;250;p25"/>
          <p:cNvSpPr txBox="1"/>
          <p:nvPr/>
        </p:nvSpPr>
        <p:spPr>
          <a:xfrm>
            <a:off x="1097280" y="3154680"/>
            <a:ext cx="2926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pl" sz="1600" u="none" cap="none" strike="noStrike">
                <a:solidFill>
                  <a:schemeClr val="dk1"/>
                </a:solidFill>
                <a:latin typeface="Calibri"/>
                <a:ea typeface="Calibri"/>
                <a:cs typeface="Calibri"/>
                <a:sym typeface="Calibri"/>
              </a:rPr>
              <a:t>How far each task has got</a:t>
            </a:r>
            <a:endParaRPr b="0" i="0" sz="1600" u="none" cap="none" strike="noStrike">
              <a:solidFill>
                <a:schemeClr val="dk1"/>
              </a:solidFill>
              <a:latin typeface="Calibri"/>
              <a:ea typeface="Calibri"/>
              <a:cs typeface="Calibri"/>
              <a:sym typeface="Calibri"/>
            </a:endParaRPr>
          </a:p>
        </p:txBody>
      </p:sp>
      <p:sp>
        <p:nvSpPr>
          <p:cNvPr id="251" name="Google Shape;251;p25"/>
          <p:cNvSpPr txBox="1"/>
          <p:nvPr/>
        </p:nvSpPr>
        <p:spPr>
          <a:xfrm>
            <a:off x="457200" y="3840480"/>
            <a:ext cx="3566100" cy="64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0" i="0" lang="pl" u="none" cap="none" strike="noStrike">
                <a:solidFill>
                  <a:schemeClr val="accent6"/>
                </a:solidFill>
                <a:latin typeface="Calibri"/>
                <a:ea typeface="Calibri"/>
                <a:cs typeface="Calibri"/>
                <a:sym typeface="Calibri"/>
              </a:rPr>
              <a:t>Location is shared only when </a:t>
            </a:r>
            <a:r>
              <a:rPr lang="pl">
                <a:solidFill>
                  <a:schemeClr val="accent6"/>
                </a:solidFill>
                <a:latin typeface="Calibri"/>
                <a:ea typeface="Calibri"/>
                <a:cs typeface="Calibri"/>
                <a:sym typeface="Calibri"/>
              </a:rPr>
              <a:t>alarm is </a:t>
            </a:r>
            <a:r>
              <a:rPr lang="pl">
                <a:solidFill>
                  <a:schemeClr val="accent6"/>
                </a:solidFill>
                <a:latin typeface="Calibri"/>
                <a:ea typeface="Calibri"/>
                <a:cs typeface="Calibri"/>
                <a:sym typeface="Calibri"/>
              </a:rPr>
              <a:t>raised.</a:t>
            </a:r>
            <a:endParaRPr b="0" i="0" u="none" cap="none" strike="noStrike">
              <a:solidFill>
                <a:schemeClr val="dk1"/>
              </a:solidFill>
              <a:latin typeface="Calibri"/>
              <a:ea typeface="Calibri"/>
              <a:cs typeface="Calibri"/>
              <a:sym typeface="Calibri"/>
            </a:endParaRPr>
          </a:p>
        </p:txBody>
      </p:sp>
      <p:sp>
        <p:nvSpPr>
          <p:cNvPr id="252" name="Google Shape;252;p25"/>
          <p:cNvSpPr txBox="1"/>
          <p:nvPr>
            <p:ph idx="4294967295" type="sldNum"/>
          </p:nvPr>
        </p:nvSpPr>
        <p:spPr>
          <a:xfrm>
            <a:off x="8138160" y="4727448"/>
            <a:ext cx="5487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l"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pic>
        <p:nvPicPr>
          <p:cNvPr id="253" name="Google Shape;253;p25"/>
          <p:cNvPicPr preferRelativeResize="0"/>
          <p:nvPr/>
        </p:nvPicPr>
        <p:blipFill rotWithShape="1">
          <a:blip r:embed="rId6">
            <a:alphaModFix/>
          </a:blip>
          <a:srcRect b="0" l="16884" r="16511" t="8358"/>
          <a:stretch/>
        </p:blipFill>
        <p:spPr>
          <a:xfrm>
            <a:off x="3958300" y="1051650"/>
            <a:ext cx="4897500" cy="3383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6"/>
          <p:cNvSpPr txBox="1"/>
          <p:nvPr>
            <p:ph type="title"/>
          </p:nvPr>
        </p:nvSpPr>
        <p:spPr>
          <a:xfrm>
            <a:off x="457200" y="274320"/>
            <a:ext cx="8229600" cy="59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Arial"/>
              <a:buNone/>
            </a:pPr>
            <a:r>
              <a:rPr b="1" lang="pl" sz="2800">
                <a:solidFill>
                  <a:schemeClr val="dk1"/>
                </a:solidFill>
                <a:latin typeface="Arial"/>
                <a:ea typeface="Arial"/>
                <a:cs typeface="Arial"/>
                <a:sym typeface="Arial"/>
              </a:rPr>
              <a:t>One Principle. Three Domains.</a:t>
            </a:r>
            <a:endParaRPr sz="2800"/>
          </a:p>
        </p:txBody>
      </p:sp>
      <p:sp>
        <p:nvSpPr>
          <p:cNvPr id="260" name="Google Shape;260;p26"/>
          <p:cNvSpPr txBox="1"/>
          <p:nvPr/>
        </p:nvSpPr>
        <p:spPr>
          <a:xfrm>
            <a:off x="457200" y="841248"/>
            <a:ext cx="82296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1" lang="pl" sz="1500" u="none" cap="none" strike="noStrike">
                <a:solidFill>
                  <a:schemeClr val="accent6"/>
                </a:solidFill>
                <a:latin typeface="Calibri"/>
                <a:ea typeface="Calibri"/>
                <a:cs typeface="Calibri"/>
                <a:sym typeface="Calibri"/>
              </a:rPr>
              <a:t>The scenario changes — the coordination principle stays the same.</a:t>
            </a:r>
            <a:endParaRPr b="0" i="0" sz="1500" u="none" cap="none" strike="noStrike">
              <a:solidFill>
                <a:schemeClr val="dk1"/>
              </a:solidFill>
              <a:latin typeface="Calibri"/>
              <a:ea typeface="Calibri"/>
              <a:cs typeface="Calibri"/>
              <a:sym typeface="Calibri"/>
            </a:endParaRPr>
          </a:p>
        </p:txBody>
      </p:sp>
      <p:sp>
        <p:nvSpPr>
          <p:cNvPr id="261" name="Google Shape;261;p26"/>
          <p:cNvSpPr/>
          <p:nvPr/>
        </p:nvSpPr>
        <p:spPr>
          <a:xfrm>
            <a:off x="457200" y="1325880"/>
            <a:ext cx="2560200" cy="3200400"/>
          </a:xfrm>
          <a:prstGeom prst="roundRect">
            <a:avLst>
              <a:gd fmla="val 357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iren CIV · CIVIL ADMINISTRATION" id="262" name="Google Shape;262;p26"/>
          <p:cNvPicPr preferRelativeResize="0"/>
          <p:nvPr/>
        </p:nvPicPr>
        <p:blipFill rotWithShape="1">
          <a:blip r:embed="rId3">
            <a:alphaModFix/>
          </a:blip>
          <a:srcRect b="0" l="0" r="0" t="0"/>
          <a:stretch/>
        </p:blipFill>
        <p:spPr>
          <a:xfrm>
            <a:off x="658368" y="1463040"/>
            <a:ext cx="741808" cy="685799"/>
          </a:xfrm>
          <a:prstGeom prst="rect">
            <a:avLst/>
          </a:prstGeom>
          <a:noFill/>
          <a:ln>
            <a:noFill/>
          </a:ln>
        </p:spPr>
      </p:pic>
      <p:sp>
        <p:nvSpPr>
          <p:cNvPr id="263" name="Google Shape;263;p26"/>
          <p:cNvSpPr txBox="1"/>
          <p:nvPr/>
        </p:nvSpPr>
        <p:spPr>
          <a:xfrm>
            <a:off x="658368" y="2240280"/>
            <a:ext cx="21945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000"/>
              <a:buFont typeface="Calibri"/>
              <a:buNone/>
            </a:pPr>
            <a:r>
              <a:rPr b="1" i="0" lang="pl" sz="1000" u="none" cap="none" strike="noStrike">
                <a:solidFill>
                  <a:schemeClr val="accent1"/>
                </a:solidFill>
                <a:latin typeface="Calibri"/>
                <a:ea typeface="Calibri"/>
                <a:cs typeface="Calibri"/>
                <a:sym typeface="Calibri"/>
              </a:rPr>
              <a:t>CIV · CIVIL ADMINISTRATION</a:t>
            </a:r>
            <a:endParaRPr b="0" i="0" sz="1000" u="none" cap="none" strike="noStrike">
              <a:solidFill>
                <a:schemeClr val="dk1"/>
              </a:solidFill>
              <a:latin typeface="Calibri"/>
              <a:ea typeface="Calibri"/>
              <a:cs typeface="Calibri"/>
              <a:sym typeface="Calibri"/>
            </a:endParaRPr>
          </a:p>
        </p:txBody>
      </p:sp>
      <p:sp>
        <p:nvSpPr>
          <p:cNvPr id="264" name="Google Shape;264;p26"/>
          <p:cNvSpPr txBox="1"/>
          <p:nvPr/>
        </p:nvSpPr>
        <p:spPr>
          <a:xfrm>
            <a:off x="658368" y="2468880"/>
            <a:ext cx="21945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pl" sz="1600" u="none" cap="none" strike="noStrike">
                <a:solidFill>
                  <a:schemeClr val="dk1"/>
                </a:solidFill>
                <a:latin typeface="Calibri"/>
                <a:ea typeface="Calibri"/>
                <a:cs typeface="Calibri"/>
                <a:sym typeface="Calibri"/>
              </a:rPr>
              <a:t>Air raid alarm</a:t>
            </a:r>
            <a:endParaRPr b="0" i="0" sz="1600" u="none" cap="none" strike="noStrike">
              <a:solidFill>
                <a:schemeClr val="dk1"/>
              </a:solidFill>
              <a:latin typeface="Calibri"/>
              <a:ea typeface="Calibri"/>
              <a:cs typeface="Calibri"/>
              <a:sym typeface="Calibri"/>
            </a:endParaRPr>
          </a:p>
        </p:txBody>
      </p:sp>
      <p:sp>
        <p:nvSpPr>
          <p:cNvPr id="265" name="Google Shape;265;p26"/>
          <p:cNvSpPr txBox="1"/>
          <p:nvPr/>
        </p:nvSpPr>
        <p:spPr>
          <a:xfrm>
            <a:off x="658368" y="2807208"/>
            <a:ext cx="21945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1" lang="pl" sz="1200" u="none" cap="none" strike="noStrike">
                <a:solidFill>
                  <a:schemeClr val="accent6"/>
                </a:solidFill>
                <a:latin typeface="Calibri"/>
                <a:ea typeface="Calibri"/>
                <a:cs typeface="Calibri"/>
                <a:sym typeface="Calibri"/>
              </a:rPr>
              <a:t>A school principal turns the school into a shelter:</a:t>
            </a:r>
            <a:endParaRPr b="0" i="0" sz="1200" u="none" cap="none" strike="noStrike">
              <a:solidFill>
                <a:schemeClr val="dk1"/>
              </a:solidFill>
              <a:latin typeface="Calibri"/>
              <a:ea typeface="Calibri"/>
              <a:cs typeface="Calibri"/>
              <a:sym typeface="Calibri"/>
            </a:endParaRPr>
          </a:p>
        </p:txBody>
      </p:sp>
      <p:sp>
        <p:nvSpPr>
          <p:cNvPr id="266" name="Google Shape;266;p26"/>
          <p:cNvSpPr txBox="1"/>
          <p:nvPr/>
        </p:nvSpPr>
        <p:spPr>
          <a:xfrm>
            <a:off x="658368" y="3246120"/>
            <a:ext cx="2240400" cy="11886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pl" sz="1300" u="none" cap="none" strike="noStrike">
                <a:solidFill>
                  <a:schemeClr val="dk1"/>
                </a:solidFill>
                <a:latin typeface="Calibri"/>
                <a:ea typeface="Calibri"/>
                <a:cs typeface="Calibri"/>
                <a:sym typeface="Calibri"/>
              </a:rPr>
              <a:t>Open the building</a:t>
            </a:r>
            <a:endParaRPr b="0" i="0" sz="1300" u="none" cap="none" strike="noStrike">
              <a:solidFill>
                <a:schemeClr val="dk1"/>
              </a:solidFill>
              <a:latin typeface="Calibri"/>
              <a:ea typeface="Calibri"/>
              <a:cs typeface="Calibri"/>
              <a:sym typeface="Calibri"/>
            </a:endParaRPr>
          </a:p>
          <a:p>
            <a:pPr indent="-177800" lvl="0" marL="177800" marR="0" rtl="0" algn="l">
              <a:spcBef>
                <a:spcPts val="200"/>
              </a:spcBef>
              <a:spcAft>
                <a:spcPts val="0"/>
              </a:spcAft>
              <a:buClr>
                <a:schemeClr val="dk1"/>
              </a:buClr>
              <a:buSzPts val="1300"/>
              <a:buFont typeface="Calibri"/>
              <a:buChar char="•"/>
            </a:pPr>
            <a:r>
              <a:rPr b="0" i="0" lang="pl" sz="1300" u="none" cap="none" strike="noStrike">
                <a:solidFill>
                  <a:schemeClr val="dk1"/>
                </a:solidFill>
                <a:latin typeface="Calibri"/>
                <a:ea typeface="Calibri"/>
                <a:cs typeface="Calibri"/>
                <a:sym typeface="Calibri"/>
              </a:rPr>
              <a:t>Open the shelter</a:t>
            </a:r>
            <a:endParaRPr b="0" i="0" sz="1300" u="none" cap="none" strike="noStrike">
              <a:solidFill>
                <a:schemeClr val="dk1"/>
              </a:solidFill>
              <a:latin typeface="Calibri"/>
              <a:ea typeface="Calibri"/>
              <a:cs typeface="Calibri"/>
              <a:sym typeface="Calibri"/>
            </a:endParaRPr>
          </a:p>
          <a:p>
            <a:pPr indent="-177800" lvl="0" marL="177800" marR="0" rtl="0" algn="l">
              <a:spcBef>
                <a:spcPts val="200"/>
              </a:spcBef>
              <a:spcAft>
                <a:spcPts val="0"/>
              </a:spcAft>
              <a:buClr>
                <a:schemeClr val="dk1"/>
              </a:buClr>
              <a:buSzPts val="1300"/>
              <a:buFont typeface="Calibri"/>
              <a:buChar char="•"/>
            </a:pPr>
            <a:r>
              <a:rPr b="0" i="0" lang="pl" sz="1300" u="none" cap="none" strike="noStrike">
                <a:solidFill>
                  <a:schemeClr val="dk1"/>
                </a:solidFill>
                <a:latin typeface="Calibri"/>
                <a:ea typeface="Calibri"/>
                <a:cs typeface="Calibri"/>
                <a:sym typeface="Calibri"/>
              </a:rPr>
              <a:t>Display required signs</a:t>
            </a:r>
            <a:endParaRPr b="0" i="0" sz="1300" u="none" cap="none" strike="noStrike">
              <a:solidFill>
                <a:schemeClr val="dk1"/>
              </a:solidFill>
              <a:latin typeface="Calibri"/>
              <a:ea typeface="Calibri"/>
              <a:cs typeface="Calibri"/>
              <a:sym typeface="Calibri"/>
            </a:endParaRPr>
          </a:p>
        </p:txBody>
      </p:sp>
      <p:sp>
        <p:nvSpPr>
          <p:cNvPr id="267" name="Google Shape;267;p26"/>
          <p:cNvSpPr/>
          <p:nvPr/>
        </p:nvSpPr>
        <p:spPr>
          <a:xfrm>
            <a:off x="3291840" y="1325880"/>
            <a:ext cx="2560200" cy="3200400"/>
          </a:xfrm>
          <a:prstGeom prst="roundRect">
            <a:avLst>
              <a:gd fmla="val 357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iren MED · HOSPITALS" id="268" name="Google Shape;268;p26"/>
          <p:cNvPicPr preferRelativeResize="0"/>
          <p:nvPr/>
        </p:nvPicPr>
        <p:blipFill rotWithShape="1">
          <a:blip r:embed="rId4">
            <a:alphaModFix/>
          </a:blip>
          <a:srcRect b="0" l="0" r="0" t="0"/>
          <a:stretch/>
        </p:blipFill>
        <p:spPr>
          <a:xfrm>
            <a:off x="3493008" y="1463040"/>
            <a:ext cx="800099" cy="685799"/>
          </a:xfrm>
          <a:prstGeom prst="rect">
            <a:avLst/>
          </a:prstGeom>
          <a:noFill/>
          <a:ln>
            <a:noFill/>
          </a:ln>
        </p:spPr>
      </p:pic>
      <p:sp>
        <p:nvSpPr>
          <p:cNvPr id="269" name="Google Shape;269;p26"/>
          <p:cNvSpPr txBox="1"/>
          <p:nvPr/>
        </p:nvSpPr>
        <p:spPr>
          <a:xfrm>
            <a:off x="3493008" y="2240280"/>
            <a:ext cx="21945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000"/>
              <a:buFont typeface="Calibri"/>
              <a:buNone/>
            </a:pPr>
            <a:r>
              <a:rPr b="1" i="0" lang="pl" sz="1000" u="none" cap="none" strike="noStrike">
                <a:solidFill>
                  <a:schemeClr val="accent2"/>
                </a:solidFill>
                <a:latin typeface="Calibri"/>
                <a:ea typeface="Calibri"/>
                <a:cs typeface="Calibri"/>
                <a:sym typeface="Calibri"/>
              </a:rPr>
              <a:t>MED · HOSPITALS</a:t>
            </a:r>
            <a:endParaRPr b="0" i="0" sz="1000" u="none" cap="none" strike="noStrike">
              <a:solidFill>
                <a:schemeClr val="dk1"/>
              </a:solidFill>
              <a:latin typeface="Calibri"/>
              <a:ea typeface="Calibri"/>
              <a:cs typeface="Calibri"/>
              <a:sym typeface="Calibri"/>
            </a:endParaRPr>
          </a:p>
        </p:txBody>
      </p:sp>
      <p:sp>
        <p:nvSpPr>
          <p:cNvPr id="270" name="Google Shape;270;p26"/>
          <p:cNvSpPr txBox="1"/>
          <p:nvPr/>
        </p:nvSpPr>
        <p:spPr>
          <a:xfrm>
            <a:off x="3493008" y="2468880"/>
            <a:ext cx="21945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pl" sz="1600" u="none" cap="none" strike="noStrike">
                <a:solidFill>
                  <a:schemeClr val="dk1"/>
                </a:solidFill>
                <a:latin typeface="Calibri"/>
                <a:ea typeface="Calibri"/>
                <a:cs typeface="Calibri"/>
                <a:sym typeface="Calibri"/>
              </a:rPr>
              <a:t>Mass-casualty alarm</a:t>
            </a:r>
            <a:endParaRPr b="0" i="0" sz="1600" u="none" cap="none" strike="noStrike">
              <a:solidFill>
                <a:schemeClr val="dk1"/>
              </a:solidFill>
              <a:latin typeface="Calibri"/>
              <a:ea typeface="Calibri"/>
              <a:cs typeface="Calibri"/>
              <a:sym typeface="Calibri"/>
            </a:endParaRPr>
          </a:p>
        </p:txBody>
      </p:sp>
      <p:sp>
        <p:nvSpPr>
          <p:cNvPr id="271" name="Google Shape;271;p26"/>
          <p:cNvSpPr txBox="1"/>
          <p:nvPr/>
        </p:nvSpPr>
        <p:spPr>
          <a:xfrm>
            <a:off x="3493008" y="2807208"/>
            <a:ext cx="21945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1" lang="pl" sz="1200" u="none" cap="none" strike="noStrike">
                <a:solidFill>
                  <a:schemeClr val="accent6"/>
                </a:solidFill>
                <a:latin typeface="Calibri"/>
                <a:ea typeface="Calibri"/>
                <a:cs typeface="Calibri"/>
                <a:sym typeface="Calibri"/>
              </a:rPr>
              <a:t>Emergency Department staff move to posts:</a:t>
            </a:r>
            <a:endParaRPr b="0" i="0" sz="1200" u="none" cap="none" strike="noStrike">
              <a:solidFill>
                <a:schemeClr val="dk1"/>
              </a:solidFill>
              <a:latin typeface="Calibri"/>
              <a:ea typeface="Calibri"/>
              <a:cs typeface="Calibri"/>
              <a:sym typeface="Calibri"/>
            </a:endParaRPr>
          </a:p>
        </p:txBody>
      </p:sp>
      <p:sp>
        <p:nvSpPr>
          <p:cNvPr id="272" name="Google Shape;272;p26"/>
          <p:cNvSpPr txBox="1"/>
          <p:nvPr/>
        </p:nvSpPr>
        <p:spPr>
          <a:xfrm>
            <a:off x="3493008" y="3246120"/>
            <a:ext cx="2240400" cy="11886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pl" sz="1300" u="none" cap="none" strike="noStrike">
                <a:solidFill>
                  <a:schemeClr val="dk1"/>
                </a:solidFill>
                <a:latin typeface="Calibri"/>
                <a:ea typeface="Calibri"/>
                <a:cs typeface="Calibri"/>
                <a:sym typeface="Calibri"/>
              </a:rPr>
              <a:t>Anesthesiologist → ED</a:t>
            </a:r>
            <a:endParaRPr b="0" i="0" sz="1300" u="none" cap="none" strike="noStrike">
              <a:solidFill>
                <a:schemeClr val="dk1"/>
              </a:solidFill>
              <a:latin typeface="Calibri"/>
              <a:ea typeface="Calibri"/>
              <a:cs typeface="Calibri"/>
              <a:sym typeface="Calibri"/>
            </a:endParaRPr>
          </a:p>
          <a:p>
            <a:pPr indent="-177800" lvl="0" marL="177800" marR="0" rtl="0" algn="l">
              <a:spcBef>
                <a:spcPts val="200"/>
              </a:spcBef>
              <a:spcAft>
                <a:spcPts val="0"/>
              </a:spcAft>
              <a:buClr>
                <a:schemeClr val="dk1"/>
              </a:buClr>
              <a:buSzPts val="1300"/>
              <a:buFont typeface="Calibri"/>
              <a:buChar char="•"/>
            </a:pPr>
            <a:r>
              <a:rPr b="0" i="0" lang="pl" sz="1300" u="none" cap="none" strike="noStrike">
                <a:solidFill>
                  <a:schemeClr val="dk1"/>
                </a:solidFill>
                <a:latin typeface="Calibri"/>
                <a:ea typeface="Calibri"/>
                <a:cs typeface="Calibri"/>
                <a:sym typeface="Calibri"/>
              </a:rPr>
              <a:t>Surgeon → operating room</a:t>
            </a:r>
            <a:endParaRPr b="0" i="0" sz="1300" u="none" cap="none" strike="noStrike">
              <a:solidFill>
                <a:schemeClr val="dk1"/>
              </a:solidFill>
              <a:latin typeface="Calibri"/>
              <a:ea typeface="Calibri"/>
              <a:cs typeface="Calibri"/>
              <a:sym typeface="Calibri"/>
            </a:endParaRPr>
          </a:p>
          <a:p>
            <a:pPr indent="-177800" lvl="0" marL="177800" marR="0" rtl="0" algn="l">
              <a:spcBef>
                <a:spcPts val="200"/>
              </a:spcBef>
              <a:spcAft>
                <a:spcPts val="0"/>
              </a:spcAft>
              <a:buClr>
                <a:schemeClr val="dk1"/>
              </a:buClr>
              <a:buSzPts val="1300"/>
              <a:buFont typeface="Calibri"/>
              <a:buChar char="•"/>
            </a:pPr>
            <a:r>
              <a:rPr b="0" i="0" lang="pl" sz="1300" u="none" cap="none" strike="noStrike">
                <a:solidFill>
                  <a:schemeClr val="dk1"/>
                </a:solidFill>
                <a:latin typeface="Calibri"/>
                <a:ea typeface="Calibri"/>
                <a:cs typeface="Calibri"/>
                <a:sym typeface="Calibri"/>
              </a:rPr>
              <a:t>Nurses → triage</a:t>
            </a:r>
            <a:endParaRPr b="0" i="0" sz="1300" u="none" cap="none" strike="noStrike">
              <a:solidFill>
                <a:schemeClr val="dk1"/>
              </a:solidFill>
              <a:latin typeface="Calibri"/>
              <a:ea typeface="Calibri"/>
              <a:cs typeface="Calibri"/>
              <a:sym typeface="Calibri"/>
            </a:endParaRPr>
          </a:p>
          <a:p>
            <a:pPr indent="-177800" lvl="0" marL="177800" marR="0" rtl="0" algn="l">
              <a:spcBef>
                <a:spcPts val="200"/>
              </a:spcBef>
              <a:spcAft>
                <a:spcPts val="0"/>
              </a:spcAft>
              <a:buClr>
                <a:schemeClr val="dk1"/>
              </a:buClr>
              <a:buSzPts val="1300"/>
              <a:buFont typeface="Calibri"/>
              <a:buChar char="•"/>
            </a:pPr>
            <a:r>
              <a:rPr b="0" i="0" lang="pl" sz="1300" u="none" cap="none" strike="noStrike">
                <a:solidFill>
                  <a:schemeClr val="dk1"/>
                </a:solidFill>
                <a:latin typeface="Calibri"/>
                <a:ea typeface="Calibri"/>
                <a:cs typeface="Calibri"/>
                <a:sym typeface="Calibri"/>
              </a:rPr>
              <a:t>Radiology tech → imaging</a:t>
            </a:r>
            <a:endParaRPr b="0" i="0" sz="1300" u="none" cap="none" strike="noStrike">
              <a:solidFill>
                <a:schemeClr val="dk1"/>
              </a:solidFill>
              <a:latin typeface="Calibri"/>
              <a:ea typeface="Calibri"/>
              <a:cs typeface="Calibri"/>
              <a:sym typeface="Calibri"/>
            </a:endParaRPr>
          </a:p>
        </p:txBody>
      </p:sp>
      <p:sp>
        <p:nvSpPr>
          <p:cNvPr id="273" name="Google Shape;273;p26"/>
          <p:cNvSpPr/>
          <p:nvPr/>
        </p:nvSpPr>
        <p:spPr>
          <a:xfrm>
            <a:off x="6126480" y="1325880"/>
            <a:ext cx="2560200" cy="3200400"/>
          </a:xfrm>
          <a:prstGeom prst="roundRect">
            <a:avLst>
              <a:gd fmla="val 357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iren MIL · ARMED FORCES" id="274" name="Google Shape;274;p26"/>
          <p:cNvPicPr preferRelativeResize="0"/>
          <p:nvPr/>
        </p:nvPicPr>
        <p:blipFill rotWithShape="1">
          <a:blip r:embed="rId5">
            <a:alphaModFix/>
          </a:blip>
          <a:srcRect b="0" l="0" r="0" t="0"/>
          <a:stretch/>
        </p:blipFill>
        <p:spPr>
          <a:xfrm>
            <a:off x="6327648" y="1463040"/>
            <a:ext cx="850947" cy="685800"/>
          </a:xfrm>
          <a:prstGeom prst="rect">
            <a:avLst/>
          </a:prstGeom>
          <a:noFill/>
          <a:ln>
            <a:noFill/>
          </a:ln>
        </p:spPr>
      </p:pic>
      <p:sp>
        <p:nvSpPr>
          <p:cNvPr id="275" name="Google Shape;275;p26"/>
          <p:cNvSpPr txBox="1"/>
          <p:nvPr/>
        </p:nvSpPr>
        <p:spPr>
          <a:xfrm>
            <a:off x="6327648" y="2240280"/>
            <a:ext cx="21945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000"/>
              <a:buFont typeface="Calibri"/>
              <a:buNone/>
            </a:pPr>
            <a:r>
              <a:rPr b="1" i="0" lang="pl" sz="1000" u="none" cap="none" strike="noStrike">
                <a:solidFill>
                  <a:schemeClr val="accent3"/>
                </a:solidFill>
                <a:latin typeface="Calibri"/>
                <a:ea typeface="Calibri"/>
                <a:cs typeface="Calibri"/>
                <a:sym typeface="Calibri"/>
              </a:rPr>
              <a:t>MIL · ARMED FORCES</a:t>
            </a:r>
            <a:endParaRPr b="0" i="0" sz="1000" u="none" cap="none" strike="noStrike">
              <a:solidFill>
                <a:schemeClr val="dk1"/>
              </a:solidFill>
              <a:latin typeface="Calibri"/>
              <a:ea typeface="Calibri"/>
              <a:cs typeface="Calibri"/>
              <a:sym typeface="Calibri"/>
            </a:endParaRPr>
          </a:p>
        </p:txBody>
      </p:sp>
      <p:sp>
        <p:nvSpPr>
          <p:cNvPr id="276" name="Google Shape;276;p26"/>
          <p:cNvSpPr txBox="1"/>
          <p:nvPr/>
        </p:nvSpPr>
        <p:spPr>
          <a:xfrm>
            <a:off x="6327648" y="2468880"/>
            <a:ext cx="21945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pl" sz="1600" u="none" cap="none" strike="noStrike">
                <a:solidFill>
                  <a:schemeClr val="dk1"/>
                </a:solidFill>
                <a:latin typeface="Calibri"/>
                <a:ea typeface="Calibri"/>
                <a:cs typeface="Calibri"/>
                <a:sym typeface="Calibri"/>
              </a:rPr>
              <a:t>Mobilization alarm</a:t>
            </a:r>
            <a:endParaRPr b="0" i="0" sz="1600" u="none" cap="none" strike="noStrike">
              <a:solidFill>
                <a:schemeClr val="dk1"/>
              </a:solidFill>
              <a:latin typeface="Calibri"/>
              <a:ea typeface="Calibri"/>
              <a:cs typeface="Calibri"/>
              <a:sym typeface="Calibri"/>
            </a:endParaRPr>
          </a:p>
        </p:txBody>
      </p:sp>
      <p:sp>
        <p:nvSpPr>
          <p:cNvPr id="277" name="Google Shape;277;p26"/>
          <p:cNvSpPr txBox="1"/>
          <p:nvPr/>
        </p:nvSpPr>
        <p:spPr>
          <a:xfrm>
            <a:off x="6327648" y="2807208"/>
            <a:ext cx="21945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1" lang="pl" sz="1200" u="none" cap="none" strike="noStrike">
                <a:solidFill>
                  <a:schemeClr val="accent6"/>
                </a:solidFill>
                <a:latin typeface="Calibri"/>
                <a:ea typeface="Calibri"/>
                <a:cs typeface="Calibri"/>
                <a:sym typeface="Calibri"/>
              </a:rPr>
              <a:t>Replaces paper instructions for each soldier:</a:t>
            </a:r>
            <a:endParaRPr b="0" i="0" sz="1200" u="none" cap="none" strike="noStrike">
              <a:solidFill>
                <a:schemeClr val="dk1"/>
              </a:solidFill>
              <a:latin typeface="Calibri"/>
              <a:ea typeface="Calibri"/>
              <a:cs typeface="Calibri"/>
              <a:sym typeface="Calibri"/>
            </a:endParaRPr>
          </a:p>
        </p:txBody>
      </p:sp>
      <p:sp>
        <p:nvSpPr>
          <p:cNvPr id="278" name="Google Shape;278;p26"/>
          <p:cNvSpPr txBox="1"/>
          <p:nvPr/>
        </p:nvSpPr>
        <p:spPr>
          <a:xfrm>
            <a:off x="6327648" y="3246120"/>
            <a:ext cx="2240400" cy="11886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pl" sz="1300" u="none" cap="none" strike="noStrike">
                <a:solidFill>
                  <a:schemeClr val="dk1"/>
                </a:solidFill>
                <a:latin typeface="Calibri"/>
                <a:ea typeface="Calibri"/>
                <a:cs typeface="Calibri"/>
                <a:sym typeface="Calibri"/>
              </a:rPr>
              <a:t>Collect equipment and ammo at the store</a:t>
            </a:r>
            <a:endParaRPr b="0" i="0" sz="1300" u="none" cap="none" strike="noStrike">
              <a:solidFill>
                <a:schemeClr val="dk1"/>
              </a:solidFill>
              <a:latin typeface="Calibri"/>
              <a:ea typeface="Calibri"/>
              <a:cs typeface="Calibri"/>
              <a:sym typeface="Calibri"/>
            </a:endParaRPr>
          </a:p>
          <a:p>
            <a:pPr indent="-177800" lvl="0" marL="177800" marR="0" rtl="0" algn="l">
              <a:spcBef>
                <a:spcPts val="200"/>
              </a:spcBef>
              <a:spcAft>
                <a:spcPts val="0"/>
              </a:spcAft>
              <a:buClr>
                <a:schemeClr val="dk1"/>
              </a:buClr>
              <a:buSzPts val="1300"/>
              <a:buFont typeface="Calibri"/>
              <a:buChar char="•"/>
            </a:pPr>
            <a:r>
              <a:rPr b="0" i="0" lang="pl" sz="1300" u="none" cap="none" strike="noStrike">
                <a:solidFill>
                  <a:schemeClr val="dk1"/>
                </a:solidFill>
                <a:latin typeface="Calibri"/>
                <a:ea typeface="Calibri"/>
                <a:cs typeface="Calibri"/>
                <a:sym typeface="Calibri"/>
              </a:rPr>
              <a:t>Take up guard position at the bunker</a:t>
            </a:r>
            <a:endParaRPr b="0" i="0" sz="1300" u="none" cap="none" strike="noStrike">
              <a:solidFill>
                <a:schemeClr val="dk1"/>
              </a:solidFill>
              <a:latin typeface="Calibri"/>
              <a:ea typeface="Calibri"/>
              <a:cs typeface="Calibri"/>
              <a:sym typeface="Calibri"/>
            </a:endParaRPr>
          </a:p>
        </p:txBody>
      </p:sp>
      <p:sp>
        <p:nvSpPr>
          <p:cNvPr id="279" name="Google Shape;279;p26"/>
          <p:cNvSpPr txBox="1"/>
          <p:nvPr>
            <p:ph idx="4294967295" type="sldNum"/>
          </p:nvPr>
        </p:nvSpPr>
        <p:spPr>
          <a:xfrm>
            <a:off x="8138160" y="4727448"/>
            <a:ext cx="5487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l"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7"/>
          <p:cNvSpPr/>
          <p:nvPr/>
        </p:nvSpPr>
        <p:spPr>
          <a:xfrm>
            <a:off x="502920" y="914400"/>
            <a:ext cx="3200400" cy="3200400"/>
          </a:xfrm>
          <a:prstGeom prst="ellipse">
            <a:avLst/>
          </a:prstGeom>
          <a:noFill/>
          <a:ln cap="flat" cmpd="sng" w="15875">
            <a:solidFill>
              <a:srgbClr val="D7262E">
                <a:alpha val="3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7"/>
          <p:cNvSpPr/>
          <p:nvPr/>
        </p:nvSpPr>
        <p:spPr>
          <a:xfrm>
            <a:off x="-45720" y="365760"/>
            <a:ext cx="4297800" cy="4297800"/>
          </a:xfrm>
          <a:prstGeom prst="ellipse">
            <a:avLst/>
          </a:prstGeom>
          <a:noFill/>
          <a:ln cap="flat" cmpd="sng" w="15875">
            <a:solidFill>
              <a:srgbClr val="D7262E">
                <a:alpha val="2392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7"/>
          <p:cNvSpPr/>
          <p:nvPr/>
        </p:nvSpPr>
        <p:spPr>
          <a:xfrm>
            <a:off x="-594360" y="-182880"/>
            <a:ext cx="5394900" cy="5394900"/>
          </a:xfrm>
          <a:prstGeom prst="ellipse">
            <a:avLst/>
          </a:prstGeom>
          <a:noFill/>
          <a:ln cap="flat" cmpd="sng" w="15875">
            <a:solidFill>
              <a:srgbClr val="D7262E">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iren logo" id="288" name="Google Shape;288;p27"/>
          <p:cNvPicPr preferRelativeResize="0"/>
          <p:nvPr/>
        </p:nvPicPr>
        <p:blipFill rotWithShape="1">
          <a:blip r:embed="rId3">
            <a:alphaModFix/>
          </a:blip>
          <a:srcRect b="0" l="0" r="0" t="0"/>
          <a:stretch/>
        </p:blipFill>
        <p:spPr>
          <a:xfrm>
            <a:off x="914400" y="1417320"/>
            <a:ext cx="2377440" cy="2197935"/>
          </a:xfrm>
          <a:prstGeom prst="rect">
            <a:avLst/>
          </a:prstGeom>
          <a:noFill/>
          <a:ln>
            <a:noFill/>
          </a:ln>
        </p:spPr>
      </p:pic>
      <p:sp>
        <p:nvSpPr>
          <p:cNvPr id="289" name="Google Shape;289;p27"/>
          <p:cNvSpPr txBox="1"/>
          <p:nvPr>
            <p:ph type="title"/>
          </p:nvPr>
        </p:nvSpPr>
        <p:spPr>
          <a:xfrm>
            <a:off x="4023360" y="548640"/>
            <a:ext cx="4755000" cy="54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2400"/>
              <a:buFont typeface="Arial"/>
              <a:buNone/>
            </a:pPr>
            <a:r>
              <a:rPr b="1" lang="pl" sz="2400">
                <a:solidFill>
                  <a:schemeClr val="lt1"/>
                </a:solidFill>
                <a:latin typeface="Arial"/>
                <a:ea typeface="Arial"/>
                <a:cs typeface="Arial"/>
                <a:sym typeface="Arial"/>
              </a:rPr>
              <a:t>Siren — From Alarm to Action</a:t>
            </a:r>
            <a:endParaRPr sz="2400"/>
          </a:p>
        </p:txBody>
      </p:sp>
      <p:sp>
        <p:nvSpPr>
          <p:cNvPr id="290" name="Google Shape;290;p27"/>
          <p:cNvSpPr txBox="1"/>
          <p:nvPr/>
        </p:nvSpPr>
        <p:spPr>
          <a:xfrm>
            <a:off x="4023360" y="1188720"/>
            <a:ext cx="45720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600"/>
              <a:buFont typeface="Calibri"/>
              <a:buNone/>
            </a:pPr>
            <a:r>
              <a:rPr b="0" i="0" lang="pl" sz="1600" u="none" cap="none" strike="noStrike">
                <a:solidFill>
                  <a:schemeClr val="lt2"/>
                </a:solidFill>
                <a:latin typeface="Calibri"/>
                <a:ea typeface="Calibri"/>
                <a:cs typeface="Calibri"/>
                <a:sym typeface="Calibri"/>
              </a:rPr>
              <a:t>When the alarm comes, there is no time to think. Siren tells people:</a:t>
            </a:r>
            <a:endParaRPr b="0" i="0" sz="1600" u="none" cap="none" strike="noStrike">
              <a:solidFill>
                <a:schemeClr val="dk1"/>
              </a:solidFill>
              <a:latin typeface="Calibri"/>
              <a:ea typeface="Calibri"/>
              <a:cs typeface="Calibri"/>
              <a:sym typeface="Calibri"/>
            </a:endParaRPr>
          </a:p>
        </p:txBody>
      </p:sp>
      <p:sp>
        <p:nvSpPr>
          <p:cNvPr id="291" name="Google Shape;291;p27"/>
          <p:cNvSpPr txBox="1"/>
          <p:nvPr/>
        </p:nvSpPr>
        <p:spPr>
          <a:xfrm>
            <a:off x="4023360" y="1828800"/>
            <a:ext cx="46635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3200"/>
              <a:buFont typeface="Arial"/>
              <a:buNone/>
            </a:pPr>
            <a:r>
              <a:rPr b="1" i="0" lang="pl" sz="3200" u="none" cap="none" strike="noStrike">
                <a:solidFill>
                  <a:schemeClr val="lt1"/>
                </a:solidFill>
                <a:latin typeface="Arial"/>
                <a:ea typeface="Arial"/>
                <a:cs typeface="Arial"/>
                <a:sym typeface="Arial"/>
              </a:rPr>
              <a:t>WHERE TO GO.</a:t>
            </a:r>
            <a:endParaRPr b="0" i="0" sz="3200" u="none" cap="none" strike="noStrike">
              <a:solidFill>
                <a:schemeClr val="dk1"/>
              </a:solidFill>
              <a:latin typeface="Calibri"/>
              <a:ea typeface="Calibri"/>
              <a:cs typeface="Calibri"/>
              <a:sym typeface="Calibri"/>
            </a:endParaRPr>
          </a:p>
        </p:txBody>
      </p:sp>
      <p:sp>
        <p:nvSpPr>
          <p:cNvPr id="292" name="Google Shape;292;p27"/>
          <p:cNvSpPr txBox="1"/>
          <p:nvPr/>
        </p:nvSpPr>
        <p:spPr>
          <a:xfrm>
            <a:off x="4023360" y="2377440"/>
            <a:ext cx="46635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3200"/>
              <a:buFont typeface="Arial"/>
              <a:buNone/>
            </a:pPr>
            <a:r>
              <a:rPr b="1" i="0" lang="pl" sz="3200" u="none" cap="none" strike="noStrike">
                <a:solidFill>
                  <a:schemeClr val="accent1"/>
                </a:solidFill>
                <a:latin typeface="Arial"/>
                <a:ea typeface="Arial"/>
                <a:cs typeface="Arial"/>
                <a:sym typeface="Arial"/>
              </a:rPr>
              <a:t>WHAT TO DO.</a:t>
            </a:r>
            <a:endParaRPr b="0" i="0" sz="3200" u="none" cap="none" strike="noStrike">
              <a:solidFill>
                <a:schemeClr val="dk1"/>
              </a:solidFill>
              <a:latin typeface="Calibri"/>
              <a:ea typeface="Calibri"/>
              <a:cs typeface="Calibri"/>
              <a:sym typeface="Calibri"/>
            </a:endParaRPr>
          </a:p>
        </p:txBody>
      </p:sp>
      <p:pic>
        <p:nvPicPr>
          <p:cNvPr descr="Offline-ready" id="293" name="Google Shape;293;p27"/>
          <p:cNvPicPr preferRelativeResize="0"/>
          <p:nvPr/>
        </p:nvPicPr>
        <p:blipFill rotWithShape="1">
          <a:blip r:embed="rId4">
            <a:alphaModFix/>
          </a:blip>
          <a:srcRect b="0" l="0" r="0" t="0"/>
          <a:stretch/>
        </p:blipFill>
        <p:spPr>
          <a:xfrm>
            <a:off x="4023360" y="3246120"/>
            <a:ext cx="219456" cy="219456"/>
          </a:xfrm>
          <a:prstGeom prst="rect">
            <a:avLst/>
          </a:prstGeom>
          <a:noFill/>
          <a:ln>
            <a:noFill/>
          </a:ln>
        </p:spPr>
      </p:pic>
      <p:sp>
        <p:nvSpPr>
          <p:cNvPr id="294" name="Google Shape;294;p27"/>
          <p:cNvSpPr txBox="1"/>
          <p:nvPr/>
        </p:nvSpPr>
        <p:spPr>
          <a:xfrm>
            <a:off x="4389120" y="3200400"/>
            <a:ext cx="27432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pl" sz="1500" u="none" cap="none" strike="noStrike">
                <a:solidFill>
                  <a:schemeClr val="lt1"/>
                </a:solidFill>
                <a:latin typeface="Calibri"/>
                <a:ea typeface="Calibri"/>
                <a:cs typeface="Calibri"/>
                <a:sym typeface="Calibri"/>
              </a:rPr>
              <a:t>Offline-ready</a:t>
            </a:r>
            <a:endParaRPr b="0" i="0" sz="1500" u="none" cap="none" strike="noStrike">
              <a:solidFill>
                <a:schemeClr val="dk1"/>
              </a:solidFill>
              <a:latin typeface="Calibri"/>
              <a:ea typeface="Calibri"/>
              <a:cs typeface="Calibri"/>
              <a:sym typeface="Calibri"/>
            </a:endParaRPr>
          </a:p>
        </p:txBody>
      </p:sp>
      <p:pic>
        <p:nvPicPr>
          <p:cNvPr descr="Medium-independent" id="295" name="Google Shape;295;p27"/>
          <p:cNvPicPr preferRelativeResize="0"/>
          <p:nvPr/>
        </p:nvPicPr>
        <p:blipFill rotWithShape="1">
          <a:blip r:embed="rId5">
            <a:alphaModFix/>
          </a:blip>
          <a:srcRect b="0" l="0" r="0" t="0"/>
          <a:stretch/>
        </p:blipFill>
        <p:spPr>
          <a:xfrm>
            <a:off x="4023360" y="3630168"/>
            <a:ext cx="219456" cy="219456"/>
          </a:xfrm>
          <a:prstGeom prst="rect">
            <a:avLst/>
          </a:prstGeom>
          <a:noFill/>
          <a:ln>
            <a:noFill/>
          </a:ln>
        </p:spPr>
      </p:pic>
      <p:sp>
        <p:nvSpPr>
          <p:cNvPr id="296" name="Google Shape;296;p27"/>
          <p:cNvSpPr txBox="1"/>
          <p:nvPr/>
        </p:nvSpPr>
        <p:spPr>
          <a:xfrm>
            <a:off x="4389120" y="3584448"/>
            <a:ext cx="27432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pl" sz="1500" u="none" cap="none" strike="noStrike">
                <a:solidFill>
                  <a:schemeClr val="lt1"/>
                </a:solidFill>
                <a:latin typeface="Calibri"/>
                <a:ea typeface="Calibri"/>
                <a:cs typeface="Calibri"/>
                <a:sym typeface="Calibri"/>
              </a:rPr>
              <a:t>Medium-independent</a:t>
            </a:r>
            <a:endParaRPr b="0" i="0" sz="1500" u="none" cap="none" strike="noStrike">
              <a:solidFill>
                <a:schemeClr val="dk1"/>
              </a:solidFill>
              <a:latin typeface="Calibri"/>
              <a:ea typeface="Calibri"/>
              <a:cs typeface="Calibri"/>
              <a:sym typeface="Calibri"/>
            </a:endParaRPr>
          </a:p>
        </p:txBody>
      </p:sp>
      <p:pic>
        <p:nvPicPr>
          <p:cNvPr descr="Signed alarms" id="297" name="Google Shape;297;p27"/>
          <p:cNvPicPr preferRelativeResize="0"/>
          <p:nvPr/>
        </p:nvPicPr>
        <p:blipFill rotWithShape="1">
          <a:blip r:embed="rId6">
            <a:alphaModFix/>
          </a:blip>
          <a:srcRect b="0" l="0" r="0" t="0"/>
          <a:stretch/>
        </p:blipFill>
        <p:spPr>
          <a:xfrm>
            <a:off x="4023360" y="4014216"/>
            <a:ext cx="219456" cy="219456"/>
          </a:xfrm>
          <a:prstGeom prst="rect">
            <a:avLst/>
          </a:prstGeom>
          <a:noFill/>
          <a:ln>
            <a:noFill/>
          </a:ln>
        </p:spPr>
      </p:pic>
      <p:sp>
        <p:nvSpPr>
          <p:cNvPr id="298" name="Google Shape;298;p27"/>
          <p:cNvSpPr txBox="1"/>
          <p:nvPr/>
        </p:nvSpPr>
        <p:spPr>
          <a:xfrm>
            <a:off x="4389120" y="3968496"/>
            <a:ext cx="27432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pl" sz="1500" u="none" cap="none" strike="noStrike">
                <a:solidFill>
                  <a:schemeClr val="lt1"/>
                </a:solidFill>
                <a:latin typeface="Calibri"/>
                <a:ea typeface="Calibri"/>
                <a:cs typeface="Calibri"/>
                <a:sym typeface="Calibri"/>
              </a:rPr>
              <a:t>Signed alarms</a:t>
            </a:r>
            <a:endParaRPr b="0" i="0" sz="1500" u="none" cap="none" strike="noStrike">
              <a:solidFill>
                <a:schemeClr val="dk1"/>
              </a:solidFill>
              <a:latin typeface="Calibri"/>
              <a:ea typeface="Calibri"/>
              <a:cs typeface="Calibri"/>
              <a:sym typeface="Calibri"/>
            </a:endParaRPr>
          </a:p>
        </p:txBody>
      </p:sp>
      <p:sp>
        <p:nvSpPr>
          <p:cNvPr id="299" name="Google Shape;299;p27"/>
          <p:cNvSpPr txBox="1"/>
          <p:nvPr/>
        </p:nvSpPr>
        <p:spPr>
          <a:xfrm>
            <a:off x="4023360" y="4434840"/>
            <a:ext cx="46635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400"/>
              <a:buFont typeface="Calibri"/>
              <a:buNone/>
            </a:pPr>
            <a:r>
              <a:rPr b="0" i="1" lang="pl" sz="1400" u="none" cap="none" strike="noStrike">
                <a:solidFill>
                  <a:schemeClr val="lt2"/>
                </a:solidFill>
                <a:latin typeface="Calibri"/>
                <a:ea typeface="Calibri"/>
                <a:cs typeface="Calibri"/>
                <a:sym typeface="Calibri"/>
              </a:rPr>
              <a:t>Thank you — questions?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ren">
  <a:themeElements>
    <a:clrScheme name="Siren">
      <a:dk1>
        <a:srgbClr val="1B2230"/>
      </a:dk1>
      <a:lt1>
        <a:srgbClr val="FFFFFF"/>
      </a:lt1>
      <a:dk2>
        <a:srgbClr val="0F1724"/>
      </a:dk2>
      <a:lt2>
        <a:srgbClr val="F2F4F7"/>
      </a:lt2>
      <a:accent1>
        <a:srgbClr val="D7262E"/>
      </a:accent1>
      <a:accent2>
        <a:srgbClr val="1F6FD1"/>
      </a:accent2>
      <a:accent3>
        <a:srgbClr val="6B7A2E"/>
      </a:accent3>
      <a:accent4>
        <a:srgbClr val="2E9E5B"/>
      </a:accent4>
      <a:accent5>
        <a:srgbClr val="E8A317"/>
      </a:accent5>
      <a:accent6>
        <a:srgbClr val="5B6575"/>
      </a:accent6>
      <a:hlink>
        <a:srgbClr val="1F6FD1"/>
      </a:hlink>
      <a:folHlink>
        <a:srgbClr val="6B7A2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