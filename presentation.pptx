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y="5143500" cx="9144000"/>
  <p:notesSz cx="6858000" cy="9144000"/>
  <p:embeddedFontLst>
    <p:embeddedFont>
      <p:font typeface="Play"/>
      <p:regular r:id="rId16"/>
      <p:bold r:id="rId1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font" Target="fonts/Play-bold.fntdata"/><Relationship Id="rId16" Type="http://schemas.openxmlformats.org/officeDocument/2006/relationships/font" Target="fonts/Play-regular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h2c74b3ca32052aaf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" name="Google Shape;52;h2c74b3ca32052aaf_0_0:notes"/>
          <p:cNvSpPr/>
          <p:nvPr>
            <p:ph idx="2" type="sldImg"/>
          </p:nvPr>
        </p:nvSpPr>
        <p:spPr>
          <a:xfrm>
            <a:off x="1143164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h2c74b3ca32052aaf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" name="Google Shape;60;h2c74b3ca32052aaf_0_7:notes"/>
          <p:cNvSpPr/>
          <p:nvPr>
            <p:ph idx="2" type="sldImg"/>
          </p:nvPr>
        </p:nvSpPr>
        <p:spPr>
          <a:xfrm>
            <a:off x="1143164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h2c74b3ca32052aaf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" name="Google Shape;68;h2c74b3ca32052aaf_0_14:notes"/>
          <p:cNvSpPr/>
          <p:nvPr>
            <p:ph idx="2" type="sldImg"/>
          </p:nvPr>
        </p:nvSpPr>
        <p:spPr>
          <a:xfrm>
            <a:off x="1143164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h2c74b3ca32052aaf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" name="Google Shape;76;h2c74b3ca32052aaf_0_21:notes"/>
          <p:cNvSpPr/>
          <p:nvPr>
            <p:ph idx="2" type="sldImg"/>
          </p:nvPr>
        </p:nvSpPr>
        <p:spPr>
          <a:xfrm>
            <a:off x="1143164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h2c74b3ca32052aaf_0_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" name="Google Shape;84;h2c74b3ca32052aaf_0_28:notes"/>
          <p:cNvSpPr/>
          <p:nvPr>
            <p:ph idx="2" type="sldImg"/>
          </p:nvPr>
        </p:nvSpPr>
        <p:spPr>
          <a:xfrm>
            <a:off x="1143164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h2c74b3ca32052aaf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h2c74b3ca32052aaf_0_35:notes"/>
          <p:cNvSpPr/>
          <p:nvPr>
            <p:ph idx="2" type="sldImg"/>
          </p:nvPr>
        </p:nvSpPr>
        <p:spPr>
          <a:xfrm>
            <a:off x="1143164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h2c74b3ca32052aaf_0_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h2c74b3ca32052aaf_0_42:notes"/>
          <p:cNvSpPr/>
          <p:nvPr>
            <p:ph idx="2" type="sldImg"/>
          </p:nvPr>
        </p:nvSpPr>
        <p:spPr>
          <a:xfrm>
            <a:off x="1143164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h2c74b3ca32052aaf_0_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" name="Google Shape;108;h2c74b3ca32052aaf_0_57:notes"/>
          <p:cNvSpPr/>
          <p:nvPr>
            <p:ph idx="2" type="sldImg"/>
          </p:nvPr>
        </p:nvSpPr>
        <p:spPr>
          <a:xfrm>
            <a:off x="1143164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h2c74b3ca32052aaf_0_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h2c74b3ca32052aaf_0_49:notes"/>
          <p:cNvSpPr/>
          <p:nvPr>
            <p:ph idx="2" type="sldImg"/>
          </p:nvPr>
        </p:nvSpPr>
        <p:spPr>
          <a:xfrm>
            <a:off x="1143164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h2c74b3ca32052aaf_0_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h2c74b3ca32052aaf_0_64:notes"/>
          <p:cNvSpPr/>
          <p:nvPr>
            <p:ph idx="2" type="sldImg"/>
          </p:nvPr>
        </p:nvSpPr>
        <p:spPr>
          <a:xfrm>
            <a:off x="1143164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8"/>
        </a:solid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/>
          <p:nvPr/>
        </p:nvSpPr>
        <p:spPr>
          <a:xfrm>
            <a:off x="0" y="0"/>
            <a:ext cx="82500" cy="5143500"/>
          </a:xfrm>
          <a:prstGeom prst="rect">
            <a:avLst/>
          </a:prstGeom>
          <a:solidFill>
            <a:srgbClr val="D2232D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13"/>
          <p:cNvSpPr txBox="1"/>
          <p:nvPr/>
        </p:nvSpPr>
        <p:spPr>
          <a:xfrm>
            <a:off x="611405" y="4078880"/>
            <a:ext cx="79212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l" sz="2000" u="none" cap="none" strike="noStrike">
                <a:solidFill>
                  <a:srgbClr val="5F6369"/>
                </a:solidFill>
                <a:latin typeface="Arial"/>
                <a:ea typeface="Arial"/>
                <a:cs typeface="Arial"/>
                <a:sym typeface="Arial"/>
              </a:rPr>
              <a:t>Task Dispatching System During Emergencies</a:t>
            </a:r>
            <a:endParaRPr sz="2000"/>
          </a:p>
        </p:txBody>
      </p:sp>
      <p:sp>
        <p:nvSpPr>
          <p:cNvPr id="56" name="Google Shape;56;p13"/>
          <p:cNvSpPr txBox="1"/>
          <p:nvPr/>
        </p:nvSpPr>
        <p:spPr>
          <a:xfrm>
            <a:off x="548655" y="4834890"/>
            <a:ext cx="78870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l" sz="700" u="none" cap="none" strike="noStrike">
                <a:solidFill>
                  <a:srgbClr val="5F6369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sz="1100"/>
          </a:p>
        </p:txBody>
      </p:sp>
      <p:pic>
        <p:nvPicPr>
          <p:cNvPr descr="wide_clean_studio_style_graphic_on_white_backgroun.png" id="57" name="Google Shape;57;p13"/>
          <p:cNvPicPr preferRelativeResize="0"/>
          <p:nvPr/>
        </p:nvPicPr>
        <p:blipFill rotWithShape="1">
          <a:blip r:embed="rId3">
            <a:alphaModFix/>
          </a:blip>
          <a:srcRect b="0" l="0" r="66300" t="0"/>
          <a:stretch/>
        </p:blipFill>
        <p:spPr>
          <a:xfrm>
            <a:off x="3126553" y="1272475"/>
            <a:ext cx="2890875" cy="2859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8"/>
        </a:solidFill>
      </p:bgPr>
    </p:bg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/>
          <p:cNvSpPr/>
          <p:nvPr/>
        </p:nvSpPr>
        <p:spPr>
          <a:xfrm>
            <a:off x="0" y="0"/>
            <a:ext cx="82500" cy="5143500"/>
          </a:xfrm>
          <a:prstGeom prst="rect">
            <a:avLst/>
          </a:prstGeom>
          <a:solidFill>
            <a:srgbClr val="D2232D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14"/>
          <p:cNvSpPr txBox="1"/>
          <p:nvPr/>
        </p:nvSpPr>
        <p:spPr>
          <a:xfrm>
            <a:off x="514364" y="445770"/>
            <a:ext cx="8024100" cy="4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l" sz="2400" u="none" cap="none" strike="noStrike">
                <a:solidFill>
                  <a:srgbClr val="141619"/>
                </a:solidFill>
                <a:latin typeface="Play"/>
                <a:ea typeface="Play"/>
                <a:cs typeface="Play"/>
                <a:sym typeface="Play"/>
              </a:rPr>
              <a:t>In an Emergency, There Is No Time to Plan</a:t>
            </a:r>
            <a:endParaRPr sz="2400"/>
          </a:p>
        </p:txBody>
      </p:sp>
      <p:sp>
        <p:nvSpPr>
          <p:cNvPr id="64" name="Google Shape;64;p14"/>
          <p:cNvSpPr txBox="1"/>
          <p:nvPr/>
        </p:nvSpPr>
        <p:spPr>
          <a:xfrm>
            <a:off x="548655" y="1268730"/>
            <a:ext cx="7921200" cy="24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l" sz="2000" u="none" cap="none" strike="noStrike">
                <a:solidFill>
                  <a:srgbClr val="5F6369"/>
                </a:solidFill>
                <a:latin typeface="Arial"/>
                <a:ea typeface="Arial"/>
                <a:cs typeface="Arial"/>
                <a:sym typeface="Arial"/>
              </a:rPr>
              <a:t>When the alarm is raised, everyone should know:</a:t>
            </a:r>
            <a:endParaRPr sz="20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5F636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pl" sz="2000" u="none" cap="none" strike="noStrike">
                <a:solidFill>
                  <a:srgbClr val="141619"/>
                </a:solidFill>
                <a:latin typeface="Arial"/>
                <a:ea typeface="Arial"/>
                <a:cs typeface="Arial"/>
                <a:sym typeface="Arial"/>
              </a:rPr>
              <a:t>WHERE TO GO.</a:t>
            </a:r>
            <a:endParaRPr sz="20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pl" sz="2000" u="none" cap="none" strike="noStrike">
                <a:solidFill>
                  <a:srgbClr val="141619"/>
                </a:solidFill>
                <a:latin typeface="Arial"/>
                <a:ea typeface="Arial"/>
                <a:cs typeface="Arial"/>
                <a:sym typeface="Arial"/>
              </a:rPr>
              <a:t>WHAT TO DO.</a:t>
            </a:r>
            <a:endParaRPr sz="20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b="1" i="0" sz="2000" u="none" cap="none" strike="noStrike">
              <a:solidFill>
                <a:srgbClr val="14161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pl" sz="2000" u="none" cap="none" strike="noStrike">
                <a:solidFill>
                  <a:srgbClr val="5F6369"/>
                </a:solidFill>
                <a:latin typeface="Arial"/>
                <a:ea typeface="Arial"/>
                <a:cs typeface="Arial"/>
                <a:sym typeface="Arial"/>
              </a:rPr>
              <a:t>Siren brings this principle into the digital age.</a:t>
            </a:r>
            <a:endParaRPr sz="2000"/>
          </a:p>
        </p:txBody>
      </p:sp>
      <p:sp>
        <p:nvSpPr>
          <p:cNvPr id="65" name="Google Shape;65;p14"/>
          <p:cNvSpPr txBox="1"/>
          <p:nvPr/>
        </p:nvSpPr>
        <p:spPr>
          <a:xfrm>
            <a:off x="548655" y="4834890"/>
            <a:ext cx="78870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l" sz="700" u="none" cap="none" strike="noStrike">
                <a:solidFill>
                  <a:srgbClr val="5F6369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sz="11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8"/>
        </a:solid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5"/>
          <p:cNvSpPr/>
          <p:nvPr/>
        </p:nvSpPr>
        <p:spPr>
          <a:xfrm>
            <a:off x="0" y="0"/>
            <a:ext cx="82500" cy="5143500"/>
          </a:xfrm>
          <a:prstGeom prst="rect">
            <a:avLst/>
          </a:prstGeom>
          <a:solidFill>
            <a:srgbClr val="D2232D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15"/>
          <p:cNvSpPr txBox="1"/>
          <p:nvPr/>
        </p:nvSpPr>
        <p:spPr>
          <a:xfrm>
            <a:off x="514364" y="445770"/>
            <a:ext cx="8024100" cy="4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l" sz="2400" u="none" cap="none" strike="noStrike">
                <a:solidFill>
                  <a:srgbClr val="141619"/>
                </a:solidFill>
                <a:latin typeface="Play"/>
                <a:ea typeface="Play"/>
                <a:cs typeface="Play"/>
                <a:sym typeface="Play"/>
              </a:rPr>
              <a:t>From Instructions to Action</a:t>
            </a:r>
            <a:endParaRPr sz="2400"/>
          </a:p>
        </p:txBody>
      </p:sp>
      <p:sp>
        <p:nvSpPr>
          <p:cNvPr id="72" name="Google Shape;72;p15"/>
          <p:cNvSpPr txBox="1"/>
          <p:nvPr/>
        </p:nvSpPr>
        <p:spPr>
          <a:xfrm>
            <a:off x="548650" y="1268725"/>
            <a:ext cx="8098500" cy="2019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l" sz="2000" u="none" cap="none" strike="noStrike">
                <a:solidFill>
                  <a:srgbClr val="5F6369"/>
                </a:solidFill>
                <a:latin typeface="Arial"/>
                <a:ea typeface="Arial"/>
                <a:cs typeface="Arial"/>
                <a:sym typeface="Arial"/>
              </a:rPr>
              <a:t>Siren is a flexible system for distributing tasks in emergency situations.</a:t>
            </a:r>
            <a:endParaRPr sz="20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5F636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pl" sz="2000" u="none" cap="none" strike="noStrike">
                <a:solidFill>
                  <a:srgbClr val="5F6369"/>
                </a:solidFill>
                <a:latin typeface="Arial"/>
                <a:ea typeface="Arial"/>
                <a:cs typeface="Arial"/>
                <a:sym typeface="Arial"/>
              </a:rPr>
              <a:t>Normally: emergency instructions and procedures in one app.</a:t>
            </a:r>
            <a:endParaRPr sz="20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5F636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pl" sz="2000" u="none" cap="none" strike="noStrike">
                <a:solidFill>
                  <a:srgbClr val="5F6369"/>
                </a:solidFill>
                <a:latin typeface="Arial"/>
                <a:ea typeface="Arial"/>
                <a:cs typeface="Arial"/>
                <a:sym typeface="Arial"/>
              </a:rPr>
              <a:t>On alarm: the app turns into an interactive to-do list. </a:t>
            </a:r>
            <a:endParaRPr sz="2000"/>
          </a:p>
        </p:txBody>
      </p:sp>
      <p:sp>
        <p:nvSpPr>
          <p:cNvPr id="73" name="Google Shape;73;p15"/>
          <p:cNvSpPr txBox="1"/>
          <p:nvPr/>
        </p:nvSpPr>
        <p:spPr>
          <a:xfrm>
            <a:off x="548655" y="4834890"/>
            <a:ext cx="78870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l" sz="700" u="none" cap="none" strike="noStrike">
                <a:solidFill>
                  <a:srgbClr val="5F6369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sz="11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8"/>
        </a:solidFill>
      </p:bgPr>
    </p:bg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6"/>
          <p:cNvSpPr/>
          <p:nvPr/>
        </p:nvSpPr>
        <p:spPr>
          <a:xfrm>
            <a:off x="0" y="0"/>
            <a:ext cx="82500" cy="5143500"/>
          </a:xfrm>
          <a:prstGeom prst="rect">
            <a:avLst/>
          </a:prstGeom>
          <a:solidFill>
            <a:srgbClr val="D2232D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16"/>
          <p:cNvSpPr txBox="1"/>
          <p:nvPr/>
        </p:nvSpPr>
        <p:spPr>
          <a:xfrm>
            <a:off x="514364" y="445770"/>
            <a:ext cx="8024100" cy="4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l" sz="2400" u="none" cap="none" strike="noStrike">
                <a:solidFill>
                  <a:srgbClr val="141619"/>
                </a:solidFill>
                <a:latin typeface="Play"/>
                <a:ea typeface="Play"/>
                <a:cs typeface="Play"/>
                <a:sym typeface="Play"/>
              </a:rPr>
              <a:t>One Alarm. Clear Orders.</a:t>
            </a:r>
            <a:endParaRPr sz="2400"/>
          </a:p>
        </p:txBody>
      </p:sp>
      <p:sp>
        <p:nvSpPr>
          <p:cNvPr id="80" name="Google Shape;80;p16"/>
          <p:cNvSpPr txBox="1"/>
          <p:nvPr/>
        </p:nvSpPr>
        <p:spPr>
          <a:xfrm>
            <a:off x="548655" y="1268730"/>
            <a:ext cx="7921200" cy="1506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l" sz="2000" u="none" cap="none" strike="noStrike">
                <a:solidFill>
                  <a:srgbClr val="141619"/>
                </a:solidFill>
                <a:latin typeface="Arial"/>
                <a:ea typeface="Arial"/>
                <a:cs typeface="Arial"/>
                <a:sym typeface="Arial"/>
              </a:rPr>
              <a:t>Alarm → Scenario → Task Group → Person</a:t>
            </a:r>
            <a:endParaRPr sz="20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b="1" i="0" sz="2000" u="none" cap="none" strike="noStrike">
              <a:solidFill>
                <a:srgbClr val="14161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pl" sz="2000" u="none" cap="none" strike="noStrike">
                <a:solidFill>
                  <a:srgbClr val="5F6369"/>
                </a:solidFill>
                <a:latin typeface="Arial"/>
                <a:ea typeface="Arial"/>
                <a:cs typeface="Arial"/>
                <a:sym typeface="Arial"/>
              </a:rPr>
              <a:t>Each person receives the tasks they need to perform, at the location where they need to act.</a:t>
            </a:r>
            <a:endParaRPr sz="2000"/>
          </a:p>
        </p:txBody>
      </p:sp>
      <p:sp>
        <p:nvSpPr>
          <p:cNvPr id="81" name="Google Shape;81;p16"/>
          <p:cNvSpPr txBox="1"/>
          <p:nvPr/>
        </p:nvSpPr>
        <p:spPr>
          <a:xfrm>
            <a:off x="548655" y="4834890"/>
            <a:ext cx="78870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l" sz="700" u="none" cap="none" strike="noStrike">
                <a:solidFill>
                  <a:srgbClr val="5F6369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sz="11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8"/>
        </a:solidFill>
      </p:bgPr>
    </p:bg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7"/>
          <p:cNvSpPr/>
          <p:nvPr/>
        </p:nvSpPr>
        <p:spPr>
          <a:xfrm>
            <a:off x="0" y="0"/>
            <a:ext cx="82500" cy="5143500"/>
          </a:xfrm>
          <a:prstGeom prst="rect">
            <a:avLst/>
          </a:prstGeom>
          <a:solidFill>
            <a:srgbClr val="D2232D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17"/>
          <p:cNvSpPr txBox="1"/>
          <p:nvPr/>
        </p:nvSpPr>
        <p:spPr>
          <a:xfrm>
            <a:off x="514364" y="445770"/>
            <a:ext cx="8024100" cy="4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l" sz="2400" u="none" cap="none" strike="noStrike">
                <a:solidFill>
                  <a:srgbClr val="141619"/>
                </a:solidFill>
                <a:latin typeface="Play"/>
                <a:ea typeface="Play"/>
                <a:cs typeface="Play"/>
                <a:sym typeface="Play"/>
              </a:rPr>
              <a:t>Always Ready</a:t>
            </a:r>
            <a:endParaRPr sz="2400"/>
          </a:p>
        </p:txBody>
      </p:sp>
      <p:sp>
        <p:nvSpPr>
          <p:cNvPr id="88" name="Google Shape;88;p17"/>
          <p:cNvSpPr txBox="1"/>
          <p:nvPr/>
        </p:nvSpPr>
        <p:spPr>
          <a:xfrm>
            <a:off x="548650" y="1268725"/>
            <a:ext cx="8185200" cy="11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l" sz="2000" u="none" cap="none" strike="noStrike">
                <a:solidFill>
                  <a:srgbClr val="5F6369"/>
                </a:solidFill>
                <a:latin typeface="Arial"/>
                <a:ea typeface="Arial"/>
                <a:cs typeface="Arial"/>
                <a:sym typeface="Arial"/>
              </a:rPr>
              <a:t>Scenarios are distributed p</a:t>
            </a:r>
            <a:r>
              <a:rPr lang="pl" sz="2000">
                <a:solidFill>
                  <a:srgbClr val="5F6369"/>
                </a:solidFill>
              </a:rPr>
              <a:t>eriodically</a:t>
            </a:r>
            <a:r>
              <a:rPr b="0" i="0" lang="pl" sz="2000" u="none" cap="none" strike="noStrike">
                <a:solidFill>
                  <a:srgbClr val="5F6369"/>
                </a:solidFill>
                <a:latin typeface="Arial"/>
                <a:ea typeface="Arial"/>
                <a:cs typeface="Arial"/>
                <a:sym typeface="Arial"/>
              </a:rPr>
              <a:t> to devices and stored offline.</a:t>
            </a:r>
            <a:endParaRPr sz="20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5F636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pl" sz="2000" u="none" cap="none" strike="noStrike">
                <a:solidFill>
                  <a:srgbClr val="5F6369"/>
                </a:solidFill>
                <a:latin typeface="Arial"/>
                <a:ea typeface="Arial"/>
                <a:cs typeface="Arial"/>
                <a:sym typeface="Arial"/>
              </a:rPr>
              <a:t>Users do not need to search for procedures when an emergency starts.</a:t>
            </a:r>
            <a:endParaRPr sz="2000"/>
          </a:p>
        </p:txBody>
      </p:sp>
      <p:sp>
        <p:nvSpPr>
          <p:cNvPr id="89" name="Google Shape;89;p17"/>
          <p:cNvSpPr txBox="1"/>
          <p:nvPr/>
        </p:nvSpPr>
        <p:spPr>
          <a:xfrm>
            <a:off x="548655" y="4834890"/>
            <a:ext cx="78870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l" sz="700" u="none" cap="none" strike="noStrike">
                <a:solidFill>
                  <a:srgbClr val="5F6369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 sz="11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8"/>
        </a:solidFill>
      </p:bgPr>
    </p:bg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8"/>
          <p:cNvSpPr/>
          <p:nvPr/>
        </p:nvSpPr>
        <p:spPr>
          <a:xfrm>
            <a:off x="0" y="0"/>
            <a:ext cx="82500" cy="5143500"/>
          </a:xfrm>
          <a:prstGeom prst="rect">
            <a:avLst/>
          </a:prstGeom>
          <a:solidFill>
            <a:srgbClr val="D2232D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8"/>
          <p:cNvSpPr txBox="1"/>
          <p:nvPr/>
        </p:nvSpPr>
        <p:spPr>
          <a:xfrm>
            <a:off x="514364" y="445770"/>
            <a:ext cx="8024100" cy="4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l" sz="2400" u="none" cap="none" strike="noStrike">
                <a:solidFill>
                  <a:srgbClr val="141619"/>
                </a:solidFill>
                <a:latin typeface="Play"/>
                <a:ea typeface="Play"/>
                <a:cs typeface="Play"/>
                <a:sym typeface="Play"/>
              </a:rPr>
              <a:t>Communication-Independent</a:t>
            </a:r>
            <a:endParaRPr sz="2400"/>
          </a:p>
        </p:txBody>
      </p:sp>
      <p:sp>
        <p:nvSpPr>
          <p:cNvPr id="96" name="Google Shape;96;p18"/>
          <p:cNvSpPr txBox="1"/>
          <p:nvPr/>
        </p:nvSpPr>
        <p:spPr>
          <a:xfrm>
            <a:off x="548655" y="1268730"/>
            <a:ext cx="7921200" cy="1506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l" sz="2000" u="none" cap="none" strike="noStrike">
                <a:solidFill>
                  <a:srgbClr val="5F6369"/>
                </a:solidFill>
                <a:latin typeface="Arial"/>
                <a:ea typeface="Arial"/>
                <a:cs typeface="Arial"/>
                <a:sym typeface="Arial"/>
              </a:rPr>
              <a:t>The alarm does not depend on a single communication medium.</a:t>
            </a:r>
            <a:endParaRPr sz="20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5F636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pl" sz="2000" u="none" cap="none" strike="noStrike">
                <a:solidFill>
                  <a:srgbClr val="5F6369"/>
                </a:solidFill>
                <a:latin typeface="Arial"/>
                <a:ea typeface="Arial"/>
                <a:cs typeface="Arial"/>
                <a:sym typeface="Arial"/>
              </a:rPr>
              <a:t>It can propagate through available communication paths, including mesh networks.</a:t>
            </a:r>
            <a:endParaRPr sz="2000"/>
          </a:p>
        </p:txBody>
      </p:sp>
      <p:sp>
        <p:nvSpPr>
          <p:cNvPr id="97" name="Google Shape;97;p18"/>
          <p:cNvSpPr txBox="1"/>
          <p:nvPr/>
        </p:nvSpPr>
        <p:spPr>
          <a:xfrm>
            <a:off x="548655" y="4834890"/>
            <a:ext cx="78870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l" sz="700" u="none" cap="none" strike="noStrike">
                <a:solidFill>
                  <a:srgbClr val="5F6369"/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  <a:endParaRPr sz="11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8"/>
        </a:solid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9"/>
          <p:cNvSpPr/>
          <p:nvPr/>
        </p:nvSpPr>
        <p:spPr>
          <a:xfrm>
            <a:off x="0" y="0"/>
            <a:ext cx="82500" cy="5143500"/>
          </a:xfrm>
          <a:prstGeom prst="rect">
            <a:avLst/>
          </a:prstGeom>
          <a:solidFill>
            <a:srgbClr val="D2232D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9"/>
          <p:cNvSpPr txBox="1"/>
          <p:nvPr/>
        </p:nvSpPr>
        <p:spPr>
          <a:xfrm>
            <a:off x="514364" y="445770"/>
            <a:ext cx="8024100" cy="4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l" sz="2400" u="none" cap="none" strike="noStrike">
                <a:solidFill>
                  <a:srgbClr val="141619"/>
                </a:solidFill>
                <a:latin typeface="Play"/>
                <a:ea typeface="Play"/>
                <a:cs typeface="Play"/>
                <a:sym typeface="Play"/>
              </a:rPr>
              <a:t>Know What Is Happening</a:t>
            </a:r>
            <a:endParaRPr sz="2400"/>
          </a:p>
        </p:txBody>
      </p:sp>
      <p:sp>
        <p:nvSpPr>
          <p:cNvPr id="104" name="Google Shape;104;p19"/>
          <p:cNvSpPr txBox="1"/>
          <p:nvPr/>
        </p:nvSpPr>
        <p:spPr>
          <a:xfrm>
            <a:off x="548655" y="1268730"/>
            <a:ext cx="7921200" cy="2839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l" sz="2000" u="none" cap="none" strike="noStrike">
                <a:solidFill>
                  <a:srgbClr val="5F6369"/>
                </a:solidFill>
                <a:latin typeface="Arial"/>
                <a:ea typeface="Arial"/>
                <a:cs typeface="Arial"/>
                <a:sym typeface="Arial"/>
              </a:rPr>
              <a:t>During an active alarm, the central node of system can report:</a:t>
            </a:r>
            <a:endParaRPr sz="20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5F636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pl" sz="2000" u="none" cap="none" strike="noStrike">
                <a:solidFill>
                  <a:srgbClr val="5F6369"/>
                </a:solidFill>
                <a:latin typeface="Arial"/>
                <a:ea typeface="Arial"/>
                <a:cs typeface="Arial"/>
                <a:sym typeface="Arial"/>
              </a:rPr>
              <a:t>• who received the alarm</a:t>
            </a:r>
            <a:endParaRPr sz="20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pl" sz="2000" u="none" cap="none" strike="noStrike">
                <a:solidFill>
                  <a:srgbClr val="5F6369"/>
                </a:solidFill>
                <a:latin typeface="Arial"/>
                <a:ea typeface="Arial"/>
                <a:cs typeface="Arial"/>
                <a:sym typeface="Arial"/>
              </a:rPr>
              <a:t>• where people are</a:t>
            </a:r>
            <a:endParaRPr sz="20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pl" sz="2000" u="none" cap="none" strike="noStrike">
                <a:solidFill>
                  <a:srgbClr val="5F6369"/>
                </a:solidFill>
                <a:latin typeface="Arial"/>
                <a:ea typeface="Arial"/>
                <a:cs typeface="Arial"/>
                <a:sym typeface="Arial"/>
              </a:rPr>
              <a:t>• task progress</a:t>
            </a:r>
            <a:endParaRPr sz="20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5F636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pl" sz="2000" u="none" cap="none" strike="noStrike">
                <a:solidFill>
                  <a:srgbClr val="5F6369"/>
                </a:solidFill>
                <a:latin typeface="Arial"/>
                <a:ea typeface="Arial"/>
                <a:cs typeface="Arial"/>
                <a:sym typeface="Arial"/>
              </a:rPr>
              <a:t>The response can be monitored on a map</a:t>
            </a:r>
            <a:r>
              <a:rPr lang="pl" sz="2000">
                <a:solidFill>
                  <a:srgbClr val="5F6369"/>
                </a:solidFill>
              </a:rPr>
              <a:t> in administrator panel</a:t>
            </a:r>
            <a:endParaRPr sz="2000"/>
          </a:p>
        </p:txBody>
      </p:sp>
      <p:sp>
        <p:nvSpPr>
          <p:cNvPr id="105" name="Google Shape;105;p19"/>
          <p:cNvSpPr txBox="1"/>
          <p:nvPr/>
        </p:nvSpPr>
        <p:spPr>
          <a:xfrm>
            <a:off x="548655" y="4834890"/>
            <a:ext cx="78870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l" sz="700" u="none" cap="none" strike="noStrike">
                <a:solidFill>
                  <a:srgbClr val="5F6369"/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  <a:endParaRPr sz="11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8"/>
        </a:solidFill>
      </p:bgPr>
    </p:bg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0"/>
          <p:cNvSpPr/>
          <p:nvPr/>
        </p:nvSpPr>
        <p:spPr>
          <a:xfrm>
            <a:off x="0" y="0"/>
            <a:ext cx="82500" cy="5143500"/>
          </a:xfrm>
          <a:prstGeom prst="rect">
            <a:avLst/>
          </a:prstGeom>
          <a:solidFill>
            <a:srgbClr val="D2232D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20"/>
          <p:cNvSpPr txBox="1"/>
          <p:nvPr/>
        </p:nvSpPr>
        <p:spPr>
          <a:xfrm>
            <a:off x="514364" y="445770"/>
            <a:ext cx="8024100" cy="4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l" sz="2400" u="none" cap="none" strike="noStrike">
                <a:solidFill>
                  <a:srgbClr val="141619"/>
                </a:solidFill>
                <a:latin typeface="Play"/>
                <a:ea typeface="Play"/>
                <a:cs typeface="Play"/>
                <a:sym typeface="Play"/>
              </a:rPr>
              <a:t>One Principle. Multiple Domains.</a:t>
            </a:r>
            <a:endParaRPr sz="2400"/>
          </a:p>
        </p:txBody>
      </p:sp>
      <p:sp>
        <p:nvSpPr>
          <p:cNvPr id="112" name="Google Shape;112;p20"/>
          <p:cNvSpPr txBox="1"/>
          <p:nvPr/>
        </p:nvSpPr>
        <p:spPr>
          <a:xfrm>
            <a:off x="548655" y="1268730"/>
            <a:ext cx="7921200" cy="1608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l" sz="2000" u="none" cap="none" strike="noStrike">
                <a:solidFill>
                  <a:srgbClr val="5F6369"/>
                </a:solidFill>
                <a:latin typeface="Arial"/>
                <a:ea typeface="Arial"/>
                <a:cs typeface="Arial"/>
                <a:sym typeface="Arial"/>
              </a:rPr>
              <a:t>The scenario changes.</a:t>
            </a:r>
            <a:endParaRPr sz="20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pl" sz="2000" u="none" cap="none" strike="noStrike">
                <a:solidFill>
                  <a:srgbClr val="5F6369"/>
                </a:solidFill>
                <a:latin typeface="Arial"/>
                <a:ea typeface="Arial"/>
                <a:cs typeface="Arial"/>
                <a:sym typeface="Arial"/>
              </a:rPr>
              <a:t>The coordination principle stays the same.</a:t>
            </a:r>
            <a:endParaRPr sz="20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5F636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pl" sz="2000" u="none" cap="none" strike="noStrike">
                <a:solidFill>
                  <a:srgbClr val="5F6369"/>
                </a:solidFill>
                <a:latin typeface="Arial"/>
                <a:ea typeface="Arial"/>
                <a:cs typeface="Arial"/>
                <a:sym typeface="Arial"/>
              </a:rPr>
              <a:t>Predefined instructions become coordinated action.</a:t>
            </a:r>
            <a:endParaRPr sz="2000"/>
          </a:p>
        </p:txBody>
      </p:sp>
      <p:sp>
        <p:nvSpPr>
          <p:cNvPr id="113" name="Google Shape;113;p20"/>
          <p:cNvSpPr txBox="1"/>
          <p:nvPr/>
        </p:nvSpPr>
        <p:spPr>
          <a:xfrm>
            <a:off x="548655" y="4834890"/>
            <a:ext cx="78870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l" sz="700" u="none" cap="none" strike="noStrike">
                <a:solidFill>
                  <a:srgbClr val="5F6369"/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  <a:endParaRPr sz="11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8"/>
        </a:solidFill>
      </p:bgPr>
    </p:bg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1"/>
          <p:cNvSpPr/>
          <p:nvPr/>
        </p:nvSpPr>
        <p:spPr>
          <a:xfrm>
            <a:off x="0" y="0"/>
            <a:ext cx="82500" cy="5143500"/>
          </a:xfrm>
          <a:prstGeom prst="rect">
            <a:avLst/>
          </a:prstGeom>
          <a:solidFill>
            <a:srgbClr val="D2232D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21"/>
          <p:cNvSpPr txBox="1"/>
          <p:nvPr/>
        </p:nvSpPr>
        <p:spPr>
          <a:xfrm>
            <a:off x="514364" y="445770"/>
            <a:ext cx="8024100" cy="4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l" sz="2300" u="none" cap="none" strike="noStrike">
                <a:solidFill>
                  <a:srgbClr val="141619"/>
                </a:solidFill>
                <a:latin typeface="Play"/>
                <a:ea typeface="Play"/>
                <a:cs typeface="Play"/>
                <a:sym typeface="Play"/>
              </a:rPr>
              <a:t>Triple Use</a:t>
            </a:r>
            <a:endParaRPr sz="1100"/>
          </a:p>
        </p:txBody>
      </p:sp>
      <p:sp>
        <p:nvSpPr>
          <p:cNvPr id="120" name="Google Shape;120;p21"/>
          <p:cNvSpPr txBox="1"/>
          <p:nvPr/>
        </p:nvSpPr>
        <p:spPr>
          <a:xfrm>
            <a:off x="611400" y="1675974"/>
            <a:ext cx="79212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2000"/>
          </a:p>
        </p:txBody>
      </p:sp>
      <p:sp>
        <p:nvSpPr>
          <p:cNvPr id="121" name="Google Shape;121;p21"/>
          <p:cNvSpPr txBox="1"/>
          <p:nvPr/>
        </p:nvSpPr>
        <p:spPr>
          <a:xfrm>
            <a:off x="548655" y="4834890"/>
            <a:ext cx="78870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l" sz="700" u="none" cap="none" strike="noStrike">
                <a:solidFill>
                  <a:srgbClr val="5F6369"/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  <a:endParaRPr sz="1100"/>
          </a:p>
        </p:txBody>
      </p:sp>
      <p:pic>
        <p:nvPicPr>
          <p:cNvPr descr="wide_clean_studio_style_graphic_on_white_backgroun.png" id="122" name="Google Shape;12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878373" y="226152"/>
            <a:ext cx="3937773" cy="1312575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21"/>
          <p:cNvSpPr txBox="1"/>
          <p:nvPr/>
        </p:nvSpPr>
        <p:spPr>
          <a:xfrm>
            <a:off x="531550" y="1538725"/>
            <a:ext cx="8368500" cy="2019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pl" sz="2000">
                <a:solidFill>
                  <a:srgbClr val="5F6369"/>
                </a:solidFill>
              </a:rPr>
              <a:t>Civilian version for administration to communicates </a:t>
            </a:r>
            <a:r>
              <a:rPr lang="pl" sz="2000">
                <a:solidFill>
                  <a:srgbClr val="5F6369"/>
                </a:solidFill>
              </a:rPr>
              <a:t>authorities</a:t>
            </a:r>
            <a:r>
              <a:rPr lang="pl" sz="2000">
                <a:solidFill>
                  <a:srgbClr val="5F6369"/>
                </a:solidFill>
              </a:rPr>
              <a:t> in charge.</a:t>
            </a:r>
            <a:endParaRPr sz="2000">
              <a:solidFill>
                <a:srgbClr val="5F6369"/>
              </a:solidFill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rgbClr val="5F6369"/>
              </a:solidFill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pl" sz="2000">
                <a:solidFill>
                  <a:srgbClr val="5F6369"/>
                </a:solidFill>
              </a:rPr>
              <a:t>MED version for </a:t>
            </a:r>
            <a:r>
              <a:rPr lang="pl" sz="2000">
                <a:solidFill>
                  <a:srgbClr val="5F6369"/>
                </a:solidFill>
              </a:rPr>
              <a:t>crisis</a:t>
            </a:r>
            <a:r>
              <a:rPr lang="pl" sz="2000">
                <a:solidFill>
                  <a:srgbClr val="5F6369"/>
                </a:solidFill>
              </a:rPr>
              <a:t> </a:t>
            </a:r>
            <a:r>
              <a:rPr lang="pl" sz="2000">
                <a:solidFill>
                  <a:srgbClr val="5F6369"/>
                </a:solidFill>
              </a:rPr>
              <a:t>management</a:t>
            </a:r>
            <a:r>
              <a:rPr lang="pl" sz="2000">
                <a:solidFill>
                  <a:srgbClr val="5F6369"/>
                </a:solidFill>
              </a:rPr>
              <a:t> in hospitals</a:t>
            </a:r>
            <a:endParaRPr sz="2000">
              <a:solidFill>
                <a:srgbClr val="5F6369"/>
              </a:solidFill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rgbClr val="5F6369"/>
              </a:solidFill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pl" sz="2000">
                <a:solidFill>
                  <a:srgbClr val="5F6369"/>
                </a:solidFill>
              </a:rPr>
              <a:t>MIL version as replacement for paper instructions.</a:t>
            </a:r>
            <a:endParaRPr sz="2000">
              <a:solidFill>
                <a:srgbClr val="5F6369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8"/>
        </a:solidFill>
      </p:bgPr>
    </p:bg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2"/>
          <p:cNvSpPr/>
          <p:nvPr/>
        </p:nvSpPr>
        <p:spPr>
          <a:xfrm>
            <a:off x="0" y="0"/>
            <a:ext cx="82500" cy="5143500"/>
          </a:xfrm>
          <a:prstGeom prst="rect">
            <a:avLst/>
          </a:prstGeom>
          <a:solidFill>
            <a:srgbClr val="D2232D"/>
          </a:solidFill>
          <a:ln>
            <a:noFill/>
          </a:ln>
          <a:effectLst>
            <a:outerShdw blurRad="30001" rotWithShape="0" dir="5400000" dist="1725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22"/>
          <p:cNvSpPr txBox="1"/>
          <p:nvPr/>
        </p:nvSpPr>
        <p:spPr>
          <a:xfrm>
            <a:off x="514364" y="445770"/>
            <a:ext cx="8024100" cy="4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l" sz="2400" u="none" cap="none" strike="noStrike">
                <a:solidFill>
                  <a:srgbClr val="141619"/>
                </a:solidFill>
                <a:latin typeface="Play"/>
                <a:ea typeface="Play"/>
                <a:cs typeface="Play"/>
                <a:sym typeface="Play"/>
              </a:rPr>
              <a:t>Siren — From Alarm to Action</a:t>
            </a:r>
            <a:endParaRPr sz="2400"/>
          </a:p>
        </p:txBody>
      </p:sp>
      <p:sp>
        <p:nvSpPr>
          <p:cNvPr id="130" name="Google Shape;130;p22"/>
          <p:cNvSpPr txBox="1"/>
          <p:nvPr/>
        </p:nvSpPr>
        <p:spPr>
          <a:xfrm>
            <a:off x="548655" y="1268730"/>
            <a:ext cx="7921200" cy="24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l" sz="2000" u="none" cap="none" strike="noStrike">
                <a:solidFill>
                  <a:srgbClr val="5F6369"/>
                </a:solidFill>
                <a:latin typeface="Arial"/>
                <a:ea typeface="Arial"/>
                <a:cs typeface="Arial"/>
                <a:sym typeface="Arial"/>
              </a:rPr>
              <a:t>When the alarm comes, there is no time to think.</a:t>
            </a:r>
            <a:endParaRPr sz="20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5F636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pl" sz="2000" u="none" cap="none" strike="noStrike">
                <a:solidFill>
                  <a:srgbClr val="5F6369"/>
                </a:solidFill>
                <a:latin typeface="Arial"/>
                <a:ea typeface="Arial"/>
                <a:cs typeface="Arial"/>
                <a:sym typeface="Arial"/>
              </a:rPr>
              <a:t>Siren tells people:</a:t>
            </a:r>
            <a:endParaRPr sz="20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5F636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pl" sz="2000" u="none" cap="none" strike="noStrike">
                <a:solidFill>
                  <a:srgbClr val="141619"/>
                </a:solidFill>
                <a:latin typeface="Arial"/>
                <a:ea typeface="Arial"/>
                <a:cs typeface="Arial"/>
                <a:sym typeface="Arial"/>
              </a:rPr>
              <a:t>WHERE TO GO.</a:t>
            </a:r>
            <a:endParaRPr sz="20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pl" sz="2000" u="none" cap="none" strike="noStrike">
                <a:solidFill>
                  <a:srgbClr val="141619"/>
                </a:solidFill>
                <a:latin typeface="Arial"/>
                <a:ea typeface="Arial"/>
                <a:cs typeface="Arial"/>
                <a:sym typeface="Arial"/>
              </a:rPr>
              <a:t>WHAT TO DO.</a:t>
            </a:r>
            <a:endParaRPr sz="2000"/>
          </a:p>
        </p:txBody>
      </p:sp>
      <p:sp>
        <p:nvSpPr>
          <p:cNvPr id="131" name="Google Shape;131;p22"/>
          <p:cNvSpPr txBox="1"/>
          <p:nvPr/>
        </p:nvSpPr>
        <p:spPr>
          <a:xfrm>
            <a:off x="548655" y="4834890"/>
            <a:ext cx="78870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l" sz="700" u="none" cap="none" strike="noStrike">
                <a:solidFill>
                  <a:srgbClr val="5F6369"/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  <a:endParaRPr sz="11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